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1" r:id="rId4"/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</p:sldIdLst>
  <p:sldSz cy="6858000" cx="9144000"/>
  <p:notesSz cx="6858000" cy="9144000"/>
  <p:embeddedFontLst>
    <p:embeddedFont>
      <p:font typeface="Helvetica Neue"/>
      <p:regular r:id="rId100"/>
      <p:bold r:id="rId101"/>
      <p:italic r:id="rId102"/>
      <p:boldItalic r:id="rId10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HelveticaNeue-boldItalic.fntdata"/><Relationship Id="rId102" Type="http://schemas.openxmlformats.org/officeDocument/2006/relationships/font" Target="fonts/HelveticaNeue-italic.fntdata"/><Relationship Id="rId101" Type="http://schemas.openxmlformats.org/officeDocument/2006/relationships/font" Target="fonts/HelveticaNeue-bold.fntdata"/><Relationship Id="rId100" Type="http://schemas.openxmlformats.org/officeDocument/2006/relationships/font" Target="fonts/HelveticaNeue-regular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457200" y="6361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7200" y="135401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6407150"/>
            <a:ext cx="9145587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365125" y="395287"/>
            <a:ext cx="43592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144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365125" y="1762125"/>
            <a:ext cx="435927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0519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0519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810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»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810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»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810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»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810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»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810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»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pic>
        <p:nvPicPr>
          <p:cNvPr descr="Pearson_Bound_White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53237" y="6356350"/>
            <a:ext cx="1528762" cy="493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arson_Strap_Bound_White"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56350"/>
            <a:ext cx="1762125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2611437" y="6526212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5EA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FBF5EA"/>
                </a:solidFill>
                <a:latin typeface="Arial"/>
                <a:ea typeface="Arial"/>
                <a:cs typeface="Arial"/>
                <a:sym typeface="Arial"/>
              </a:rPr>
              <a:t>Copyright © 2015, 2011, and 2007 Pearson Education, Inc. </a:t>
            </a:r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8135937" y="6303962"/>
            <a:ext cx="8429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5EA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>
                <a:solidFill>
                  <a:srgbClr val="FBF5E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57200" y="80962"/>
            <a:ext cx="8229600" cy="833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57200" y="1212850"/>
            <a:ext cx="8521700" cy="489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228600" lvl="1" marL="9144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228600" lvl="2" marL="13716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228600" lvl="3" marL="18288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228600" lvl="4" marL="22860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/>
        </p:nvSpPr>
        <p:spPr>
          <a:xfrm>
            <a:off x="0" y="6407150"/>
            <a:ext cx="9145587" cy="457200"/>
          </a:xfrm>
          <a:prstGeom prst="rect">
            <a:avLst/>
          </a:prstGeom>
          <a:solidFill>
            <a:srgbClr val="36439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earson_Bound_White" id="22" name="Google Shape;22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53237" y="6356350"/>
            <a:ext cx="1528762" cy="493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arson_Strap_Bound_White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56350"/>
            <a:ext cx="1762125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2611437" y="6526212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5EA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FBF5EA"/>
                </a:solidFill>
                <a:latin typeface="Arial"/>
                <a:ea typeface="Arial"/>
                <a:cs typeface="Arial"/>
                <a:sym typeface="Arial"/>
              </a:rPr>
              <a:t>Copyright © 2015, 2011, and 2007 Pearson Education, Inc. </a:t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8135937" y="6303962"/>
            <a:ext cx="8429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5EA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>
                <a:solidFill>
                  <a:srgbClr val="FBF5E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12700" y="1044575"/>
            <a:ext cx="9145587" cy="58737"/>
          </a:xfrm>
          <a:prstGeom prst="rect">
            <a:avLst/>
          </a:prstGeom>
          <a:solidFill>
            <a:srgbClr val="36439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49.png"/><Relationship Id="rId8" Type="http://schemas.openxmlformats.org/officeDocument/2006/relationships/image" Target="../media/image8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7.png"/><Relationship Id="rId4" Type="http://schemas.openxmlformats.org/officeDocument/2006/relationships/image" Target="../media/image54.png"/><Relationship Id="rId5" Type="http://schemas.openxmlformats.org/officeDocument/2006/relationships/image" Target="../media/image4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0.png"/><Relationship Id="rId4" Type="http://schemas.openxmlformats.org/officeDocument/2006/relationships/image" Target="../media/image4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0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5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9.png"/><Relationship Id="rId4" Type="http://schemas.openxmlformats.org/officeDocument/2006/relationships/image" Target="../media/image5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2.png"/><Relationship Id="rId4" Type="http://schemas.openxmlformats.org/officeDocument/2006/relationships/image" Target="../media/image6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2.png"/><Relationship Id="rId4" Type="http://schemas.openxmlformats.org/officeDocument/2006/relationships/image" Target="../media/image6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1.png"/><Relationship Id="rId4" Type="http://schemas.openxmlformats.org/officeDocument/2006/relationships/image" Target="../media/image5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5.png"/><Relationship Id="rId4" Type="http://schemas.openxmlformats.org/officeDocument/2006/relationships/image" Target="../media/image61.png"/><Relationship Id="rId5" Type="http://schemas.openxmlformats.org/officeDocument/2006/relationships/image" Target="../media/image5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7.png"/><Relationship Id="rId4" Type="http://schemas.openxmlformats.org/officeDocument/2006/relationships/image" Target="../media/image8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3.png"/><Relationship Id="rId4" Type="http://schemas.openxmlformats.org/officeDocument/2006/relationships/image" Target="../media/image7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40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8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/>
        </p:nvSpPr>
        <p:spPr>
          <a:xfrm>
            <a:off x="-398462" y="2341562"/>
            <a:ext cx="91440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t/>
            </a:r>
            <a:endParaRPr b="0" i="0" sz="4200" u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t/>
            </a:r>
            <a:endParaRPr b="0" i="0" sz="4200" u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venir"/>
              <a:buNone/>
            </a:pPr>
            <a:r>
              <a:rPr b="0" i="0" lang="en-US" sz="4200" u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Chapter 3</a:t>
            </a:r>
            <a:br>
              <a:rPr b="0" i="0" lang="en-US" sz="4800" u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1" i="0" lang="en-US" sz="4800" u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Percents</a:t>
            </a:r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111125" y="5868987"/>
            <a:ext cx="88884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Textbook: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Mathematics by Gary Clendenen and Stanley Salzman</a:t>
            </a:r>
            <a:endParaRPr/>
          </a:p>
        </p:txBody>
      </p:sp>
      <p:sp>
        <p:nvSpPr>
          <p:cNvPr id="39" name="Google Shape;39;p6"/>
          <p:cNvSpPr txBox="1"/>
          <p:nvPr/>
        </p:nvSpPr>
        <p:spPr>
          <a:xfrm>
            <a:off x="260350" y="384175"/>
            <a:ext cx="10039350" cy="193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Mathematics for business decisions</a:t>
            </a:r>
            <a:br>
              <a:rPr b="0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1095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Percents</a:t>
            </a:r>
            <a:endParaRPr/>
          </a:p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57200" y="1270000"/>
            <a:ext cx="8407400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Similar to fractions and decimals, percents represent parts of a whole.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Percents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(hundredths)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mean parts out of 100.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Written using a percent sign (%).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For example 1% means 1 of 100 equal parts.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number 12% is read “twelve percent.”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1095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Percents</a:t>
            </a:r>
            <a:endParaRPr/>
          </a:p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304800" y="2573337"/>
            <a:ext cx="8559800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12% = 12 out of 100 equal parts	.12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2" name="Google Shape;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2446337"/>
            <a:ext cx="7620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3767137"/>
            <a:ext cx="7620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4800" y="5075237"/>
            <a:ext cx="7620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/>
        </p:nvSpPr>
        <p:spPr>
          <a:xfrm rot="-3540000">
            <a:off x="6535737" y="1249362"/>
            <a:ext cx="17478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Decimal</a:t>
            </a:r>
            <a:endParaRPr/>
          </a:p>
        </p:txBody>
      </p:sp>
      <p:sp>
        <p:nvSpPr>
          <p:cNvPr id="56" name="Google Shape;56;p8"/>
          <p:cNvSpPr txBox="1"/>
          <p:nvPr/>
        </p:nvSpPr>
        <p:spPr>
          <a:xfrm rot="-3540000">
            <a:off x="7500937" y="1262062"/>
            <a:ext cx="17478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Fraction</a:t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304800" y="3868737"/>
            <a:ext cx="7837487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25% = 25 out of 100 equal parts	.25</a:t>
            </a:r>
            <a:endParaRPr/>
          </a:p>
        </p:txBody>
      </p:sp>
      <p:sp>
        <p:nvSpPr>
          <p:cNvPr id="58" name="Google Shape;58;p8"/>
          <p:cNvSpPr txBox="1"/>
          <p:nvPr/>
        </p:nvSpPr>
        <p:spPr>
          <a:xfrm>
            <a:off x="304800" y="5240337"/>
            <a:ext cx="7837487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50% = 50 out of 100 equal parts	.50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457200" y="1095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Percents</a:t>
            </a:r>
            <a:endParaRPr/>
          </a:p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304800" y="2573337"/>
            <a:ext cx="791368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100% = 100 out of 100 equal parts	 1.00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5" name="Google Shape;65;p9"/>
          <p:cNvSpPr txBox="1"/>
          <p:nvPr/>
        </p:nvSpPr>
        <p:spPr>
          <a:xfrm rot="-3540000">
            <a:off x="6586537" y="1249362"/>
            <a:ext cx="17478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Decimal</a:t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 rot="-3540000">
            <a:off x="7500937" y="1262062"/>
            <a:ext cx="17478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Fraction</a:t>
            </a:r>
            <a:endParaRPr/>
          </a:p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2459037"/>
            <a:ext cx="7620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500" y="3741737"/>
            <a:ext cx="7620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/>
          <p:nvPr/>
        </p:nvSpPr>
        <p:spPr>
          <a:xfrm>
            <a:off x="304800" y="3868737"/>
            <a:ext cx="791368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150% = 150 out of 100 equal parts	 1.50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457200" y="1095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Converting a decimal number to a percent</a:t>
            </a:r>
            <a:endParaRPr/>
          </a:p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457200" y="1758950"/>
            <a:ext cx="8407400" cy="3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81125" lvl="0" marL="138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Step 1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Move the decimal point two digits to the right attaching trailing zeros as needed.</a:t>
            </a:r>
            <a:endParaRPr/>
          </a:p>
          <a:p>
            <a:pPr indent="-1381125" lvl="0" marL="138112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	You are effectively multiplying by 100.</a:t>
            </a:r>
            <a:endParaRPr/>
          </a:p>
          <a:p>
            <a:pPr indent="-1381125" lvl="0" marL="138112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Step 2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Attach a percent sign.</a:t>
            </a:r>
            <a:endParaRPr/>
          </a:p>
          <a:p>
            <a:pPr indent="-1381125" lvl="0" marL="138112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					.75 = 75%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57200" y="1206500"/>
            <a:ext cx="8229600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Change the following decimals to percents.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   .35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 .42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   .58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2052637" y="2406650"/>
            <a:ext cx="3060700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35%</a:t>
            </a:r>
            <a:endParaRPr/>
          </a:p>
        </p:txBody>
      </p:sp>
      <p:sp>
        <p:nvSpPr>
          <p:cNvPr id="83" name="Google Shape;83;p11"/>
          <p:cNvSpPr txBox="1"/>
          <p:nvPr/>
        </p:nvSpPr>
        <p:spPr>
          <a:xfrm>
            <a:off x="2052637" y="3530600"/>
            <a:ext cx="3060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42%</a:t>
            </a:r>
            <a:endParaRPr/>
          </a:p>
        </p:txBody>
      </p:sp>
      <p:sp>
        <p:nvSpPr>
          <p:cNvPr id="84" name="Google Shape;84;p11"/>
          <p:cNvSpPr txBox="1"/>
          <p:nvPr/>
        </p:nvSpPr>
        <p:spPr>
          <a:xfrm>
            <a:off x="2052637" y="4705350"/>
            <a:ext cx="3060700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58%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457200" y="1206500"/>
            <a:ext cx="8394700" cy="528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Change the following decimals to percents.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   .8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 2.6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   .1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(d)   4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1884362" y="1803400"/>
            <a:ext cx="3060700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80%</a:t>
            </a:r>
            <a:endParaRPr/>
          </a:p>
        </p:txBody>
      </p:sp>
      <p:sp>
        <p:nvSpPr>
          <p:cNvPr id="92" name="Google Shape;92;p12"/>
          <p:cNvSpPr txBox="1"/>
          <p:nvPr/>
        </p:nvSpPr>
        <p:spPr>
          <a:xfrm>
            <a:off x="2036762" y="2963862"/>
            <a:ext cx="3060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260%</a:t>
            </a:r>
            <a:endParaRPr/>
          </a:p>
        </p:txBody>
      </p:sp>
      <p:sp>
        <p:nvSpPr>
          <p:cNvPr id="93" name="Google Shape;93;p12"/>
          <p:cNvSpPr txBox="1"/>
          <p:nvPr/>
        </p:nvSpPr>
        <p:spPr>
          <a:xfrm>
            <a:off x="1884362" y="4121150"/>
            <a:ext cx="3060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10%</a:t>
            </a:r>
            <a:endParaRPr/>
          </a:p>
        </p:txBody>
      </p:sp>
      <p:sp>
        <p:nvSpPr>
          <p:cNvPr id="94" name="Google Shape;94;p12"/>
          <p:cNvSpPr txBox="1"/>
          <p:nvPr/>
        </p:nvSpPr>
        <p:spPr>
          <a:xfrm>
            <a:off x="1884362" y="5314950"/>
            <a:ext cx="3060700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400%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457200" y="1206500"/>
            <a:ext cx="83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Change the following decimals to percents.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   .625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 .0057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   1.25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2146300" y="2389187"/>
            <a:ext cx="3060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62.5%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2425700" y="3540125"/>
            <a:ext cx="3060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.57%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2425700" y="4714875"/>
            <a:ext cx="3060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125%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457200" y="63500"/>
            <a:ext cx="82296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a Fraction as a Percent</a:t>
            </a:r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444500" y="1219200"/>
            <a:ext cx="8496300" cy="541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the fraction as a decimal.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Move the decimal point two places to the right.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Add a percent sign (%).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457200" y="889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457200" y="1173162"/>
            <a:ext cx="8420100" cy="1862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marketing manager is given the following data in fraction form and must change the data to percents.</a:t>
            </a:r>
            <a:endParaRPr/>
          </a:p>
        </p:txBody>
      </p:sp>
      <p:pic>
        <p:nvPicPr>
          <p:cNvPr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3530600"/>
            <a:ext cx="12446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2550" y="3530600"/>
            <a:ext cx="12573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200" y="3530600"/>
            <a:ext cx="12446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457200" y="889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457200" y="1173162"/>
            <a:ext cx="8420100" cy="13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First write each fraction as a decimal, and then write the decimal as a percent.</a:t>
            </a:r>
            <a:endParaRPr/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2235200"/>
            <a:ext cx="35560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8425" y="3602037"/>
            <a:ext cx="41529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6525" y="5065712"/>
            <a:ext cx="33274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444500" y="198437"/>
            <a:ext cx="82296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a Fraction as a Percent</a:t>
            </a:r>
            <a:b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(Second Method)</a:t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444500" y="2108200"/>
            <a:ext cx="849630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Multiply the fraction by 100%.</a:t>
            </a:r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1375" y="3473450"/>
            <a:ext cx="46863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457200" y="177800"/>
            <a:ext cx="82296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a Percent as a Decimal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444500" y="1676400"/>
            <a:ext cx="84963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Step 1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Drop the percent sign.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Step 2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Move the decimal point two places to the left. You are effectively dividing by 100.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25% = .25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457200" y="1952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457200" y="1160462"/>
            <a:ext cx="82296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calculate some insurance claims, an insurance agent must change the following percents to decimals.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  35%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50%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  325%</a:t>
            </a:r>
            <a:endParaRPr/>
          </a:p>
        </p:txBody>
      </p:sp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0975" y="2651125"/>
            <a:ext cx="18161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2146300" y="2681287"/>
            <a:ext cx="3060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.35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2146300" y="3878262"/>
            <a:ext cx="3060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.5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2298700" y="5013325"/>
            <a:ext cx="3060700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3.25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7324725" y="2830512"/>
            <a:ext cx="15303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.375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752475" y="58737"/>
            <a:ext cx="7680325" cy="855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a Percent as a Fraction</a:t>
            </a:r>
            <a:endParaRPr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457200" y="1943100"/>
            <a:ext cx="8470900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Change the percent to a decimal.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the decimal as a fraction in lowest terms.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457200" y="1222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457200" y="1574800"/>
            <a:ext cx="85344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Even though smoking is believed to account for 1 of every 5 deaths in the United States, more than 45 million Americans smoke. The bar chart shows the percent of people in each age group that smoke. Convert each percent to a fraction and reduce to lowest terms.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457200" y="1222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 6</a:t>
            </a:r>
            <a:endParaRPr/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9712"/>
            <a:ext cx="9144000" cy="637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457200" y="-93662"/>
            <a:ext cx="8229600" cy="95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228600" y="1089025"/>
            <a:ext cx="8458200" cy="137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each percent as a decimal and then as a fraction in lowest terms.</a:t>
            </a:r>
            <a:endParaRPr/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60650"/>
            <a:ext cx="47117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112" y="4433887"/>
            <a:ext cx="39243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457200" y="-93662"/>
            <a:ext cx="8229600" cy="95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228600" y="1089025"/>
            <a:ext cx="8458200" cy="137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each percent as a decimal and then as a fraction in lowest terms.</a:t>
            </a:r>
            <a:endParaRPr/>
          </a:p>
        </p:txBody>
      </p:sp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775" y="2459037"/>
            <a:ext cx="46990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775" y="4349750"/>
            <a:ext cx="48768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298450" y="58737"/>
            <a:ext cx="81343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a Fractional Percent as a Decimal</a:t>
            </a:r>
            <a:endParaRPr/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457200" y="1943100"/>
            <a:ext cx="8470900" cy="3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Change the fraction to a decimal followed by a percent sign.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Move the decimal point two places to the left.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Drop the percent sign.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457200" y="1222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457200" y="1206500"/>
            <a:ext cx="8534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following percents appear in a newspaper article. Write each fractional percent as a decimal.</a:t>
            </a:r>
            <a:endParaRPr/>
          </a:p>
        </p:txBody>
      </p:sp>
      <p:pic>
        <p:nvPicPr>
          <p:cNvPr id="198" name="Google Shape;1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525" y="2368550"/>
            <a:ext cx="16256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725" y="3702050"/>
            <a:ext cx="16764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5102225"/>
            <a:ext cx="16256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8900" y="2720975"/>
            <a:ext cx="22987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28900" y="4098925"/>
            <a:ext cx="27559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8875" y="5397500"/>
            <a:ext cx="28194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09" name="Google Shape;2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3400" y="1543050"/>
            <a:ext cx="27686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15" name="Google Shape;2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4900" y="1543050"/>
            <a:ext cx="51308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21" name="Google Shape;2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6600" y="1595437"/>
            <a:ext cx="55118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27" name="Google Shape;2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3675" y="1539875"/>
            <a:ext cx="38862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33" name="Google Shape;2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650" y="1593850"/>
            <a:ext cx="55753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39" name="Google Shape;2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9600" y="1555750"/>
            <a:ext cx="55880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45" name="Google Shape;2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9600" y="1555750"/>
            <a:ext cx="55880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51" name="Google Shape;2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650" y="1555750"/>
            <a:ext cx="55499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57" name="Google Shape;2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650" y="1816100"/>
            <a:ext cx="5549900" cy="41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63" name="Google Shape;26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3500" y="1555750"/>
            <a:ext cx="41402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295275" y="211137"/>
            <a:ext cx="8848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"/>
              <a:buNone/>
            </a:pPr>
            <a:r>
              <a:rPr b="0" i="0" lang="en-US" sz="4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Fraction, Decimal, Percent Equivalents</a:t>
            </a:r>
            <a:endParaRPr/>
          </a:p>
        </p:txBody>
      </p:sp>
      <p:pic>
        <p:nvPicPr>
          <p:cNvPr id="269" name="Google Shape;26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8950" y="1828800"/>
            <a:ext cx="3289300" cy="16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457200" y="-19050"/>
            <a:ext cx="8229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Know the Three Components of a Percent Problem</a:t>
            </a:r>
            <a:endParaRPr/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457200" y="1714500"/>
            <a:ext cx="8547100" cy="4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1. </a:t>
            </a:r>
            <a:r>
              <a:rPr b="1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Base: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whole or total, starting point, or that to which something is being compared.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2. </a:t>
            </a:r>
            <a:r>
              <a:rPr b="1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Rate: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number followed by % or percent.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3. </a:t>
            </a:r>
            <a:r>
              <a:rPr b="1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Part: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result of multiplying the base and the rate. The part is a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part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of the base. For example, sales tax is a part of total sales.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>
            <p:ph type="title"/>
          </p:nvPr>
        </p:nvSpPr>
        <p:spPr>
          <a:xfrm>
            <a:off x="457200" y="1095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Learn the Basic Percent Formula</a:t>
            </a:r>
            <a:endParaRPr/>
          </a:p>
        </p:txBody>
      </p:sp>
      <p:sp>
        <p:nvSpPr>
          <p:cNvPr id="281" name="Google Shape;281;p39"/>
          <p:cNvSpPr txBox="1"/>
          <p:nvPr>
            <p:ph idx="1" type="body"/>
          </p:nvPr>
        </p:nvSpPr>
        <p:spPr>
          <a:xfrm>
            <a:off x="2463800" y="1600200"/>
            <a:ext cx="41148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B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81BD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Part = Base × 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81BD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R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81BD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Part = Rate × 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"/>
          <p:cNvSpPr txBox="1"/>
          <p:nvPr>
            <p:ph type="title"/>
          </p:nvPr>
        </p:nvSpPr>
        <p:spPr>
          <a:xfrm>
            <a:off x="457200" y="1095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Solve for Part</a:t>
            </a:r>
            <a:endParaRPr/>
          </a:p>
        </p:txBody>
      </p:sp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800100" y="1739900"/>
            <a:ext cx="8064500" cy="451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one of the formulas: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B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R  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R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Substitute the known values.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Carry out the calculation.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762000" y="1600200"/>
            <a:ext cx="82296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Solve for part, using 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4% of 50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1.2% of 180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  140% of 225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94" name="Google Shape;29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900" y="4298950"/>
            <a:ext cx="30099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300" name="Google Shape;300;p42"/>
          <p:cNvSpPr txBox="1"/>
          <p:nvPr>
            <p:ph idx="1" type="body"/>
          </p:nvPr>
        </p:nvSpPr>
        <p:spPr>
          <a:xfrm>
            <a:off x="762000" y="1600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Solve for part, using 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4% of 50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01" name="Google Shape;30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200" y="3136900"/>
            <a:ext cx="1066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2"/>
          <p:cNvSpPr txBox="1"/>
          <p:nvPr/>
        </p:nvSpPr>
        <p:spPr>
          <a:xfrm>
            <a:off x="4826000" y="2249487"/>
            <a:ext cx="37528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1.2% of 180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03" name="Google Shape;30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1075" y="3143250"/>
            <a:ext cx="1282700" cy="1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309" name="Google Shape;309;p43"/>
          <p:cNvSpPr txBox="1"/>
          <p:nvPr>
            <p:ph idx="1" type="body"/>
          </p:nvPr>
        </p:nvSpPr>
        <p:spPr>
          <a:xfrm>
            <a:off x="762000" y="1600200"/>
            <a:ext cx="8229600" cy="2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Solve for part, using 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  140% of 225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10" name="Google Shape;31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2200" y="2730500"/>
            <a:ext cx="30099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5150" y="3860800"/>
            <a:ext cx="10795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2650" y="4133850"/>
            <a:ext cx="15113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4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318" name="Google Shape;318;p44"/>
          <p:cNvSpPr txBox="1"/>
          <p:nvPr>
            <p:ph idx="1" type="body"/>
          </p:nvPr>
        </p:nvSpPr>
        <p:spPr>
          <a:xfrm>
            <a:off x="457200" y="1600200"/>
            <a:ext cx="83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bar graph on the next slide shows the unemployment rate by category in the midst of a serious recession. Use the data provided to estimate the number of unemployed teenagers out of a total of roughly 32,000 working-age teenagers in one city.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 2</a:t>
            </a:r>
            <a:endParaRPr/>
          </a:p>
        </p:txBody>
      </p:sp>
      <p:sp>
        <p:nvSpPr>
          <p:cNvPr id="324" name="Google Shape;324;p45"/>
          <p:cNvSpPr txBox="1"/>
          <p:nvPr>
            <p:ph idx="1" type="body"/>
          </p:nvPr>
        </p:nvSpPr>
        <p:spPr>
          <a:xfrm>
            <a:off x="457200" y="1600200"/>
            <a:ext cx="83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bar graph on the next slide shows the unemployment rate by category in the midst of a serious recession. Use the data provided to estimate the number of unemployed teenagers out of a total of roughly 32,000 working-age teenagers in one city.</a:t>
            </a:r>
            <a:endParaRPr/>
          </a:p>
        </p:txBody>
      </p:sp>
      <p:pic>
        <p:nvPicPr>
          <p:cNvPr id="325" name="Google Shape;32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" y="474662"/>
            <a:ext cx="9144000" cy="59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331" name="Google Shape;331;p46"/>
          <p:cNvSpPr txBox="1"/>
          <p:nvPr>
            <p:ph idx="1" type="body"/>
          </p:nvPr>
        </p:nvSpPr>
        <p:spPr>
          <a:xfrm>
            <a:off x="457200" y="1081087"/>
            <a:ext cx="8407400" cy="226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base is 32,000. The rate for unemployed teenagers is 24%. The number of unemployed teenagers is part of the whole, so part (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is the unknown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/>
          </a:p>
        </p:txBody>
      </p:sp>
      <p:sp>
        <p:nvSpPr>
          <p:cNvPr id="332" name="Google Shape;332;p46"/>
          <p:cNvSpPr txBox="1"/>
          <p:nvPr/>
        </p:nvSpPr>
        <p:spPr>
          <a:xfrm>
            <a:off x="457200" y="291465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			P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     </a:t>
            </a: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  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×   </a:t>
            </a: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endParaRPr b="0" i="0" sz="3600" u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			P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32,000 ×  24%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			P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32,000  ×  .24 = 7680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About 7680 of the 32,000 working-age teenagers in the city are unemployed.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>
            <p:ph type="title"/>
          </p:nvPr>
        </p:nvSpPr>
        <p:spPr>
          <a:xfrm>
            <a:off x="444500" y="-30162"/>
            <a:ext cx="8229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Recognize the Terms Associated with Base, Rate, and Part</a:t>
            </a:r>
            <a:endParaRPr/>
          </a:p>
        </p:txBody>
      </p:sp>
      <p:sp>
        <p:nvSpPr>
          <p:cNvPr id="338" name="Google Shape;338;p47"/>
          <p:cNvSpPr txBox="1"/>
          <p:nvPr>
            <p:ph idx="1" type="body"/>
          </p:nvPr>
        </p:nvSpPr>
        <p:spPr>
          <a:xfrm>
            <a:off x="444500" y="1943100"/>
            <a:ext cx="8496300" cy="469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Percent problems have similarities.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Some phrases are associated with the base.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Some phrases lead to the part.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% or percent identifies the rate.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8"/>
          <p:cNvSpPr txBox="1"/>
          <p:nvPr>
            <p:ph idx="1" type="body"/>
          </p:nvPr>
        </p:nvSpPr>
        <p:spPr>
          <a:xfrm>
            <a:off x="444500" y="1625600"/>
            <a:ext cx="34290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Usually indicates the base (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  <p:sp>
        <p:nvSpPr>
          <p:cNvPr id="344" name="Google Shape;344;p48"/>
          <p:cNvSpPr txBox="1"/>
          <p:nvPr/>
        </p:nvSpPr>
        <p:spPr>
          <a:xfrm>
            <a:off x="4813300" y="1625600"/>
            <a:ext cx="34290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Usually indicates the part (</a:t>
            </a:r>
            <a:r>
              <a:rPr b="0" i="1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  <p:sp>
        <p:nvSpPr>
          <p:cNvPr id="345" name="Google Shape;345;p48"/>
          <p:cNvSpPr txBox="1"/>
          <p:nvPr/>
        </p:nvSpPr>
        <p:spPr>
          <a:xfrm>
            <a:off x="444500" y="2743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Sales</a:t>
            </a:r>
            <a:endParaRPr/>
          </a:p>
        </p:txBody>
      </p:sp>
      <p:sp>
        <p:nvSpPr>
          <p:cNvPr id="346" name="Google Shape;346;p48"/>
          <p:cNvSpPr txBox="1"/>
          <p:nvPr/>
        </p:nvSpPr>
        <p:spPr>
          <a:xfrm>
            <a:off x="4813300" y="2743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Sales tax</a:t>
            </a:r>
            <a:endParaRPr/>
          </a:p>
        </p:txBody>
      </p:sp>
      <p:sp>
        <p:nvSpPr>
          <p:cNvPr id="347" name="Google Shape;347;p48"/>
          <p:cNvSpPr txBox="1"/>
          <p:nvPr/>
        </p:nvSpPr>
        <p:spPr>
          <a:xfrm>
            <a:off x="457200" y="3251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Investment</a:t>
            </a:r>
            <a:endParaRPr/>
          </a:p>
        </p:txBody>
      </p:sp>
      <p:sp>
        <p:nvSpPr>
          <p:cNvPr id="348" name="Google Shape;348;p48"/>
          <p:cNvSpPr txBox="1"/>
          <p:nvPr/>
        </p:nvSpPr>
        <p:spPr>
          <a:xfrm>
            <a:off x="4826000" y="3251200"/>
            <a:ext cx="43180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Return on Investment</a:t>
            </a:r>
            <a:endParaRPr/>
          </a:p>
        </p:txBody>
      </p:sp>
      <p:sp>
        <p:nvSpPr>
          <p:cNvPr id="349" name="Google Shape;349;p48"/>
          <p:cNvSpPr txBox="1"/>
          <p:nvPr/>
        </p:nvSpPr>
        <p:spPr>
          <a:xfrm>
            <a:off x="469900" y="3759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Savings</a:t>
            </a:r>
            <a:endParaRPr/>
          </a:p>
        </p:txBody>
      </p:sp>
      <p:sp>
        <p:nvSpPr>
          <p:cNvPr id="350" name="Google Shape;350;p48"/>
          <p:cNvSpPr txBox="1"/>
          <p:nvPr/>
        </p:nvSpPr>
        <p:spPr>
          <a:xfrm>
            <a:off x="4838700" y="3759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Interest</a:t>
            </a:r>
            <a:endParaRPr/>
          </a:p>
        </p:txBody>
      </p:sp>
      <p:sp>
        <p:nvSpPr>
          <p:cNvPr id="351" name="Google Shape;351;p48"/>
          <p:cNvSpPr txBox="1"/>
          <p:nvPr/>
        </p:nvSpPr>
        <p:spPr>
          <a:xfrm>
            <a:off x="482600" y="4267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Retail price</a:t>
            </a:r>
            <a:endParaRPr/>
          </a:p>
        </p:txBody>
      </p:sp>
      <p:sp>
        <p:nvSpPr>
          <p:cNvPr id="352" name="Google Shape;352;p48"/>
          <p:cNvSpPr txBox="1"/>
          <p:nvPr/>
        </p:nvSpPr>
        <p:spPr>
          <a:xfrm>
            <a:off x="4851400" y="4267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Discount</a:t>
            </a:r>
            <a:endParaRPr/>
          </a:p>
        </p:txBody>
      </p:sp>
      <p:sp>
        <p:nvSpPr>
          <p:cNvPr id="353" name="Google Shape;353;p48"/>
          <p:cNvSpPr txBox="1"/>
          <p:nvPr/>
        </p:nvSpPr>
        <p:spPr>
          <a:xfrm>
            <a:off x="495300" y="4775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Last year’s figure</a:t>
            </a:r>
            <a:endParaRPr/>
          </a:p>
        </p:txBody>
      </p:sp>
      <p:sp>
        <p:nvSpPr>
          <p:cNvPr id="354" name="Google Shape;354;p48"/>
          <p:cNvSpPr txBox="1"/>
          <p:nvPr/>
        </p:nvSpPr>
        <p:spPr>
          <a:xfrm>
            <a:off x="4864100" y="4775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Increase or decrease</a:t>
            </a:r>
            <a:endParaRPr/>
          </a:p>
        </p:txBody>
      </p:sp>
      <p:sp>
        <p:nvSpPr>
          <p:cNvPr id="355" name="Google Shape;355;p48"/>
          <p:cNvSpPr txBox="1"/>
          <p:nvPr/>
        </p:nvSpPr>
        <p:spPr>
          <a:xfrm>
            <a:off x="508000" y="5283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Old salary</a:t>
            </a:r>
            <a:endParaRPr/>
          </a:p>
        </p:txBody>
      </p:sp>
      <p:sp>
        <p:nvSpPr>
          <p:cNvPr id="356" name="Google Shape;356;p48"/>
          <p:cNvSpPr txBox="1"/>
          <p:nvPr/>
        </p:nvSpPr>
        <p:spPr>
          <a:xfrm>
            <a:off x="4876800" y="5283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Raise</a:t>
            </a:r>
            <a:endParaRPr/>
          </a:p>
        </p:txBody>
      </p:sp>
      <p:sp>
        <p:nvSpPr>
          <p:cNvPr id="357" name="Google Shape;357;p48"/>
          <p:cNvSpPr txBox="1"/>
          <p:nvPr/>
        </p:nvSpPr>
        <p:spPr>
          <a:xfrm>
            <a:off x="520700" y="5791200"/>
            <a:ext cx="40132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Earnings</a:t>
            </a:r>
            <a:endParaRPr/>
          </a:p>
        </p:txBody>
      </p:sp>
      <p:sp>
        <p:nvSpPr>
          <p:cNvPr id="358" name="Google Shape;358;p48"/>
          <p:cNvSpPr txBox="1"/>
          <p:nvPr/>
        </p:nvSpPr>
        <p:spPr>
          <a:xfrm>
            <a:off x="4889500" y="5791200"/>
            <a:ext cx="4013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Expenditures</a:t>
            </a:r>
            <a:endParaRPr/>
          </a:p>
        </p:txBody>
      </p:sp>
      <p:sp>
        <p:nvSpPr>
          <p:cNvPr id="359" name="Google Shape;359;p48"/>
          <p:cNvSpPr txBox="1"/>
          <p:nvPr>
            <p:ph type="title"/>
          </p:nvPr>
        </p:nvSpPr>
        <p:spPr>
          <a:xfrm>
            <a:off x="444500" y="-30162"/>
            <a:ext cx="8229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Recognize the Terms Associated with Base, Rate, and Part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9"/>
          <p:cNvSpPr txBox="1"/>
          <p:nvPr>
            <p:ph type="title"/>
          </p:nvPr>
        </p:nvSpPr>
        <p:spPr>
          <a:xfrm>
            <a:off x="457200" y="1095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Calculate Sales Tax</a:t>
            </a:r>
            <a:endParaRPr/>
          </a:p>
        </p:txBody>
      </p:sp>
      <p:sp>
        <p:nvSpPr>
          <p:cNvPr id="365" name="Google Shape;365;p49"/>
          <p:cNvSpPr txBox="1"/>
          <p:nvPr>
            <p:ph idx="1" type="body"/>
          </p:nvPr>
        </p:nvSpPr>
        <p:spPr>
          <a:xfrm>
            <a:off x="698500" y="1600200"/>
            <a:ext cx="79883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Good example of finding part.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States, counties, and cities tax retail sales.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Sales tax is a percent of the sale.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formula is: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P   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B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81BD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   Sales tax = Sales × Sales tax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0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371" name="Google Shape;371;p50"/>
          <p:cNvSpPr txBox="1"/>
          <p:nvPr>
            <p:ph idx="1" type="body"/>
          </p:nvPr>
        </p:nvSpPr>
        <p:spPr>
          <a:xfrm>
            <a:off x="457200" y="1600200"/>
            <a:ext cx="83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Becky Smith finally saved enough to buy the guitar she had dreamed about. Her goal was to start a band with her two sisters as backup and a friend as a drummer. The list price on the guitar was $1199.99 and the sales tax was 8.5%. Find the sales tax and total cost.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1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377" name="Google Shape;377;p51"/>
          <p:cNvSpPr txBox="1"/>
          <p:nvPr>
            <p:ph idx="1" type="body"/>
          </p:nvPr>
        </p:nvSpPr>
        <p:spPr>
          <a:xfrm>
            <a:off x="457200" y="1600200"/>
            <a:ext cx="8229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whole (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is $1199.99, and the rate (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is 8.5%.</a:t>
            </a:r>
            <a:endParaRPr/>
          </a:p>
        </p:txBody>
      </p:sp>
      <p:sp>
        <p:nvSpPr>
          <p:cNvPr id="378" name="Google Shape;378;p51"/>
          <p:cNvSpPr txBox="1"/>
          <p:nvPr/>
        </p:nvSpPr>
        <p:spPr>
          <a:xfrm>
            <a:off x="457200" y="2921000"/>
            <a:ext cx="8229600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			P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     </a:t>
            </a: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  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×   </a:t>
            </a: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endParaRPr b="0" i="0" sz="3600" u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			P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1199.99 ×  8.5%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			P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1199.99 ×  .085 = 101.99915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Total is cost of guitar plus sales tax.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Total = $1199.99 + $102.00 = $1301.99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457200" y="63500"/>
            <a:ext cx="82296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Identify Rate, Base and Part</a:t>
            </a:r>
            <a:endParaRPr/>
          </a:p>
        </p:txBody>
      </p:sp>
      <p:sp>
        <p:nvSpPr>
          <p:cNvPr id="384" name="Google Shape;384;p52"/>
          <p:cNvSpPr txBox="1"/>
          <p:nvPr>
            <p:ph idx="1" type="body"/>
          </p:nvPr>
        </p:nvSpPr>
        <p:spPr>
          <a:xfrm>
            <a:off x="444500" y="1409700"/>
            <a:ext cx="8496300" cy="5226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Base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tends to be preceded by the word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of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or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; tends to be the whole.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81BD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Rate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is followed by a percent sign (%) or the word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percent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81BD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4F81BD"/>
                </a:solidFill>
                <a:latin typeface="Times"/>
                <a:ea typeface="Times"/>
                <a:cs typeface="Times"/>
                <a:sym typeface="Times"/>
              </a:rPr>
              <a:t>Part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is in the same units as the base and is usually a portion of the base.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3"/>
          <p:cNvSpPr txBox="1"/>
          <p:nvPr>
            <p:ph type="title"/>
          </p:nvPr>
        </p:nvSpPr>
        <p:spPr>
          <a:xfrm>
            <a:off x="0" y="12700"/>
            <a:ext cx="9144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"/>
              <a:buNone/>
            </a:pPr>
            <a:r>
              <a:rPr b="0" i="0" lang="en-US" sz="3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Learn the Standard Format of Percent Problems</a:t>
            </a:r>
            <a:endParaRPr/>
          </a:p>
        </p:txBody>
      </p:sp>
      <p:sp>
        <p:nvSpPr>
          <p:cNvPr id="390" name="Google Shape;390;p53"/>
          <p:cNvSpPr txBox="1"/>
          <p:nvPr>
            <p:ph idx="1" type="body"/>
          </p:nvPr>
        </p:nvSpPr>
        <p:spPr>
          <a:xfrm>
            <a:off x="444500" y="1676400"/>
            <a:ext cx="849630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Written in the form “% of whole is/are part.”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Rate			    Whole			Part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7.5% of the	total	 		is		the sales tax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8.5% of the	workers		are	unemployed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74% of the		students		are	full-time students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18% of the		children		are	obese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type="title"/>
          </p:nvPr>
        </p:nvSpPr>
        <p:spPr>
          <a:xfrm>
            <a:off x="457200" y="889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457200" y="1173162"/>
            <a:ext cx="8420100" cy="53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Identify the whole and rate in the following; then find the part.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	  A refrigerator with an original price of $949 was marked down 10%.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Expenses for the weekend were 92% of total sales of $1850.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	  Corporate income taxes were 30% of total profit of $18,240,000.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5"/>
          <p:cNvSpPr txBox="1"/>
          <p:nvPr>
            <p:ph type="title"/>
          </p:nvPr>
        </p:nvSpPr>
        <p:spPr>
          <a:xfrm>
            <a:off x="457200" y="889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402" name="Google Shape;402;p55"/>
          <p:cNvSpPr txBox="1"/>
          <p:nvPr>
            <p:ph idx="1" type="body"/>
          </p:nvPr>
        </p:nvSpPr>
        <p:spPr>
          <a:xfrm>
            <a:off x="457200" y="1173162"/>
            <a:ext cx="8420100" cy="53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	A refrigerator with an original price of $949 was marked down 10%.</a:t>
            </a:r>
            <a:endParaRPr/>
          </a:p>
          <a:p>
            <a:pPr indent="-685800" lvl="1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Base	×	Rate	=	Part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$949	×	10%	=	$94.90 discount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 startAt="2"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Expenses for the weekend were 92% of total sales of $1850.</a:t>
            </a:r>
            <a:endParaRPr/>
          </a:p>
          <a:p>
            <a:pPr indent="-685800" lvl="1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Base	×	Rate	=	Part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$1850	×	92%	=	$1702 expenses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6"/>
          <p:cNvSpPr txBox="1"/>
          <p:nvPr>
            <p:ph type="title"/>
          </p:nvPr>
        </p:nvSpPr>
        <p:spPr>
          <a:xfrm>
            <a:off x="457200" y="889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408" name="Google Shape;408;p56"/>
          <p:cNvSpPr txBox="1"/>
          <p:nvPr>
            <p:ph idx="1" type="body"/>
          </p:nvPr>
        </p:nvSpPr>
        <p:spPr>
          <a:xfrm>
            <a:off x="457200" y="1173162"/>
            <a:ext cx="8420100" cy="53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	Corporate income taxes were 30% of total profit of $18,240,000.</a:t>
            </a:r>
            <a:endParaRPr/>
          </a:p>
          <a:p>
            <a:pPr indent="-685800" lvl="1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Base	×	Rate	=	Part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$18,240,000	×	30%	=	$5,472,000</a:t>
            </a:r>
            <a:b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corporate income taxes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7"/>
          <p:cNvSpPr txBox="1"/>
          <p:nvPr>
            <p:ph type="title"/>
          </p:nvPr>
        </p:nvSpPr>
        <p:spPr>
          <a:xfrm>
            <a:off x="457200" y="41275"/>
            <a:ext cx="8229600" cy="928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Base</a:t>
            </a:r>
            <a:endParaRPr/>
          </a:p>
        </p:txBody>
      </p:sp>
      <p:sp>
        <p:nvSpPr>
          <p:cNvPr id="414" name="Google Shape;414;p57"/>
          <p:cNvSpPr txBox="1"/>
          <p:nvPr>
            <p:ph idx="1" type="body"/>
          </p:nvPr>
        </p:nvSpPr>
        <p:spPr>
          <a:xfrm>
            <a:off x="457200" y="1930400"/>
            <a:ext cx="8229600" cy="4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Rate and part are given, but the base, or starting point, must be found.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formula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B 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R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can be used to get the </a:t>
            </a: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formula for base.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circle diagram on the next slide to learn how to use this formula.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>
            <p:ph idx="1" type="body"/>
          </p:nvPr>
        </p:nvSpPr>
        <p:spPr>
          <a:xfrm>
            <a:off x="457200" y="50800"/>
            <a:ext cx="8229600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find the formula for base, cover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with your finger.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0" name="Google Shape;420;p58"/>
          <p:cNvSpPr txBox="1"/>
          <p:nvPr/>
        </p:nvSpPr>
        <p:spPr>
          <a:xfrm>
            <a:off x="609600" y="5402262"/>
            <a:ext cx="8229600" cy="98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This leaves P divided by R, so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421" name="Google Shape;42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62" y="1312862"/>
            <a:ext cx="7064375" cy="3767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5230812"/>
            <a:ext cx="13589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9"/>
          <p:cNvSpPr txBox="1"/>
          <p:nvPr>
            <p:ph type="title"/>
          </p:nvPr>
        </p:nvSpPr>
        <p:spPr>
          <a:xfrm>
            <a:off x="457200" y="106362"/>
            <a:ext cx="8229600" cy="873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Base</a:t>
            </a:r>
            <a:endParaRPr/>
          </a:p>
        </p:txBody>
      </p:sp>
      <p:pic>
        <p:nvPicPr>
          <p:cNvPr id="428" name="Google Shape;42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750" y="2860675"/>
            <a:ext cx="11684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6875" y="2878137"/>
            <a:ext cx="33147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762000" y="1600200"/>
            <a:ext cx="6824662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Solve for base, using the formula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8 is 4% of ____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135 is 15% of ____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  1.25 is 25% of ____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436" name="Google Shape;43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7237" y="1435100"/>
            <a:ext cx="13589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442" name="Google Shape;442;p61"/>
          <p:cNvSpPr txBox="1"/>
          <p:nvPr>
            <p:ph idx="1" type="body"/>
          </p:nvPr>
        </p:nvSpPr>
        <p:spPr>
          <a:xfrm>
            <a:off x="762000" y="1600200"/>
            <a:ext cx="4894262" cy="212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	 8 is 4% of ____</a:t>
            </a:r>
            <a:endParaRPr/>
          </a:p>
        </p:txBody>
      </p:sp>
      <p:pic>
        <p:nvPicPr>
          <p:cNvPr id="443" name="Google Shape;44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0000" y="1485900"/>
            <a:ext cx="26035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1"/>
          <p:cNvSpPr txBox="1"/>
          <p:nvPr/>
        </p:nvSpPr>
        <p:spPr>
          <a:xfrm>
            <a:off x="693737" y="3259137"/>
            <a:ext cx="4741862" cy="87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 135 is 15% of ____</a:t>
            </a:r>
            <a:endParaRPr/>
          </a:p>
        </p:txBody>
      </p:sp>
      <p:sp>
        <p:nvSpPr>
          <p:cNvPr id="445" name="Google Shape;445;p61"/>
          <p:cNvSpPr txBox="1"/>
          <p:nvPr/>
        </p:nvSpPr>
        <p:spPr>
          <a:xfrm>
            <a:off x="795337" y="5148262"/>
            <a:ext cx="48609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  1.25 is 25% of ____</a:t>
            </a:r>
            <a:endParaRPr/>
          </a:p>
          <a:p>
            <a:pPr indent="-742950" lvl="0" marL="7429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446" name="Google Shape;44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9100" y="3148012"/>
            <a:ext cx="26797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2000" y="5029200"/>
            <a:ext cx="23368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>
            <p:ph type="title"/>
          </p:nvPr>
        </p:nvSpPr>
        <p:spPr>
          <a:xfrm>
            <a:off x="457200" y="63500"/>
            <a:ext cx="8229600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Find Sales when Tax Amount and Tax are Known</a:t>
            </a:r>
            <a:endParaRPr/>
          </a:p>
        </p:txBody>
      </p:sp>
      <p:sp>
        <p:nvSpPr>
          <p:cNvPr id="453" name="Google Shape;453;p62"/>
          <p:cNvSpPr txBox="1"/>
          <p:nvPr>
            <p:ph idx="1" type="body"/>
          </p:nvPr>
        </p:nvSpPr>
        <p:spPr>
          <a:xfrm>
            <a:off x="457200" y="2159000"/>
            <a:ext cx="8394700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 business problems involving sales tax, the amount of sales is always the base.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We use the formula</a:t>
            </a:r>
            <a:endParaRPr/>
          </a:p>
        </p:txBody>
      </p:sp>
      <p:pic>
        <p:nvPicPr>
          <p:cNvPr id="454" name="Google Shape;45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0537" y="3863975"/>
            <a:ext cx="13589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3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460" name="Google Shape;460;p63"/>
          <p:cNvSpPr txBox="1"/>
          <p:nvPr>
            <p:ph idx="1" type="body"/>
          </p:nvPr>
        </p:nvSpPr>
        <p:spPr>
          <a:xfrm>
            <a:off x="457200" y="1600200"/>
            <a:ext cx="83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week, a Famous Footware store collected sales taxes of $780. If the sales tax rate is 5%, find total sales for the week.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4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466" name="Google Shape;466;p64"/>
          <p:cNvSpPr txBox="1"/>
          <p:nvPr>
            <p:ph idx="1" type="body"/>
          </p:nvPr>
        </p:nvSpPr>
        <p:spPr>
          <a:xfrm>
            <a:off x="457200" y="1119187"/>
            <a:ext cx="8407400" cy="226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rate of tax collection is 5%, and taxes collected are a part of total sales. The rate in this problem is 5%, the part is $780, and the base, or total sales, must be found. </a:t>
            </a:r>
            <a:endParaRPr/>
          </a:p>
        </p:txBody>
      </p:sp>
      <p:sp>
        <p:nvSpPr>
          <p:cNvPr id="467" name="Google Shape;467;p64"/>
          <p:cNvSpPr txBox="1"/>
          <p:nvPr/>
        </p:nvSpPr>
        <p:spPr>
          <a:xfrm>
            <a:off x="457200" y="3100387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R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×	       </a:t>
            </a: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	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      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1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%	of	something	is	something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5%	of	total sales	is	$780 (tax)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Use the</a:t>
            </a:r>
            <a:b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formula:</a:t>
            </a:r>
            <a:endParaRPr/>
          </a:p>
        </p:txBody>
      </p:sp>
      <p:pic>
        <p:nvPicPr>
          <p:cNvPr id="468" name="Google Shape;46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4587" y="5148262"/>
            <a:ext cx="11684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1900" y="5148262"/>
            <a:ext cx="50927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5"/>
          <p:cNvSpPr txBox="1"/>
          <p:nvPr>
            <p:ph type="title"/>
          </p:nvPr>
        </p:nvSpPr>
        <p:spPr>
          <a:xfrm>
            <a:off x="457200" y="-4762"/>
            <a:ext cx="8229600" cy="1031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Find the Investment when Interest Payment and Rate of Interest are Known</a:t>
            </a:r>
            <a:endParaRPr/>
          </a:p>
        </p:txBody>
      </p:sp>
      <p:sp>
        <p:nvSpPr>
          <p:cNvPr id="475" name="Google Shape;475;p65"/>
          <p:cNvSpPr txBox="1"/>
          <p:nvPr>
            <p:ph idx="1" type="body"/>
          </p:nvPr>
        </p:nvSpPr>
        <p:spPr>
          <a:xfrm>
            <a:off x="292100" y="1760537"/>
            <a:ext cx="83947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 problems involving investments, the amount of money invested is always the base.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We use the formula</a:t>
            </a:r>
            <a:endParaRPr/>
          </a:p>
        </p:txBody>
      </p:sp>
      <p:pic>
        <p:nvPicPr>
          <p:cNvPr id="476" name="Google Shape;47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5437" y="3986212"/>
            <a:ext cx="13589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6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482" name="Google Shape;482;p66"/>
          <p:cNvSpPr txBox="1"/>
          <p:nvPr>
            <p:ph idx="1" type="body"/>
          </p:nvPr>
        </p:nvSpPr>
        <p:spPr>
          <a:xfrm>
            <a:off x="457200" y="1206500"/>
            <a:ext cx="83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Roberta Gonzales received $162.50 in interest from an account that paid 3.25% interest for the year. Find the amount of money invested in the account.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part (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is the $162.50 in interest and the rate (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is 3.25%. The whole, or base (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), is unknown.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483" name="Google Shape;48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581525"/>
            <a:ext cx="11684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900" y="4594225"/>
            <a:ext cx="19558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00" y="4594225"/>
            <a:ext cx="19558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4905375"/>
            <a:ext cx="15367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6"/>
          <p:cNvSpPr txBox="1"/>
          <p:nvPr/>
        </p:nvSpPr>
        <p:spPr>
          <a:xfrm>
            <a:off x="457200" y="5849937"/>
            <a:ext cx="8229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original investment was $5000.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 txBox="1"/>
          <p:nvPr>
            <p:ph type="title"/>
          </p:nvPr>
        </p:nvSpPr>
        <p:spPr>
          <a:xfrm>
            <a:off x="457200" y="119062"/>
            <a:ext cx="8229600" cy="873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Rate</a:t>
            </a:r>
            <a:endParaRPr/>
          </a:p>
        </p:txBody>
      </p:sp>
      <p:sp>
        <p:nvSpPr>
          <p:cNvPr id="493" name="Google Shape;493;p67"/>
          <p:cNvSpPr txBox="1"/>
          <p:nvPr>
            <p:ph idx="1" type="body"/>
          </p:nvPr>
        </p:nvSpPr>
        <p:spPr>
          <a:xfrm>
            <a:off x="457200" y="1930400"/>
            <a:ext cx="8229600" cy="4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Part and base are given, and the rate must be found.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</a:t>
            </a: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formula for rate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is found from the formula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B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R.</a:t>
            </a:r>
            <a:endParaRPr b="1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circle diagram on the next slide to learn how to use this formula.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8"/>
          <p:cNvSpPr txBox="1"/>
          <p:nvPr>
            <p:ph idx="1" type="body"/>
          </p:nvPr>
        </p:nvSpPr>
        <p:spPr>
          <a:xfrm>
            <a:off x="701675" y="57150"/>
            <a:ext cx="8229600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Cover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99" name="Google Shape;499;p68"/>
          <p:cNvSpPr txBox="1"/>
          <p:nvPr/>
        </p:nvSpPr>
        <p:spPr>
          <a:xfrm>
            <a:off x="609600" y="5402262"/>
            <a:ext cx="8229600" cy="98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We get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part ÷ base</a:t>
            </a: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00" name="Google Shape;50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5281612"/>
            <a:ext cx="5969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0000" y="1319212"/>
            <a:ext cx="3384550" cy="367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9"/>
          <p:cNvSpPr txBox="1"/>
          <p:nvPr>
            <p:ph type="title"/>
          </p:nvPr>
        </p:nvSpPr>
        <p:spPr>
          <a:xfrm>
            <a:off x="457200" y="41275"/>
            <a:ext cx="8229600" cy="10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Rate</a:t>
            </a:r>
            <a:endParaRPr/>
          </a:p>
        </p:txBody>
      </p:sp>
      <p:pic>
        <p:nvPicPr>
          <p:cNvPr id="507" name="Google Shape;50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750" y="2333625"/>
            <a:ext cx="11684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6875" y="2351087"/>
            <a:ext cx="33147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0"/>
          <p:cNvSpPr txBox="1"/>
          <p:nvPr>
            <p:ph type="title"/>
          </p:nvPr>
        </p:nvSpPr>
        <p:spPr>
          <a:xfrm>
            <a:off x="457200" y="22225"/>
            <a:ext cx="8229600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</a:t>
            </a:r>
            <a:r>
              <a:rPr b="0" i="1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P, B, </a:t>
            </a: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or </a:t>
            </a:r>
            <a:r>
              <a:rPr b="0" i="1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endParaRPr/>
          </a:p>
        </p:txBody>
      </p:sp>
      <p:sp>
        <p:nvSpPr>
          <p:cNvPr id="514" name="Google Shape;514;p70"/>
          <p:cNvSpPr txBox="1"/>
          <p:nvPr>
            <p:ph idx="1" type="body"/>
          </p:nvPr>
        </p:nvSpPr>
        <p:spPr>
          <a:xfrm>
            <a:off x="457200" y="1592262"/>
            <a:ext cx="8229600" cy="3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Need to know the values of two of the three components.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find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Use 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B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R.</a:t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1"/>
          <p:cNvSpPr txBox="1"/>
          <p:nvPr>
            <p:ph type="title"/>
          </p:nvPr>
        </p:nvSpPr>
        <p:spPr>
          <a:xfrm>
            <a:off x="457200" y="41275"/>
            <a:ext cx="8229600" cy="985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</a:t>
            </a:r>
            <a:r>
              <a:rPr b="0" i="1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P, B, </a:t>
            </a: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or </a:t>
            </a:r>
            <a:r>
              <a:rPr b="0" i="1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endParaRPr/>
          </a:p>
        </p:txBody>
      </p:sp>
      <p:sp>
        <p:nvSpPr>
          <p:cNvPr id="520" name="Google Shape;520;p71"/>
          <p:cNvSpPr txBox="1"/>
          <p:nvPr>
            <p:ph idx="1" type="body"/>
          </p:nvPr>
        </p:nvSpPr>
        <p:spPr>
          <a:xfrm>
            <a:off x="457200" y="1854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find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B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R.</a:t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21" name="Google Shape;5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300" y="3225800"/>
            <a:ext cx="19685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0300" y="4679950"/>
            <a:ext cx="34036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2"/>
          <p:cNvSpPr txBox="1"/>
          <p:nvPr>
            <p:ph idx="1" type="body"/>
          </p:nvPr>
        </p:nvSpPr>
        <p:spPr>
          <a:xfrm>
            <a:off x="457200" y="1854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find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B 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R.</a:t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28" name="Google Shape;52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300" y="3225800"/>
            <a:ext cx="19685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0300" y="4679950"/>
            <a:ext cx="34036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72"/>
          <p:cNvSpPr txBox="1"/>
          <p:nvPr>
            <p:ph type="title"/>
          </p:nvPr>
        </p:nvSpPr>
        <p:spPr>
          <a:xfrm>
            <a:off x="457200" y="41275"/>
            <a:ext cx="8229600" cy="985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</a:t>
            </a:r>
            <a:r>
              <a:rPr b="0" i="1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P, B, </a:t>
            </a: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or </a:t>
            </a:r>
            <a:r>
              <a:rPr b="0" i="1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3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536" name="Google Shape;536;p73"/>
          <p:cNvSpPr txBox="1"/>
          <p:nvPr>
            <p:ph idx="1" type="body"/>
          </p:nvPr>
        </p:nvSpPr>
        <p:spPr>
          <a:xfrm>
            <a:off x="762000" y="1600200"/>
            <a:ext cx="6824662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Solve for rate.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	26 is ____% of 104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 	____% of 300 is 60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	54 is ____% of 12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4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542" name="Google Shape;542;p74"/>
          <p:cNvSpPr txBox="1"/>
          <p:nvPr>
            <p:ph idx="1" type="body"/>
          </p:nvPr>
        </p:nvSpPr>
        <p:spPr>
          <a:xfrm>
            <a:off x="762000" y="1600200"/>
            <a:ext cx="489426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(a)	26 is ____% of 104</a:t>
            </a:r>
            <a:endParaRPr/>
          </a:p>
        </p:txBody>
      </p:sp>
      <p:pic>
        <p:nvPicPr>
          <p:cNvPr id="543" name="Google Shape;54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1800" y="1455737"/>
            <a:ext cx="30861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74"/>
          <p:cNvSpPr txBox="1"/>
          <p:nvPr/>
        </p:nvSpPr>
        <p:spPr>
          <a:xfrm>
            <a:off x="693737" y="3259137"/>
            <a:ext cx="4741862" cy="87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(b)	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____% of 300 is 60</a:t>
            </a:r>
            <a:endParaRPr/>
          </a:p>
        </p:txBody>
      </p:sp>
      <p:sp>
        <p:nvSpPr>
          <p:cNvPr id="545" name="Google Shape;545;p74"/>
          <p:cNvSpPr txBox="1"/>
          <p:nvPr/>
        </p:nvSpPr>
        <p:spPr>
          <a:xfrm>
            <a:off x="795337" y="5148262"/>
            <a:ext cx="48609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(c)	</a:t>
            </a:r>
            <a:r>
              <a:rPr b="0" i="0" lang="en-US" sz="36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54 is ____% of 12</a:t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742950" lvl="0" marL="74295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46" name="Google Shape;546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1150" y="3148012"/>
            <a:ext cx="28956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0" y="5029200"/>
            <a:ext cx="31623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Solve for Rate in Application Problems</a:t>
            </a:r>
            <a:endParaRPr/>
          </a:p>
        </p:txBody>
      </p:sp>
      <p:sp>
        <p:nvSpPr>
          <p:cNvPr id="553" name="Google Shape;553;p75"/>
          <p:cNvSpPr txBox="1"/>
          <p:nvPr>
            <p:ph idx="1" type="body"/>
          </p:nvPr>
        </p:nvSpPr>
        <p:spPr>
          <a:xfrm>
            <a:off x="457200" y="2159000"/>
            <a:ext cx="8394700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 application problems, to find the rate,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we use the formula</a:t>
            </a:r>
            <a:endParaRPr/>
          </a:p>
        </p:txBody>
      </p:sp>
      <p:pic>
        <p:nvPicPr>
          <p:cNvPr id="554" name="Google Shape;554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0537" y="3311525"/>
            <a:ext cx="13589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6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560" name="Google Shape;560;p76"/>
          <p:cNvSpPr txBox="1"/>
          <p:nvPr>
            <p:ph idx="1" type="body"/>
          </p:nvPr>
        </p:nvSpPr>
        <p:spPr>
          <a:xfrm>
            <a:off x="457200" y="1600200"/>
            <a:ext cx="83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 investment officer at Graham Bank placed $3,000,000 in a government security. It remained there for one year and earned $96,000 in interest. Find the rate of return.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7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566" name="Google Shape;566;p77"/>
          <p:cNvSpPr txBox="1"/>
          <p:nvPr>
            <p:ph idx="1" type="body"/>
          </p:nvPr>
        </p:nvSpPr>
        <p:spPr>
          <a:xfrm>
            <a:off x="457200" y="1417637"/>
            <a:ext cx="8407400" cy="1376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whole is $3,000,000 and the part is $96,000. Find the rate as follows.</a:t>
            </a:r>
            <a:endParaRPr/>
          </a:p>
        </p:txBody>
      </p:sp>
      <p:sp>
        <p:nvSpPr>
          <p:cNvPr id="567" name="Google Shape;567;p77"/>
          <p:cNvSpPr txBox="1"/>
          <p:nvPr/>
        </p:nvSpPr>
        <p:spPr>
          <a:xfrm>
            <a:off x="457200" y="4613275"/>
            <a:ext cx="8229600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investment earned 3.2% for the year.</a:t>
            </a:r>
            <a:endParaRPr/>
          </a:p>
        </p:txBody>
      </p:sp>
      <p:pic>
        <p:nvPicPr>
          <p:cNvPr id="568" name="Google Shape;56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0487" y="3076575"/>
            <a:ext cx="11684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1450" y="3051175"/>
            <a:ext cx="525780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8"/>
          <p:cNvSpPr txBox="1"/>
          <p:nvPr>
            <p:ph type="title"/>
          </p:nvPr>
        </p:nvSpPr>
        <p:spPr>
          <a:xfrm>
            <a:off x="457200" y="63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575" name="Google Shape;575;p78"/>
          <p:cNvSpPr txBox="1"/>
          <p:nvPr>
            <p:ph idx="1" type="body"/>
          </p:nvPr>
        </p:nvSpPr>
        <p:spPr>
          <a:xfrm>
            <a:off x="457200" y="1239837"/>
            <a:ext cx="83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of the toughest races in the world is the 26.2-mile-long Boston marathon. After running 22 miles, Sheila James is exhausted. Find the percent of the race that she must still run.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Distance yet to be run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		= 26.2 – 22 = 4.2 miles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76" name="Google Shape;576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438650"/>
            <a:ext cx="11684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2662" y="4438650"/>
            <a:ext cx="37846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78"/>
          <p:cNvSpPr txBox="1"/>
          <p:nvPr/>
        </p:nvSpPr>
        <p:spPr>
          <a:xfrm>
            <a:off x="288925" y="5675312"/>
            <a:ext cx="8229600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James still has to run 16% of the total distance.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9"/>
          <p:cNvSpPr txBox="1"/>
          <p:nvPr>
            <p:ph type="title"/>
          </p:nvPr>
        </p:nvSpPr>
        <p:spPr>
          <a:xfrm>
            <a:off x="457200" y="6350"/>
            <a:ext cx="8229600" cy="96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Learn to Identify an Increase or Decrease Problem</a:t>
            </a:r>
            <a:endParaRPr/>
          </a:p>
        </p:txBody>
      </p:sp>
      <p:sp>
        <p:nvSpPr>
          <p:cNvPr id="584" name="Google Shape;584;p79"/>
          <p:cNvSpPr txBox="1"/>
          <p:nvPr>
            <p:ph idx="1" type="body"/>
          </p:nvPr>
        </p:nvSpPr>
        <p:spPr>
          <a:xfrm>
            <a:off x="457200" y="1930400"/>
            <a:ext cx="8229600" cy="4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Businesses look at how amounts change, either up or down.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Business: percent by which sales have </a:t>
            </a: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increased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or </a:t>
            </a:r>
            <a:r>
              <a:rPr b="1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decreased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b="1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Consumer: percent by which an item has changed.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0"/>
          <p:cNvSpPr txBox="1"/>
          <p:nvPr>
            <p:ph type="title"/>
          </p:nvPr>
        </p:nvSpPr>
        <p:spPr>
          <a:xfrm>
            <a:off x="457200" y="41275"/>
            <a:ext cx="8229600" cy="1490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Identify an Increase Problem</a:t>
            </a:r>
            <a:endParaRPr/>
          </a:p>
        </p:txBody>
      </p:sp>
      <p:sp>
        <p:nvSpPr>
          <p:cNvPr id="590" name="Google Shape;590;p80"/>
          <p:cNvSpPr txBox="1"/>
          <p:nvPr>
            <p:ph idx="1" type="body"/>
          </p:nvPr>
        </p:nvSpPr>
        <p:spPr>
          <a:xfrm>
            <a:off x="457200" y="1531937"/>
            <a:ext cx="8229600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base (100%)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plus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some portion of the base gives a new value, which is the part.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 increase of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more than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greater than</a:t>
            </a:r>
            <a:endParaRPr/>
          </a:p>
        </p:txBody>
      </p:sp>
      <p:sp>
        <p:nvSpPr>
          <p:cNvPr id="591" name="Google Shape;591;p80"/>
          <p:cNvSpPr txBox="1"/>
          <p:nvPr/>
        </p:nvSpPr>
        <p:spPr>
          <a:xfrm>
            <a:off x="457200" y="4826000"/>
            <a:ext cx="8229600" cy="164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Original + Increase = New value</a:t>
            </a:r>
            <a:b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 (base)                             (part)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1"/>
          <p:cNvSpPr txBox="1"/>
          <p:nvPr>
            <p:ph type="title"/>
          </p:nvPr>
        </p:nvSpPr>
        <p:spPr>
          <a:xfrm>
            <a:off x="457200" y="41275"/>
            <a:ext cx="8229600" cy="1490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Identify a Decrease Problem</a:t>
            </a:r>
            <a:endParaRPr/>
          </a:p>
        </p:txBody>
      </p:sp>
      <p:sp>
        <p:nvSpPr>
          <p:cNvPr id="597" name="Google Shape;597;p81"/>
          <p:cNvSpPr txBox="1"/>
          <p:nvPr>
            <p:ph idx="1" type="body"/>
          </p:nvPr>
        </p:nvSpPr>
        <p:spPr>
          <a:xfrm>
            <a:off x="457200" y="1531937"/>
            <a:ext cx="8534400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part equals the base (100%) </a:t>
            </a:r>
            <a:r>
              <a:rPr b="0" i="1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minus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some portion of the base (gives new value).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after a decrease of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less than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after a reduction of</a:t>
            </a:r>
            <a:endParaRPr/>
          </a:p>
        </p:txBody>
      </p:sp>
      <p:sp>
        <p:nvSpPr>
          <p:cNvPr id="598" name="Google Shape;598;p81"/>
          <p:cNvSpPr txBox="1"/>
          <p:nvPr/>
        </p:nvSpPr>
        <p:spPr>
          <a:xfrm>
            <a:off x="457200" y="4826000"/>
            <a:ext cx="8229600" cy="164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Original – Decrease = New value</a:t>
            </a:r>
            <a:b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 (base)                             (part)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2"/>
          <p:cNvSpPr txBox="1"/>
          <p:nvPr>
            <p:ph type="title"/>
          </p:nvPr>
        </p:nvSpPr>
        <p:spPr>
          <a:xfrm>
            <a:off x="457200" y="109537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Apply the Basic Diagram for Increase Word Problems</a:t>
            </a:r>
            <a:endParaRPr/>
          </a:p>
        </p:txBody>
      </p:sp>
      <p:sp>
        <p:nvSpPr>
          <p:cNvPr id="604" name="Google Shape;604;p82"/>
          <p:cNvSpPr txBox="1"/>
          <p:nvPr>
            <p:ph idx="1" type="body"/>
          </p:nvPr>
        </p:nvSpPr>
        <p:spPr>
          <a:xfrm>
            <a:off x="457200" y="1195387"/>
            <a:ext cx="8229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diagram, such as this one, can be used to help solve an increase word problem.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605" name="Google Shape;60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6575" y="2463800"/>
            <a:ext cx="5807075" cy="3484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3"/>
          <p:cNvSpPr txBox="1"/>
          <p:nvPr>
            <p:ph type="title"/>
          </p:nvPr>
        </p:nvSpPr>
        <p:spPr>
          <a:xfrm>
            <a:off x="457200" y="0"/>
            <a:ext cx="8229600" cy="1100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Base in Increase Problems</a:t>
            </a:r>
            <a:endParaRPr/>
          </a:p>
        </p:txBody>
      </p:sp>
      <p:sp>
        <p:nvSpPr>
          <p:cNvPr id="611" name="Google Shape;611;p83"/>
          <p:cNvSpPr txBox="1"/>
          <p:nvPr>
            <p:ph idx="1" type="body"/>
          </p:nvPr>
        </p:nvSpPr>
        <p:spPr>
          <a:xfrm>
            <a:off x="457200" y="1738312"/>
            <a:ext cx="8229600" cy="20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find the Rate, use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Original + Increase = New value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find the Base, use</a:t>
            </a:r>
            <a:endParaRPr/>
          </a:p>
        </p:txBody>
      </p:sp>
      <p:pic>
        <p:nvPicPr>
          <p:cNvPr id="612" name="Google Shape;61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7900" y="3852862"/>
            <a:ext cx="11684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18" name="Google Shape;618;p84"/>
          <p:cNvSpPr txBox="1"/>
          <p:nvPr>
            <p:ph idx="1" type="body"/>
          </p:nvPr>
        </p:nvSpPr>
        <p:spPr>
          <a:xfrm>
            <a:off x="762000" y="1600200"/>
            <a:ext cx="79248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value of a home sold by Tom Dugally this year is $203,500, which is 10% more than last year’s value. Find the value of the home last year.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5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24" name="Google Shape;624;p85"/>
          <p:cNvSpPr txBox="1"/>
          <p:nvPr>
            <p:ph idx="1" type="body"/>
          </p:nvPr>
        </p:nvSpPr>
        <p:spPr>
          <a:xfrm>
            <a:off x="762000" y="1600200"/>
            <a:ext cx="7924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base is the starting point, or that to which something is compared. In this case the base is last year’s value. Call base 100%, and remember that</a:t>
            </a:r>
            <a:endParaRPr/>
          </a:p>
        </p:txBody>
      </p:sp>
      <p:sp>
        <p:nvSpPr>
          <p:cNvPr id="625" name="Google Shape;625;p85"/>
          <p:cNvSpPr txBox="1"/>
          <p:nvPr/>
        </p:nvSpPr>
        <p:spPr>
          <a:xfrm>
            <a:off x="795337" y="4229100"/>
            <a:ext cx="77962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2D1"/>
              </a:buClr>
              <a:buSzPts val="3600"/>
              <a:buFont typeface="Times"/>
              <a:buNone/>
            </a:pPr>
            <a:r>
              <a:rPr b="1" i="0" lang="en-US" sz="3600" u="none">
                <a:solidFill>
                  <a:srgbClr val="0092D1"/>
                </a:solidFill>
                <a:latin typeface="Times"/>
                <a:ea typeface="Times"/>
                <a:cs typeface="Times"/>
                <a:sym typeface="Times"/>
              </a:rPr>
              <a:t>Original </a:t>
            </a:r>
            <a:r>
              <a:rPr b="1" i="0" lang="en-US" sz="3600" u="none">
                <a:solidFill>
                  <a:srgbClr val="0092D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3600" u="none">
                <a:solidFill>
                  <a:srgbClr val="0092D1"/>
                </a:solidFill>
                <a:latin typeface="Times"/>
                <a:ea typeface="Times"/>
                <a:cs typeface="Times"/>
                <a:sym typeface="Times"/>
              </a:rPr>
              <a:t>base</a:t>
            </a:r>
            <a:r>
              <a:rPr b="1" i="0" lang="en-US" sz="3600" u="none">
                <a:solidFill>
                  <a:srgbClr val="0092D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3600" u="none">
                <a:solidFill>
                  <a:srgbClr val="0092D1"/>
                </a:solidFill>
                <a:latin typeface="Times"/>
                <a:ea typeface="Times"/>
                <a:cs typeface="Times"/>
                <a:sym typeface="Times"/>
              </a:rPr>
              <a:t>+ Increase = New value</a:t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26" name="Google Shape;626;p85"/>
          <p:cNvSpPr txBox="1"/>
          <p:nvPr/>
        </p:nvSpPr>
        <p:spPr>
          <a:xfrm>
            <a:off x="806450" y="5207000"/>
            <a:ext cx="7924800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Apply the basic diagram for an increase.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6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32" name="Google Shape;632;p86"/>
          <p:cNvSpPr txBox="1"/>
          <p:nvPr>
            <p:ph idx="1" type="body"/>
          </p:nvPr>
        </p:nvSpPr>
        <p:spPr>
          <a:xfrm>
            <a:off x="762000" y="1600200"/>
            <a:ext cx="7924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base is the starting point, or that to which something is compared. In this case the base is last year’s value. Call base 100%, and remember that</a:t>
            </a:r>
            <a:endParaRPr/>
          </a:p>
        </p:txBody>
      </p:sp>
      <p:pic>
        <p:nvPicPr>
          <p:cNvPr id="633" name="Google Shape;63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250" y="1644650"/>
            <a:ext cx="7937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7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39" name="Google Shape;639;p87"/>
          <p:cNvSpPr txBox="1"/>
          <p:nvPr>
            <p:ph idx="1" type="body"/>
          </p:nvPr>
        </p:nvSpPr>
        <p:spPr>
          <a:xfrm>
            <a:off x="762000" y="1001712"/>
            <a:ext cx="7924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+ Increase = New value</a:t>
            </a:r>
            <a:endParaRPr/>
          </a:p>
        </p:txBody>
      </p:sp>
      <p:sp>
        <p:nvSpPr>
          <p:cNvPr id="640" name="Google Shape;640;p87"/>
          <p:cNvSpPr txBox="1"/>
          <p:nvPr/>
        </p:nvSpPr>
        <p:spPr>
          <a:xfrm>
            <a:off x="795337" y="1700212"/>
            <a:ext cx="77962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2D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92D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   +    10%   =   110%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1" name="Google Shape;64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7775" y="3211512"/>
            <a:ext cx="39751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87"/>
          <p:cNvSpPr txBox="1"/>
          <p:nvPr/>
        </p:nvSpPr>
        <p:spPr>
          <a:xfrm>
            <a:off x="795337" y="2373312"/>
            <a:ext cx="83486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 part = $203,500 and rate = 110%</a:t>
            </a:r>
            <a:endParaRPr/>
          </a:p>
        </p:txBody>
      </p:sp>
      <p:sp>
        <p:nvSpPr>
          <p:cNvPr id="643" name="Google Shape;643;p87"/>
          <p:cNvSpPr txBox="1"/>
          <p:nvPr/>
        </p:nvSpPr>
        <p:spPr>
          <a:xfrm>
            <a:off x="295275" y="5478462"/>
            <a:ext cx="88487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 of the house last year was $185,000.</a:t>
            </a:r>
            <a:endParaRPr/>
          </a:p>
        </p:txBody>
      </p:sp>
      <p:pic>
        <p:nvPicPr>
          <p:cNvPr id="644" name="Google Shape;64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6825" y="4392612"/>
            <a:ext cx="48260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8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50" name="Google Shape;650;p88"/>
          <p:cNvSpPr txBox="1"/>
          <p:nvPr>
            <p:ph idx="1" type="body"/>
          </p:nvPr>
        </p:nvSpPr>
        <p:spPr>
          <a:xfrm>
            <a:off x="762000" y="1319212"/>
            <a:ext cx="7924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Due to increased demand for a patented process that will help analyze the DNA of mice, Biotics Genome has increased production of testing kits by 20% per year for each of the two past years. This year’s production is 93,600 kits. Find the number of kits produced two years ago.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9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56" name="Google Shape;656;p89"/>
          <p:cNvSpPr txBox="1"/>
          <p:nvPr>
            <p:ph idx="1" type="body"/>
          </p:nvPr>
        </p:nvSpPr>
        <p:spPr>
          <a:xfrm>
            <a:off x="234950" y="1073150"/>
            <a:ext cx="3756025" cy="4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two increases cannot be added together because the increases are from two different years, or two separate bases. The problem must be solved in two steps. First, use a diagram to find last year’s production.</a:t>
            </a:r>
            <a:endParaRPr/>
          </a:p>
        </p:txBody>
      </p:sp>
      <p:pic>
        <p:nvPicPr>
          <p:cNvPr id="657" name="Google Shape;657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4650" y="1312862"/>
            <a:ext cx="4706937" cy="323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90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63" name="Google Shape;663;p90"/>
          <p:cNvSpPr txBox="1"/>
          <p:nvPr>
            <p:ph idx="1" type="body"/>
          </p:nvPr>
        </p:nvSpPr>
        <p:spPr>
          <a:xfrm>
            <a:off x="762000" y="1282700"/>
            <a:ext cx="79248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Part = 93,600 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Rate = 100% + 20% = 120%</a:t>
            </a:r>
            <a:endParaRPr/>
          </a:p>
        </p:txBody>
      </p:sp>
      <p:pic>
        <p:nvPicPr>
          <p:cNvPr id="664" name="Google Shape;664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0025" y="2965450"/>
            <a:ext cx="35306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90"/>
          <p:cNvSpPr txBox="1"/>
          <p:nvPr/>
        </p:nvSpPr>
        <p:spPr>
          <a:xfrm>
            <a:off x="866775" y="5657850"/>
            <a:ext cx="79089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last year was 78,000 kits.</a:t>
            </a:r>
            <a:endParaRPr/>
          </a:p>
        </p:txBody>
      </p:sp>
      <p:pic>
        <p:nvPicPr>
          <p:cNvPr id="666" name="Google Shape;666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0825" y="4394200"/>
            <a:ext cx="39370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91"/>
          <p:cNvSpPr txBox="1"/>
          <p:nvPr>
            <p:ph type="title"/>
          </p:nvPr>
        </p:nvSpPr>
        <p:spPr>
          <a:xfrm>
            <a:off x="457200" y="1095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72" name="Google Shape;672;p91"/>
          <p:cNvSpPr txBox="1"/>
          <p:nvPr>
            <p:ph idx="1" type="body"/>
          </p:nvPr>
        </p:nvSpPr>
        <p:spPr>
          <a:xfrm>
            <a:off x="457200" y="1028700"/>
            <a:ext cx="8445500" cy="30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Production for the preceding year (two years ago) must now be found.</a:t>
            </a:r>
            <a:endParaRPr/>
          </a:p>
        </p:txBody>
      </p:sp>
      <p:pic>
        <p:nvPicPr>
          <p:cNvPr id="673" name="Google Shape;67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8425" y="2144712"/>
            <a:ext cx="5632450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2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679" name="Google Shape;679;p92"/>
          <p:cNvSpPr txBox="1"/>
          <p:nvPr>
            <p:ph idx="1" type="body"/>
          </p:nvPr>
        </p:nvSpPr>
        <p:spPr>
          <a:xfrm>
            <a:off x="762000" y="1282700"/>
            <a:ext cx="79248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Part = 78,000 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Rate = 100% + 20% = 120%</a:t>
            </a:r>
            <a:endParaRPr/>
          </a:p>
        </p:txBody>
      </p:sp>
      <p:pic>
        <p:nvPicPr>
          <p:cNvPr id="680" name="Google Shape;68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0975" y="2965450"/>
            <a:ext cx="35687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92"/>
          <p:cNvSpPr txBox="1"/>
          <p:nvPr/>
        </p:nvSpPr>
        <p:spPr>
          <a:xfrm>
            <a:off x="838200" y="5657850"/>
            <a:ext cx="8318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two years ago was 65,000 kits.</a:t>
            </a:r>
            <a:endParaRPr/>
          </a:p>
        </p:txBody>
      </p:sp>
      <p:pic>
        <p:nvPicPr>
          <p:cNvPr id="682" name="Google Shape;682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925" y="4394200"/>
            <a:ext cx="39624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3"/>
          <p:cNvSpPr txBox="1"/>
          <p:nvPr>
            <p:ph type="title"/>
          </p:nvPr>
        </p:nvSpPr>
        <p:spPr>
          <a:xfrm>
            <a:off x="457200" y="-7937"/>
            <a:ext cx="8229600" cy="1046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Apply the Basic Diagram for Decrease Word Problems</a:t>
            </a:r>
            <a:endParaRPr/>
          </a:p>
        </p:txBody>
      </p:sp>
      <p:sp>
        <p:nvSpPr>
          <p:cNvPr id="688" name="Google Shape;688;p93"/>
          <p:cNvSpPr txBox="1"/>
          <p:nvPr>
            <p:ph idx="1" type="body"/>
          </p:nvPr>
        </p:nvSpPr>
        <p:spPr>
          <a:xfrm>
            <a:off x="354012" y="1352550"/>
            <a:ext cx="82296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diagram, such as this one, can be used to help solve a decrease word problem.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689" name="Google Shape;68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5" y="2476500"/>
            <a:ext cx="5349875" cy="3617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4"/>
          <p:cNvSpPr txBox="1"/>
          <p:nvPr>
            <p:ph type="title"/>
          </p:nvPr>
        </p:nvSpPr>
        <p:spPr>
          <a:xfrm>
            <a:off x="457200" y="103187"/>
            <a:ext cx="8229600" cy="935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the Basic Percent Formula to Solve for Base in Decrease Problems</a:t>
            </a:r>
            <a:endParaRPr/>
          </a:p>
        </p:txBody>
      </p:sp>
      <p:sp>
        <p:nvSpPr>
          <p:cNvPr id="695" name="Google Shape;695;p94"/>
          <p:cNvSpPr txBox="1"/>
          <p:nvPr>
            <p:ph idx="1" type="body"/>
          </p:nvPr>
        </p:nvSpPr>
        <p:spPr>
          <a:xfrm>
            <a:off x="457200" y="1404937"/>
            <a:ext cx="8229600" cy="20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find the Rate, use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Original – Increase = New value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find the Base, use</a:t>
            </a:r>
            <a:endParaRPr/>
          </a:p>
        </p:txBody>
      </p:sp>
      <p:pic>
        <p:nvPicPr>
          <p:cNvPr id="696" name="Google Shape;696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7900" y="3519487"/>
            <a:ext cx="11684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5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702" name="Google Shape;702;p95"/>
          <p:cNvSpPr txBox="1"/>
          <p:nvPr>
            <p:ph idx="1" type="body"/>
          </p:nvPr>
        </p:nvSpPr>
        <p:spPr>
          <a:xfrm>
            <a:off x="762000" y="1600200"/>
            <a:ext cx="79248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After Nike deducted 10% from the price of a pair of competition running shoes, Katie Small paid $135. What was the original price of the shoes?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6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708" name="Google Shape;708;p96"/>
          <p:cNvSpPr txBox="1"/>
          <p:nvPr>
            <p:ph idx="1" type="body"/>
          </p:nvPr>
        </p:nvSpPr>
        <p:spPr>
          <a:xfrm>
            <a:off x="762000" y="1600200"/>
            <a:ext cx="7924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 a diagram again, and remember that base is the starting point, which is the original price. As always, the base is 100%. Use the decrease formula.</a:t>
            </a:r>
            <a:endParaRPr/>
          </a:p>
        </p:txBody>
      </p:sp>
      <p:sp>
        <p:nvSpPr>
          <p:cNvPr id="709" name="Google Shape;709;p96"/>
          <p:cNvSpPr txBox="1"/>
          <p:nvPr/>
        </p:nvSpPr>
        <p:spPr>
          <a:xfrm>
            <a:off x="795337" y="4229100"/>
            <a:ext cx="77962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2D1"/>
              </a:buClr>
              <a:buSzPts val="3600"/>
              <a:buFont typeface="Times"/>
              <a:buNone/>
            </a:pPr>
            <a:r>
              <a:rPr b="1" i="0" lang="en-US" sz="3600" u="none">
                <a:solidFill>
                  <a:srgbClr val="0092D1"/>
                </a:solidFill>
                <a:latin typeface="Times"/>
                <a:ea typeface="Times"/>
                <a:cs typeface="Times"/>
                <a:sym typeface="Times"/>
              </a:rPr>
              <a:t>Original </a:t>
            </a:r>
            <a:r>
              <a:rPr b="1" i="0" lang="en-US" sz="3600" u="none">
                <a:solidFill>
                  <a:srgbClr val="0092D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3600" u="none">
                <a:solidFill>
                  <a:srgbClr val="0092D1"/>
                </a:solidFill>
                <a:latin typeface="Times"/>
                <a:ea typeface="Times"/>
                <a:cs typeface="Times"/>
                <a:sym typeface="Times"/>
              </a:rPr>
              <a:t>base</a:t>
            </a:r>
            <a:r>
              <a:rPr b="1" i="0" lang="en-US" sz="3600" u="none">
                <a:solidFill>
                  <a:srgbClr val="0092D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3600" u="none">
                <a:solidFill>
                  <a:srgbClr val="0092D1"/>
                </a:solidFill>
                <a:latin typeface="Times"/>
                <a:ea typeface="Times"/>
                <a:cs typeface="Times"/>
                <a:sym typeface="Times"/>
              </a:rPr>
              <a:t>– Increase = New value</a:t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0" name="Google Shape;710;p96"/>
          <p:cNvSpPr txBox="1"/>
          <p:nvPr/>
        </p:nvSpPr>
        <p:spPr>
          <a:xfrm>
            <a:off x="806450" y="5207000"/>
            <a:ext cx="7924800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Apply the basic diagram for a decrease.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7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716" name="Google Shape;716;p97"/>
          <p:cNvSpPr txBox="1"/>
          <p:nvPr>
            <p:ph idx="1" type="body"/>
          </p:nvPr>
        </p:nvSpPr>
        <p:spPr>
          <a:xfrm>
            <a:off x="1054100" y="1600200"/>
            <a:ext cx="67564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base is the starting point, or that to which something is compared. In this case the base is last year’s value. Call base 100%, and remember that</a:t>
            </a:r>
            <a:endParaRPr/>
          </a:p>
        </p:txBody>
      </p:sp>
      <p:pic>
        <p:nvPicPr>
          <p:cNvPr id="717" name="Google Shape;717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450" y="1676400"/>
            <a:ext cx="7023100" cy="47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98"/>
          <p:cNvSpPr txBox="1"/>
          <p:nvPr>
            <p:ph type="title"/>
          </p:nvPr>
        </p:nvSpPr>
        <p:spPr>
          <a:xfrm>
            <a:off x="457200" y="-587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b="0" i="0" lang="en-US" sz="4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Example</a:t>
            </a:r>
            <a:endParaRPr/>
          </a:p>
        </p:txBody>
      </p:sp>
      <p:sp>
        <p:nvSpPr>
          <p:cNvPr id="723" name="Google Shape;723;p98"/>
          <p:cNvSpPr txBox="1"/>
          <p:nvPr>
            <p:ph idx="1" type="body"/>
          </p:nvPr>
        </p:nvSpPr>
        <p:spPr>
          <a:xfrm>
            <a:off x="762000" y="1282700"/>
            <a:ext cx="7924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– Increase = New value</a:t>
            </a:r>
            <a:endParaRPr/>
          </a:p>
        </p:txBody>
      </p:sp>
      <p:sp>
        <p:nvSpPr>
          <p:cNvPr id="724" name="Google Shape;724;p98"/>
          <p:cNvSpPr txBox="1"/>
          <p:nvPr/>
        </p:nvSpPr>
        <p:spPr>
          <a:xfrm>
            <a:off x="795337" y="1981200"/>
            <a:ext cx="77962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2D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92D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   –    10%   =     90%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5" name="Google Shape;725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8625" y="3492500"/>
            <a:ext cx="30734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98"/>
          <p:cNvSpPr txBox="1"/>
          <p:nvPr/>
        </p:nvSpPr>
        <p:spPr>
          <a:xfrm>
            <a:off x="795337" y="2654300"/>
            <a:ext cx="83486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 part = $135 and rate = 90%</a:t>
            </a:r>
            <a:endParaRPr/>
          </a:p>
        </p:txBody>
      </p:sp>
      <p:sp>
        <p:nvSpPr>
          <p:cNvPr id="727" name="Google Shape;727;p98"/>
          <p:cNvSpPr txBox="1"/>
          <p:nvPr/>
        </p:nvSpPr>
        <p:spPr>
          <a:xfrm>
            <a:off x="977900" y="5886450"/>
            <a:ext cx="7708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1414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original price was $150.</a:t>
            </a:r>
            <a:endParaRPr/>
          </a:p>
        </p:txBody>
      </p:sp>
      <p:pic>
        <p:nvPicPr>
          <p:cNvPr id="728" name="Google Shape;728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7675" y="4673600"/>
            <a:ext cx="2908300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2_Pearson_Presentation">
  <a:themeElements>
    <a:clrScheme name="Pearson_Presentation 2">
      <a:dk1>
        <a:srgbClr val="000000"/>
      </a:dk1>
      <a:lt1>
        <a:srgbClr val="FBF5EA"/>
      </a:lt1>
      <a:dk2>
        <a:srgbClr val="364395"/>
      </a:dk2>
      <a:lt2>
        <a:srgbClr val="FFFFFF"/>
      </a:lt2>
      <a:accent1>
        <a:srgbClr val="364395"/>
      </a:accent1>
      <a:accent2>
        <a:srgbClr val="5E69AA"/>
      </a:accent2>
      <a:accent3>
        <a:srgbClr val="FDF9F3"/>
      </a:accent3>
      <a:accent4>
        <a:srgbClr val="000000"/>
      </a:accent4>
      <a:accent5>
        <a:srgbClr val="AEB0C8"/>
      </a:accent5>
      <a:accent6>
        <a:srgbClr val="545E9A"/>
      </a:accent6>
      <a:hlink>
        <a:srgbClr val="727BB5"/>
      </a:hlink>
      <a:folHlink>
        <a:srgbClr val="868E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