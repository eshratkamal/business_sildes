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306" r:id="rId26"/>
  </p:sldIdLst>
  <p:sldSz cx="9144000" cy="5143500" type="screen16x9"/>
  <p:notesSz cx="6858000" cy="9144000"/>
  <p:embeddedFontLst>
    <p:embeddedFont>
      <p:font typeface="Poppins" panose="000005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hyLnJ9lkJa4++GArsd2ofwohGR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63"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64"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53"/>
          <p:cNvSpPr txBox="1">
            <a:spLocks noGrp="1"/>
          </p:cNvSpPr>
          <p:nvPr>
            <p:ph type="ctrTitle"/>
          </p:nvPr>
        </p:nvSpPr>
        <p:spPr>
          <a:xfrm>
            <a:off x="448965" y="1502816"/>
            <a:ext cx="8246070" cy="122163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3"/>
          <p:cNvSpPr txBox="1">
            <a:spLocks noGrp="1"/>
          </p:cNvSpPr>
          <p:nvPr>
            <p:ph type="subTitle" idx="1"/>
          </p:nvPr>
        </p:nvSpPr>
        <p:spPr>
          <a:xfrm>
            <a:off x="448965" y="3335275"/>
            <a:ext cx="8246070" cy="91623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560"/>
              </a:spcBef>
              <a:spcAft>
                <a:spcPts val="0"/>
              </a:spcAft>
              <a:buClr>
                <a:srgbClr val="002060"/>
              </a:buClr>
              <a:buSzPts val="2800"/>
              <a:buNone/>
              <a:defRPr sz="2800" b="0" i="0">
                <a:solidFill>
                  <a:srgbClr val="002060"/>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9" name="Google Shape;19;p5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type="obj">
  <p:cSld name="OBJECT">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448965" y="433880"/>
            <a:ext cx="5955495" cy="57264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070C0"/>
              </a:buClr>
              <a:buSzPts val="3600"/>
              <a:buFont typeface="Calibri"/>
              <a:buNone/>
              <a:defRPr sz="36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4"/>
          <p:cNvSpPr txBox="1">
            <a:spLocks noGrp="1"/>
          </p:cNvSpPr>
          <p:nvPr>
            <p:ph type="body" idx="1"/>
          </p:nvPr>
        </p:nvSpPr>
        <p:spPr>
          <a:xfrm>
            <a:off x="448965" y="1198559"/>
            <a:ext cx="5955495" cy="3511061"/>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002060"/>
              </a:buClr>
              <a:buSzPts val="2800"/>
              <a:buChar char="•"/>
              <a:defRPr sz="2800">
                <a:solidFill>
                  <a:srgbClr val="002060"/>
                </a:solidFill>
              </a:defRPr>
            </a:lvl1pPr>
            <a:lvl2pPr marL="914400" lvl="1" indent="-406400" algn="l">
              <a:lnSpc>
                <a:spcPct val="100000"/>
              </a:lnSpc>
              <a:spcBef>
                <a:spcPts val="560"/>
              </a:spcBef>
              <a:spcAft>
                <a:spcPts val="0"/>
              </a:spcAft>
              <a:buClr>
                <a:srgbClr val="002060"/>
              </a:buClr>
              <a:buSzPts val="2800"/>
              <a:buChar char="–"/>
              <a:defRPr>
                <a:solidFill>
                  <a:srgbClr val="002060"/>
                </a:solidFill>
              </a:defRPr>
            </a:lvl2pPr>
            <a:lvl3pPr marL="1371600" lvl="2" indent="-381000" algn="l">
              <a:lnSpc>
                <a:spcPct val="100000"/>
              </a:lnSpc>
              <a:spcBef>
                <a:spcPts val="480"/>
              </a:spcBef>
              <a:spcAft>
                <a:spcPts val="0"/>
              </a:spcAft>
              <a:buClr>
                <a:srgbClr val="002060"/>
              </a:buClr>
              <a:buSzPts val="2400"/>
              <a:buChar char="•"/>
              <a:defRPr>
                <a:solidFill>
                  <a:srgbClr val="002060"/>
                </a:solidFill>
              </a:defRPr>
            </a:lvl3pPr>
            <a:lvl4pPr marL="1828800" lvl="3" indent="-355600" algn="l">
              <a:lnSpc>
                <a:spcPct val="100000"/>
              </a:lnSpc>
              <a:spcBef>
                <a:spcPts val="400"/>
              </a:spcBef>
              <a:spcAft>
                <a:spcPts val="0"/>
              </a:spcAft>
              <a:buClr>
                <a:srgbClr val="002060"/>
              </a:buClr>
              <a:buSzPts val="2000"/>
              <a:buChar char="–"/>
              <a:defRPr>
                <a:solidFill>
                  <a:srgbClr val="002060"/>
                </a:solidFill>
              </a:defRPr>
            </a:lvl4pPr>
            <a:lvl5pPr marL="2286000" lvl="4" indent="-355600" algn="l">
              <a:lnSpc>
                <a:spcPct val="100000"/>
              </a:lnSpc>
              <a:spcBef>
                <a:spcPts val="400"/>
              </a:spcBef>
              <a:spcAft>
                <a:spcPts val="0"/>
              </a:spcAft>
              <a:buClr>
                <a:srgbClr val="002060"/>
              </a:buClr>
              <a:buSzPts val="2000"/>
              <a:buChar char="»"/>
              <a:defRPr>
                <a:solidFill>
                  <a:srgbClr val="002060"/>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5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58"/>
          <p:cNvSpPr txBox="1">
            <a:spLocks noGrp="1"/>
          </p:cNvSpPr>
          <p:nvPr>
            <p:ph type="title"/>
          </p:nvPr>
        </p:nvSpPr>
        <p:spPr>
          <a:xfrm>
            <a:off x="448965" y="281175"/>
            <a:ext cx="8246070" cy="73929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8"/>
          <p:cNvSpPr txBox="1">
            <a:spLocks noGrp="1"/>
          </p:cNvSpPr>
          <p:nvPr>
            <p:ph type="body" idx="1"/>
          </p:nvPr>
        </p:nvSpPr>
        <p:spPr>
          <a:xfrm>
            <a:off x="448966" y="1502815"/>
            <a:ext cx="8246070" cy="3206801"/>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002060"/>
              </a:buClr>
              <a:buSzPts val="2800"/>
              <a:buChar char="•"/>
              <a:defRPr sz="2800">
                <a:solidFill>
                  <a:srgbClr val="002060"/>
                </a:solidFill>
              </a:defRPr>
            </a:lvl1pPr>
            <a:lvl2pPr marL="914400" lvl="1" indent="-406400" algn="l">
              <a:lnSpc>
                <a:spcPct val="100000"/>
              </a:lnSpc>
              <a:spcBef>
                <a:spcPts val="560"/>
              </a:spcBef>
              <a:spcAft>
                <a:spcPts val="0"/>
              </a:spcAft>
              <a:buClr>
                <a:srgbClr val="002060"/>
              </a:buClr>
              <a:buSzPts val="2800"/>
              <a:buChar char="–"/>
              <a:defRPr>
                <a:solidFill>
                  <a:srgbClr val="002060"/>
                </a:solidFill>
              </a:defRPr>
            </a:lvl2pPr>
            <a:lvl3pPr marL="1371600" lvl="2" indent="-381000" algn="l">
              <a:lnSpc>
                <a:spcPct val="100000"/>
              </a:lnSpc>
              <a:spcBef>
                <a:spcPts val="480"/>
              </a:spcBef>
              <a:spcAft>
                <a:spcPts val="0"/>
              </a:spcAft>
              <a:buClr>
                <a:srgbClr val="002060"/>
              </a:buClr>
              <a:buSzPts val="2400"/>
              <a:buChar char="•"/>
              <a:defRPr>
                <a:solidFill>
                  <a:srgbClr val="002060"/>
                </a:solidFill>
              </a:defRPr>
            </a:lvl3pPr>
            <a:lvl4pPr marL="1828800" lvl="3" indent="-355600" algn="l">
              <a:lnSpc>
                <a:spcPct val="100000"/>
              </a:lnSpc>
              <a:spcBef>
                <a:spcPts val="400"/>
              </a:spcBef>
              <a:spcAft>
                <a:spcPts val="0"/>
              </a:spcAft>
              <a:buClr>
                <a:srgbClr val="002060"/>
              </a:buClr>
              <a:buSzPts val="2000"/>
              <a:buChar char="–"/>
              <a:defRPr>
                <a:solidFill>
                  <a:srgbClr val="002060"/>
                </a:solidFill>
              </a:defRPr>
            </a:lvl4pPr>
            <a:lvl5pPr marL="2286000" lvl="4" indent="-355600" algn="l">
              <a:lnSpc>
                <a:spcPct val="100000"/>
              </a:lnSpc>
              <a:spcBef>
                <a:spcPts val="400"/>
              </a:spcBef>
              <a:spcAft>
                <a:spcPts val="0"/>
              </a:spcAft>
              <a:buClr>
                <a:srgbClr val="002060"/>
              </a:buClr>
              <a:buSzPts val="2000"/>
              <a:buChar char="»"/>
              <a:defRPr>
                <a:solidFill>
                  <a:srgbClr val="002060"/>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5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9"/>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9"/>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5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0"/>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3" name="Google Shape;43;p60"/>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4" name="Google Shape;44;p6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61"/>
          <p:cNvSpPr txBox="1">
            <a:spLocks noGrp="1"/>
          </p:cNvSpPr>
          <p:nvPr>
            <p:ph type="title"/>
          </p:nvPr>
        </p:nvSpPr>
        <p:spPr>
          <a:xfrm>
            <a:off x="448964" y="281175"/>
            <a:ext cx="8246071" cy="7635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1"/>
          <p:cNvSpPr txBox="1">
            <a:spLocks noGrp="1"/>
          </p:cNvSpPr>
          <p:nvPr>
            <p:ph type="body" idx="1"/>
          </p:nvPr>
        </p:nvSpPr>
        <p:spPr>
          <a:xfrm>
            <a:off x="536879" y="1834820"/>
            <a:ext cx="4040188" cy="479822"/>
          </a:xfrm>
          <a:prstGeom prst="rect">
            <a:avLst/>
          </a:prstGeom>
          <a:noFill/>
          <a:ln>
            <a:noFill/>
          </a:ln>
        </p:spPr>
        <p:txBody>
          <a:bodyPr spcFirstLastPara="1" wrap="square" lIns="91425" tIns="45700" rIns="91425" bIns="45700" anchor="b" anchorCtr="0">
            <a:normAutofit/>
          </a:bodyPr>
          <a:lstStyle>
            <a:lvl1pPr marL="457200" lvl="0" indent="-228600" algn="ctr">
              <a:lnSpc>
                <a:spcPct val="100000"/>
              </a:lnSpc>
              <a:spcBef>
                <a:spcPts val="480"/>
              </a:spcBef>
              <a:spcAft>
                <a:spcPts val="0"/>
              </a:spcAft>
              <a:buClr>
                <a:srgbClr val="002060"/>
              </a:buClr>
              <a:buSzPts val="2400"/>
              <a:buNone/>
              <a:defRPr sz="2400" b="1">
                <a:solidFill>
                  <a:srgbClr val="002060"/>
                </a:solidFill>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61"/>
          <p:cNvSpPr txBox="1">
            <a:spLocks noGrp="1"/>
          </p:cNvSpPr>
          <p:nvPr>
            <p:ph type="body" idx="2"/>
          </p:nvPr>
        </p:nvSpPr>
        <p:spPr>
          <a:xfrm>
            <a:off x="536879" y="2266340"/>
            <a:ext cx="4040188" cy="2137871"/>
          </a:xfrm>
          <a:prstGeom prst="rect">
            <a:avLst/>
          </a:prstGeom>
          <a:noFill/>
          <a:ln>
            <a:noFill/>
          </a:ln>
        </p:spPr>
        <p:txBody>
          <a:bodyPr spcFirstLastPara="1" wrap="square" lIns="91425" tIns="45700" rIns="91425" bIns="45700" anchor="t" anchorCtr="0">
            <a:normAutofit/>
          </a:bodyPr>
          <a:lstStyle>
            <a:lvl1pPr marL="457200" lvl="0" indent="-381000" algn="ctr">
              <a:lnSpc>
                <a:spcPct val="100000"/>
              </a:lnSpc>
              <a:spcBef>
                <a:spcPts val="480"/>
              </a:spcBef>
              <a:spcAft>
                <a:spcPts val="0"/>
              </a:spcAft>
              <a:buClr>
                <a:srgbClr val="002060"/>
              </a:buClr>
              <a:buSzPts val="2400"/>
              <a:buChar char="•"/>
              <a:defRPr sz="2400">
                <a:solidFill>
                  <a:srgbClr val="002060"/>
                </a:solidFill>
              </a:defRPr>
            </a:lvl1pPr>
            <a:lvl2pPr marL="914400" lvl="1" indent="-355600" algn="ctr">
              <a:lnSpc>
                <a:spcPct val="100000"/>
              </a:lnSpc>
              <a:spcBef>
                <a:spcPts val="400"/>
              </a:spcBef>
              <a:spcAft>
                <a:spcPts val="0"/>
              </a:spcAft>
              <a:buClr>
                <a:srgbClr val="002060"/>
              </a:buClr>
              <a:buSzPts val="2000"/>
              <a:buChar char="–"/>
              <a:defRPr sz="2000">
                <a:solidFill>
                  <a:srgbClr val="002060"/>
                </a:solidFill>
              </a:defRPr>
            </a:lvl2pPr>
            <a:lvl3pPr marL="1371600" lvl="2" indent="-342900" algn="ctr">
              <a:lnSpc>
                <a:spcPct val="100000"/>
              </a:lnSpc>
              <a:spcBef>
                <a:spcPts val="360"/>
              </a:spcBef>
              <a:spcAft>
                <a:spcPts val="0"/>
              </a:spcAft>
              <a:buClr>
                <a:srgbClr val="002060"/>
              </a:buClr>
              <a:buSzPts val="1800"/>
              <a:buChar char="•"/>
              <a:defRPr sz="1800">
                <a:solidFill>
                  <a:srgbClr val="002060"/>
                </a:solidFill>
              </a:defRPr>
            </a:lvl3pPr>
            <a:lvl4pPr marL="1828800" lvl="3" indent="-330200" algn="ctr">
              <a:lnSpc>
                <a:spcPct val="100000"/>
              </a:lnSpc>
              <a:spcBef>
                <a:spcPts val="320"/>
              </a:spcBef>
              <a:spcAft>
                <a:spcPts val="0"/>
              </a:spcAft>
              <a:buClr>
                <a:srgbClr val="002060"/>
              </a:buClr>
              <a:buSzPts val="1600"/>
              <a:buChar char="–"/>
              <a:defRPr sz="1600">
                <a:solidFill>
                  <a:srgbClr val="002060"/>
                </a:solidFill>
              </a:defRPr>
            </a:lvl4pPr>
            <a:lvl5pPr marL="2286000" lvl="4" indent="-330200" algn="ctr">
              <a:lnSpc>
                <a:spcPct val="100000"/>
              </a:lnSpc>
              <a:spcBef>
                <a:spcPts val="320"/>
              </a:spcBef>
              <a:spcAft>
                <a:spcPts val="0"/>
              </a:spcAft>
              <a:buClr>
                <a:srgbClr val="002060"/>
              </a:buClr>
              <a:buSzPts val="1600"/>
              <a:buChar char="»"/>
              <a:defRPr sz="1600">
                <a:solidFill>
                  <a:srgbClr val="002060"/>
                </a:solidFil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61"/>
          <p:cNvSpPr txBox="1">
            <a:spLocks noGrp="1"/>
          </p:cNvSpPr>
          <p:nvPr>
            <p:ph type="body" idx="3"/>
          </p:nvPr>
        </p:nvSpPr>
        <p:spPr>
          <a:xfrm>
            <a:off x="4572000" y="1834820"/>
            <a:ext cx="4041775" cy="479822"/>
          </a:xfrm>
          <a:prstGeom prst="rect">
            <a:avLst/>
          </a:prstGeom>
          <a:noFill/>
          <a:ln>
            <a:noFill/>
          </a:ln>
        </p:spPr>
        <p:txBody>
          <a:bodyPr spcFirstLastPara="1" wrap="square" lIns="91425" tIns="45700" rIns="91425" bIns="45700" anchor="b" anchorCtr="0">
            <a:normAutofit/>
          </a:bodyPr>
          <a:lstStyle>
            <a:lvl1pPr marL="457200" lvl="0" indent="-228600" algn="ctr">
              <a:lnSpc>
                <a:spcPct val="100000"/>
              </a:lnSpc>
              <a:spcBef>
                <a:spcPts val="480"/>
              </a:spcBef>
              <a:spcAft>
                <a:spcPts val="0"/>
              </a:spcAft>
              <a:buClr>
                <a:srgbClr val="002060"/>
              </a:buClr>
              <a:buSzPts val="2400"/>
              <a:buNone/>
              <a:defRPr sz="2400" b="1">
                <a:solidFill>
                  <a:srgbClr val="002060"/>
                </a:solidFill>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61"/>
          <p:cNvSpPr txBox="1">
            <a:spLocks noGrp="1"/>
          </p:cNvSpPr>
          <p:nvPr>
            <p:ph type="body" idx="4"/>
          </p:nvPr>
        </p:nvSpPr>
        <p:spPr>
          <a:xfrm>
            <a:off x="4572000" y="2266340"/>
            <a:ext cx="4041775" cy="2137871"/>
          </a:xfrm>
          <a:prstGeom prst="rect">
            <a:avLst/>
          </a:prstGeom>
          <a:noFill/>
          <a:ln>
            <a:noFill/>
          </a:ln>
        </p:spPr>
        <p:txBody>
          <a:bodyPr spcFirstLastPara="1" wrap="square" lIns="91425" tIns="45700" rIns="91425" bIns="45700" anchor="t" anchorCtr="0">
            <a:normAutofit/>
          </a:bodyPr>
          <a:lstStyle>
            <a:lvl1pPr marL="457200" lvl="0" indent="-381000" algn="ctr">
              <a:lnSpc>
                <a:spcPct val="100000"/>
              </a:lnSpc>
              <a:spcBef>
                <a:spcPts val="480"/>
              </a:spcBef>
              <a:spcAft>
                <a:spcPts val="0"/>
              </a:spcAft>
              <a:buClr>
                <a:srgbClr val="002060"/>
              </a:buClr>
              <a:buSzPts val="2400"/>
              <a:buChar char="•"/>
              <a:defRPr sz="2400">
                <a:solidFill>
                  <a:srgbClr val="002060"/>
                </a:solidFill>
              </a:defRPr>
            </a:lvl1pPr>
            <a:lvl2pPr marL="914400" lvl="1" indent="-355600" algn="ctr">
              <a:lnSpc>
                <a:spcPct val="100000"/>
              </a:lnSpc>
              <a:spcBef>
                <a:spcPts val="400"/>
              </a:spcBef>
              <a:spcAft>
                <a:spcPts val="0"/>
              </a:spcAft>
              <a:buClr>
                <a:srgbClr val="002060"/>
              </a:buClr>
              <a:buSzPts val="2000"/>
              <a:buChar char="–"/>
              <a:defRPr sz="2000">
                <a:solidFill>
                  <a:srgbClr val="002060"/>
                </a:solidFill>
              </a:defRPr>
            </a:lvl2pPr>
            <a:lvl3pPr marL="1371600" lvl="2" indent="-342900" algn="ctr">
              <a:lnSpc>
                <a:spcPct val="100000"/>
              </a:lnSpc>
              <a:spcBef>
                <a:spcPts val="360"/>
              </a:spcBef>
              <a:spcAft>
                <a:spcPts val="0"/>
              </a:spcAft>
              <a:buClr>
                <a:srgbClr val="002060"/>
              </a:buClr>
              <a:buSzPts val="1800"/>
              <a:buChar char="•"/>
              <a:defRPr sz="1800">
                <a:solidFill>
                  <a:srgbClr val="002060"/>
                </a:solidFill>
              </a:defRPr>
            </a:lvl3pPr>
            <a:lvl4pPr marL="1828800" lvl="3" indent="-330200" algn="ctr">
              <a:lnSpc>
                <a:spcPct val="100000"/>
              </a:lnSpc>
              <a:spcBef>
                <a:spcPts val="320"/>
              </a:spcBef>
              <a:spcAft>
                <a:spcPts val="0"/>
              </a:spcAft>
              <a:buClr>
                <a:srgbClr val="002060"/>
              </a:buClr>
              <a:buSzPts val="1600"/>
              <a:buChar char="–"/>
              <a:defRPr sz="1600">
                <a:solidFill>
                  <a:srgbClr val="002060"/>
                </a:solidFill>
              </a:defRPr>
            </a:lvl4pPr>
            <a:lvl5pPr marL="2286000" lvl="4" indent="-330200" algn="ctr">
              <a:lnSpc>
                <a:spcPct val="100000"/>
              </a:lnSpc>
              <a:spcBef>
                <a:spcPts val="320"/>
              </a:spcBef>
              <a:spcAft>
                <a:spcPts val="0"/>
              </a:spcAft>
              <a:buClr>
                <a:srgbClr val="002060"/>
              </a:buClr>
              <a:buSzPts val="1600"/>
              <a:buChar char="»"/>
              <a:defRPr sz="1600">
                <a:solidFill>
                  <a:srgbClr val="002060"/>
                </a:solidFil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6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6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6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6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6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6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6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64"/>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4"/>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64"/>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6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65"/>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5"/>
          <p:cNvSpPr>
            <a:spLocks noGrp="1"/>
          </p:cNvSpPr>
          <p:nvPr>
            <p:ph type="pic" idx="2"/>
          </p:nvPr>
        </p:nvSpPr>
        <p:spPr>
          <a:xfrm>
            <a:off x="1792288" y="459581"/>
            <a:ext cx="5486400" cy="3086100"/>
          </a:xfrm>
          <a:prstGeom prst="rect">
            <a:avLst/>
          </a:prstGeom>
          <a:noFill/>
          <a:ln>
            <a:noFill/>
          </a:ln>
        </p:spPr>
      </p:sp>
      <p:sp>
        <p:nvSpPr>
          <p:cNvPr id="75" name="Google Shape;75;p65"/>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6" name="Google Shape;76;p6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6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6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66"/>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2" name="Google Shape;82;p6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6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67"/>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67"/>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6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6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6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1" name="Google Shape;91;p67" descr="E:\websites\free-power-point-templates\2012\logos.png"/>
          <p:cNvPicPr preferRelativeResize="0"/>
          <p:nvPr/>
        </p:nvPicPr>
        <p:blipFill rotWithShape="1">
          <a:blip r:embed="rId2">
            <a:alphaModFix/>
          </a:blip>
          <a:srcRect/>
          <a:stretch/>
        </p:blipFill>
        <p:spPr>
          <a:xfrm>
            <a:off x="3808475" y="2326213"/>
            <a:ext cx="1463784" cy="52696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5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5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5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3"/>
        <p:cNvGrpSpPr/>
        <p:nvPr/>
      </p:nvGrpSpPr>
      <p:grpSpPr>
        <a:xfrm>
          <a:off x="0" y="0"/>
          <a:ext cx="0" cy="0"/>
          <a:chOff x="0" y="0"/>
          <a:chExt cx="0" cy="0"/>
        </a:xfrm>
      </p:grpSpPr>
      <p:sp>
        <p:nvSpPr>
          <p:cNvPr id="104" name="Google Shape;104;p5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57"/>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6" name="Google Shape;106;p5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5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5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9"/>
        <p:cNvGrpSpPr/>
        <p:nvPr/>
      </p:nvGrpSpPr>
      <p:grpSpPr>
        <a:xfrm>
          <a:off x="0" y="0"/>
          <a:ext cx="0" cy="0"/>
          <a:chOff x="0" y="0"/>
          <a:chExt cx="0" cy="0"/>
        </a:xfrm>
      </p:grpSpPr>
      <p:sp>
        <p:nvSpPr>
          <p:cNvPr id="110" name="Google Shape;110;p68"/>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68"/>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12" name="Google Shape;112;p6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6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6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5"/>
        <p:cNvGrpSpPr/>
        <p:nvPr/>
      </p:nvGrpSpPr>
      <p:grpSpPr>
        <a:xfrm>
          <a:off x="0" y="0"/>
          <a:ext cx="0" cy="0"/>
          <a:chOff x="0" y="0"/>
          <a:chExt cx="0" cy="0"/>
        </a:xfrm>
      </p:grpSpPr>
      <p:sp>
        <p:nvSpPr>
          <p:cNvPr id="116" name="Google Shape;116;p69"/>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69"/>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118" name="Google Shape;118;p6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6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6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1"/>
        <p:cNvGrpSpPr/>
        <p:nvPr/>
      </p:nvGrpSpPr>
      <p:grpSpPr>
        <a:xfrm>
          <a:off x="0" y="0"/>
          <a:ext cx="0" cy="0"/>
          <a:chOff x="0" y="0"/>
          <a:chExt cx="0" cy="0"/>
        </a:xfrm>
      </p:grpSpPr>
      <p:sp>
        <p:nvSpPr>
          <p:cNvPr id="122" name="Google Shape;122;p7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70"/>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4" name="Google Shape;124;p70"/>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5" name="Google Shape;125;p7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7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7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8"/>
        <p:cNvGrpSpPr/>
        <p:nvPr/>
      </p:nvGrpSpPr>
      <p:grpSpPr>
        <a:xfrm>
          <a:off x="0" y="0"/>
          <a:ext cx="0" cy="0"/>
          <a:chOff x="0" y="0"/>
          <a:chExt cx="0" cy="0"/>
        </a:xfrm>
      </p:grpSpPr>
      <p:sp>
        <p:nvSpPr>
          <p:cNvPr id="129" name="Google Shape;129;p71"/>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71"/>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31" name="Google Shape;131;p71"/>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2" name="Google Shape;132;p71"/>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33" name="Google Shape;133;p71"/>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4" name="Google Shape;134;p7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7"/>
        <p:cNvGrpSpPr/>
        <p:nvPr/>
      </p:nvGrpSpPr>
      <p:grpSpPr>
        <a:xfrm>
          <a:off x="0" y="0"/>
          <a:ext cx="0" cy="0"/>
          <a:chOff x="0" y="0"/>
          <a:chExt cx="0" cy="0"/>
        </a:xfrm>
      </p:grpSpPr>
      <p:sp>
        <p:nvSpPr>
          <p:cNvPr id="138" name="Google Shape;138;p72"/>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7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7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7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2"/>
        <p:cNvGrpSpPr/>
        <p:nvPr/>
      </p:nvGrpSpPr>
      <p:grpSpPr>
        <a:xfrm>
          <a:off x="0" y="0"/>
          <a:ext cx="0" cy="0"/>
          <a:chOff x="0" y="0"/>
          <a:chExt cx="0" cy="0"/>
        </a:xfrm>
      </p:grpSpPr>
      <p:sp>
        <p:nvSpPr>
          <p:cNvPr id="143" name="Google Shape;143;p7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73"/>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45" name="Google Shape;145;p73"/>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46" name="Google Shape;146;p7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7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7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9"/>
        <p:cNvGrpSpPr/>
        <p:nvPr/>
      </p:nvGrpSpPr>
      <p:grpSpPr>
        <a:xfrm>
          <a:off x="0" y="0"/>
          <a:ext cx="0" cy="0"/>
          <a:chOff x="0" y="0"/>
          <a:chExt cx="0" cy="0"/>
        </a:xfrm>
      </p:grpSpPr>
      <p:sp>
        <p:nvSpPr>
          <p:cNvPr id="150" name="Google Shape;150;p74"/>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74"/>
          <p:cNvSpPr>
            <a:spLocks noGrp="1"/>
          </p:cNvSpPr>
          <p:nvPr>
            <p:ph type="pic" idx="2"/>
          </p:nvPr>
        </p:nvSpPr>
        <p:spPr>
          <a:xfrm>
            <a:off x="3887391" y="740569"/>
            <a:ext cx="4629150" cy="3655219"/>
          </a:xfrm>
          <a:prstGeom prst="rect">
            <a:avLst/>
          </a:prstGeom>
          <a:noFill/>
          <a:ln>
            <a:noFill/>
          </a:ln>
        </p:spPr>
      </p:sp>
      <p:sp>
        <p:nvSpPr>
          <p:cNvPr id="152" name="Google Shape;152;p74"/>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53" name="Google Shape;153;p7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7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7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6"/>
        <p:cNvGrpSpPr/>
        <p:nvPr/>
      </p:nvGrpSpPr>
      <p:grpSpPr>
        <a:xfrm>
          <a:off x="0" y="0"/>
          <a:ext cx="0" cy="0"/>
          <a:chOff x="0" y="0"/>
          <a:chExt cx="0" cy="0"/>
        </a:xfrm>
      </p:grpSpPr>
      <p:sp>
        <p:nvSpPr>
          <p:cNvPr id="157" name="Google Shape;157;p7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75"/>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59" name="Google Shape;159;p7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7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7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2"/>
        <p:cNvGrpSpPr/>
        <p:nvPr/>
      </p:nvGrpSpPr>
      <p:grpSpPr>
        <a:xfrm>
          <a:off x="0" y="0"/>
          <a:ext cx="0" cy="0"/>
          <a:chOff x="0" y="0"/>
          <a:chExt cx="0" cy="0"/>
        </a:xfrm>
      </p:grpSpPr>
      <p:sp>
        <p:nvSpPr>
          <p:cNvPr id="163" name="Google Shape;163;p76"/>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76"/>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5" name="Google Shape;165;p7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7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7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8" name="Google Shape;168;p76" descr="E:\websites\free-power-point-templates\2012\logos.png"/>
          <p:cNvPicPr preferRelativeResize="0"/>
          <p:nvPr/>
        </p:nvPicPr>
        <p:blipFill rotWithShape="1">
          <a:blip r:embed="rId2">
            <a:alphaModFix/>
          </a:blip>
          <a:srcRect/>
          <a:stretch/>
        </p:blipFill>
        <p:spPr>
          <a:xfrm>
            <a:off x="3808475" y="2326213"/>
            <a:ext cx="1463784" cy="52696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5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2"/>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52"/>
          <p:cNvSpPr txBox="1"/>
          <p:nvPr/>
        </p:nvSpPr>
        <p:spPr>
          <a:xfrm>
            <a:off x="-9150" y="5213747"/>
            <a:ext cx="838962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A5A5A5"/>
                </a:solidFill>
                <a:latin typeface="Calibri"/>
                <a:ea typeface="Calibri"/>
                <a:cs typeface="Calibri"/>
                <a:sym typeface="Calibri"/>
              </a:rPr>
              <a:t>This presentation uses a free template provided by FPPT.com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A5A5A5"/>
                </a:solidFill>
                <a:latin typeface="Calibri"/>
                <a:ea typeface="Calibri"/>
                <a:cs typeface="Calibri"/>
                <a:sym typeface="Calibri"/>
              </a:rPr>
              <a:t>www.free-power-point-templates.com</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5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 name="Google Shape;94;p5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5" name="Google Shape;95;p5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5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7" name="Google Shape;97;p5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8" name="Google Shape;98;p55"/>
          <p:cNvSpPr txBox="1"/>
          <p:nvPr/>
        </p:nvSpPr>
        <p:spPr>
          <a:xfrm>
            <a:off x="-9150" y="5213747"/>
            <a:ext cx="838962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A5A5A5"/>
                </a:solidFill>
                <a:latin typeface="Calibri"/>
                <a:ea typeface="Calibri"/>
                <a:cs typeface="Calibri"/>
                <a:sym typeface="Calibri"/>
              </a:rPr>
              <a:t>This presentation uses a free template provided by FPPT.com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A5A5A5"/>
                </a:solidFill>
                <a:latin typeface="Calibri"/>
                <a:ea typeface="Calibri"/>
                <a:cs typeface="Calibri"/>
                <a:sym typeface="Calibri"/>
              </a:rPr>
              <a:t>www.free-power-point-templates.com</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
          <p:cNvSpPr txBox="1">
            <a:spLocks noGrp="1"/>
          </p:cNvSpPr>
          <p:nvPr>
            <p:ph type="title"/>
          </p:nvPr>
        </p:nvSpPr>
        <p:spPr>
          <a:xfrm>
            <a:off x="1447800" y="361950"/>
            <a:ext cx="5955495" cy="57264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0070C0"/>
              </a:buClr>
              <a:buSzPct val="100000"/>
              <a:buFont typeface="Calibri"/>
              <a:buNone/>
            </a:pPr>
            <a:r>
              <a:rPr lang="en-US"/>
              <a:t>Topics</a:t>
            </a:r>
            <a:endParaRPr/>
          </a:p>
        </p:txBody>
      </p:sp>
      <p:sp>
        <p:nvSpPr>
          <p:cNvPr id="178" name="Google Shape;178;p2"/>
          <p:cNvSpPr txBox="1">
            <a:spLocks noGrp="1"/>
          </p:cNvSpPr>
          <p:nvPr>
            <p:ph type="body" idx="1"/>
          </p:nvPr>
        </p:nvSpPr>
        <p:spPr>
          <a:xfrm>
            <a:off x="0" y="1200150"/>
            <a:ext cx="7315200" cy="34861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02060"/>
              </a:buClr>
              <a:buSzPts val="900"/>
              <a:buNone/>
            </a:pPr>
            <a:endParaRPr sz="900" b="1"/>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Time value of money</a:t>
            </a:r>
            <a:endParaRPr/>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Present value and Future values of cash flows</a:t>
            </a:r>
            <a:endParaRPr/>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Interest rate, time, conversion period</a:t>
            </a:r>
            <a:endParaRPr/>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Annuity, types of annuity</a:t>
            </a:r>
            <a:endParaRPr/>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Uneven cash flow</a:t>
            </a:r>
            <a:endParaRPr/>
          </a:p>
          <a:p>
            <a:pPr marL="0" lvl="0" indent="0" algn="l" rtl="0">
              <a:lnSpc>
                <a:spcPct val="100000"/>
              </a:lnSpc>
              <a:spcBef>
                <a:spcPts val="480"/>
              </a:spcBef>
              <a:spcAft>
                <a:spcPts val="0"/>
              </a:spcAft>
              <a:buClr>
                <a:srgbClr val="002060"/>
              </a:buClr>
              <a:buSzPts val="2400"/>
              <a:buChar char="•"/>
            </a:pPr>
            <a:r>
              <a:rPr lang="en-US" sz="2400" b="1">
                <a:latin typeface="Poppins"/>
                <a:ea typeface="Poppins"/>
                <a:cs typeface="Poppins"/>
                <a:sym typeface="Poppins"/>
              </a:rPr>
              <a:t>Loan Amortization schedule</a:t>
            </a:r>
            <a:endParaRPr/>
          </a:p>
          <a:p>
            <a:pPr marL="0" lvl="0" indent="0" algn="l" rtl="0">
              <a:lnSpc>
                <a:spcPct val="100000"/>
              </a:lnSpc>
              <a:spcBef>
                <a:spcPts val="480"/>
              </a:spcBef>
              <a:spcAft>
                <a:spcPts val="0"/>
              </a:spcAft>
              <a:buClr>
                <a:srgbClr val="002060"/>
              </a:buClr>
              <a:buSzPts val="2400"/>
              <a:buNone/>
            </a:pPr>
            <a:endParaRPr sz="2400" b="1"/>
          </a:p>
          <a:p>
            <a:pPr marL="342900" lvl="0" indent="-190500" algn="l" rtl="0">
              <a:lnSpc>
                <a:spcPct val="100000"/>
              </a:lnSpc>
              <a:spcBef>
                <a:spcPts val="480"/>
              </a:spcBef>
              <a:spcAft>
                <a:spcPts val="0"/>
              </a:spcAft>
              <a:buClr>
                <a:srgbClr val="002060"/>
              </a:buClr>
              <a:buSzPts val="2400"/>
              <a:buNone/>
            </a:pPr>
            <a:endParaRPr sz="2400" b="1"/>
          </a:p>
          <a:p>
            <a:pPr marL="342900" lvl="0" indent="-190500" algn="l" rtl="0">
              <a:lnSpc>
                <a:spcPct val="100000"/>
              </a:lnSpc>
              <a:spcBef>
                <a:spcPts val="480"/>
              </a:spcBef>
              <a:spcAft>
                <a:spcPts val="0"/>
              </a:spcAft>
              <a:buClr>
                <a:srgbClr val="002060"/>
              </a:buClr>
              <a:buSzPts val="2400"/>
              <a:buNone/>
            </a:pPr>
            <a:endParaRPr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p:nvPr/>
        </p:nvSpPr>
        <p:spPr>
          <a:xfrm>
            <a:off x="235425" y="539105"/>
            <a:ext cx="8198892" cy="3263504"/>
          </a:xfrm>
          <a:prstGeom prst="rect">
            <a:avLst/>
          </a:prstGeom>
          <a:noFill/>
          <a:ln>
            <a:noFill/>
          </a:ln>
        </p:spPr>
        <p:txBody>
          <a:bodyPr spcFirstLastPara="1" wrap="square" lIns="68575" tIns="34275" rIns="68575" bIns="34275"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184" name="Google Shape;184;p3"/>
          <p:cNvSpPr txBox="1"/>
          <p:nvPr/>
        </p:nvSpPr>
        <p:spPr>
          <a:xfrm>
            <a:off x="5379947" y="455650"/>
            <a:ext cx="3392152"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Time value of money</a:t>
            </a:r>
            <a:endParaRPr sz="2400" b="0" i="0" u="none" strike="noStrike" cap="none">
              <a:solidFill>
                <a:srgbClr val="0070C0"/>
              </a:solidFill>
              <a:latin typeface="Poppins"/>
              <a:ea typeface="Poppins"/>
              <a:cs typeface="Poppins"/>
              <a:sym typeface="Poppins"/>
            </a:endParaRPr>
          </a:p>
        </p:txBody>
      </p:sp>
      <p:sp>
        <p:nvSpPr>
          <p:cNvPr id="185" name="Google Shape;185;p3"/>
          <p:cNvSpPr/>
          <p:nvPr/>
        </p:nvSpPr>
        <p:spPr>
          <a:xfrm>
            <a:off x="644858" y="3204448"/>
            <a:ext cx="7881581" cy="1401922"/>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The time value of money (TVM) is the idea that money available at the present time is worth more than the same amount in the future due to its potential earning capacity.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60"/>
              </a:spcBef>
              <a:spcAft>
                <a:spcPts val="0"/>
              </a:spcAft>
              <a:buClr>
                <a:srgbClr val="000000"/>
              </a:buClr>
              <a:buSzPts val="1800"/>
              <a:buFont typeface="Arial"/>
              <a:buNone/>
            </a:pPr>
            <a:endParaRPr sz="18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Calibri"/>
                <a:ea typeface="Calibri"/>
                <a:cs typeface="Calibri"/>
                <a:sym typeface="Calibri"/>
              </a:rPr>
              <a:t>Ref: http://www.investopedia.com/terms/t/timevalueofmoney.asp?lgl=no-infinite</a:t>
            </a:r>
            <a:endParaRPr sz="1400" b="0" i="0" u="none" strike="noStrike" cap="none">
              <a:solidFill>
                <a:srgbClr val="000000"/>
              </a:solidFill>
              <a:latin typeface="Arial"/>
              <a:ea typeface="Arial"/>
              <a:cs typeface="Arial"/>
              <a:sym typeface="Arial"/>
            </a:endParaRPr>
          </a:p>
        </p:txBody>
      </p:sp>
      <p:sp>
        <p:nvSpPr>
          <p:cNvPr id="186" name="Google Shape;186;p3"/>
          <p:cNvSpPr txBox="1"/>
          <p:nvPr/>
        </p:nvSpPr>
        <p:spPr>
          <a:xfrm>
            <a:off x="644858" y="1978885"/>
            <a:ext cx="7716019" cy="94856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Poppins"/>
                <a:ea typeface="Poppins"/>
                <a:cs typeface="Poppins"/>
                <a:sym typeface="Poppins"/>
              </a:rPr>
              <a:t>The principles and computations used to revalue cash payoffs at </a:t>
            </a:r>
            <a:r>
              <a:rPr lang="en-US" sz="1800" b="0" i="0" u="none" strike="noStrike" cap="none">
                <a:solidFill>
                  <a:srgbClr val="2F5496"/>
                </a:solidFill>
                <a:latin typeface="Poppins"/>
                <a:ea typeface="Poppins"/>
                <a:cs typeface="Poppins"/>
                <a:sym typeface="Poppins"/>
              </a:rPr>
              <a:t>different times </a:t>
            </a:r>
            <a:r>
              <a:rPr lang="en-US" sz="1800" b="0" i="0" u="none" strike="noStrike" cap="none">
                <a:solidFill>
                  <a:schemeClr val="dk1"/>
                </a:solidFill>
                <a:latin typeface="Poppins"/>
                <a:ea typeface="Poppins"/>
                <a:cs typeface="Poppins"/>
                <a:sym typeface="Poppins"/>
              </a:rPr>
              <a:t>so they are stated in dollars of the </a:t>
            </a:r>
            <a:r>
              <a:rPr lang="en-US" sz="1800" b="0" i="0" u="none" strike="noStrike" cap="none">
                <a:solidFill>
                  <a:srgbClr val="2F5496"/>
                </a:solidFill>
                <a:latin typeface="Poppins"/>
                <a:ea typeface="Poppins"/>
                <a:cs typeface="Poppins"/>
                <a:sym typeface="Poppins"/>
              </a:rPr>
              <a:t>same time period</a:t>
            </a:r>
            <a:r>
              <a:rPr lang="en-US" sz="1800" b="0" i="0" u="none" strike="noStrike" cap="none">
                <a:solidFill>
                  <a:schemeClr val="dk1"/>
                </a:solidFill>
                <a:latin typeface="Poppins"/>
                <a:ea typeface="Poppins"/>
                <a:cs typeface="Poppins"/>
                <a:sym typeface="Poppins"/>
              </a:rPr>
              <a:t>.</a:t>
            </a:r>
            <a:endParaRPr sz="1800" b="0" i="0" u="none" strike="noStrike" cap="none">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4"/>
          <p:cNvSpPr txBox="1"/>
          <p:nvPr/>
        </p:nvSpPr>
        <p:spPr>
          <a:xfrm>
            <a:off x="762000" y="895350"/>
            <a:ext cx="8149988" cy="533400"/>
          </a:xfrm>
          <a:prstGeom prst="rect">
            <a:avLst/>
          </a:prstGeom>
          <a:noFill/>
          <a:ln>
            <a:noFill/>
          </a:ln>
        </p:spPr>
        <p:txBody>
          <a:bodyPr spcFirstLastPara="1" wrap="square" lIns="68575" tIns="34275" rIns="68575" bIns="34275"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An important tool used in time value of money analysis, it is a graphical representation to show the timing of cash flows.</a:t>
            </a:r>
            <a:endParaRPr sz="1400" b="0" i="0" u="none" strike="noStrike" cap="none">
              <a:solidFill>
                <a:srgbClr val="000000"/>
              </a:solidFill>
              <a:latin typeface="Arial"/>
              <a:ea typeface="Arial"/>
              <a:cs typeface="Arial"/>
              <a:sym typeface="Arial"/>
            </a:endParaRPr>
          </a:p>
          <a:p>
            <a:pPr marL="300038" marR="0" lvl="1" indent="0" algn="just" rtl="0">
              <a:lnSpc>
                <a:spcPct val="100000"/>
              </a:lnSpc>
              <a:spcBef>
                <a:spcPts val="56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192" name="Google Shape;192;p4"/>
          <p:cNvSpPr txBox="1"/>
          <p:nvPr/>
        </p:nvSpPr>
        <p:spPr>
          <a:xfrm>
            <a:off x="2524152" y="628012"/>
            <a:ext cx="621041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Cash Flow Time lines </a:t>
            </a:r>
            <a:endParaRPr sz="2400" b="0" i="0" u="none" strike="noStrike" cap="none">
              <a:solidFill>
                <a:srgbClr val="0070C0"/>
              </a:solidFill>
              <a:latin typeface="Poppins"/>
              <a:ea typeface="Poppins"/>
              <a:cs typeface="Poppins"/>
              <a:sym typeface="Poppins"/>
            </a:endParaRPr>
          </a:p>
        </p:txBody>
      </p:sp>
      <p:cxnSp>
        <p:nvCxnSpPr>
          <p:cNvPr id="193" name="Google Shape;193;p4"/>
          <p:cNvCxnSpPr/>
          <p:nvPr/>
        </p:nvCxnSpPr>
        <p:spPr>
          <a:xfrm>
            <a:off x="2195945" y="3702485"/>
            <a:ext cx="4163096" cy="0"/>
          </a:xfrm>
          <a:prstGeom prst="straightConnector1">
            <a:avLst/>
          </a:prstGeom>
          <a:noFill/>
          <a:ln w="9525" cap="flat" cmpd="sng">
            <a:solidFill>
              <a:srgbClr val="0C0C0C"/>
            </a:solidFill>
            <a:prstDash val="solid"/>
            <a:miter lim="800000"/>
            <a:headEnd type="none" w="sm" len="sm"/>
            <a:tailEnd type="none" w="sm" len="sm"/>
          </a:ln>
        </p:spPr>
      </p:cxnSp>
      <p:sp>
        <p:nvSpPr>
          <p:cNvPr id="194" name="Google Shape;194;p4"/>
          <p:cNvSpPr txBox="1"/>
          <p:nvPr/>
        </p:nvSpPr>
        <p:spPr>
          <a:xfrm>
            <a:off x="1254178" y="3309422"/>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Time</a:t>
            </a:r>
            <a:endParaRPr sz="1800" b="1" i="0" u="none" strike="noStrike" cap="none">
              <a:solidFill>
                <a:schemeClr val="dk1"/>
              </a:solidFill>
              <a:latin typeface="Calibri"/>
              <a:ea typeface="Calibri"/>
              <a:cs typeface="Calibri"/>
              <a:sym typeface="Calibri"/>
            </a:endParaRPr>
          </a:p>
        </p:txBody>
      </p:sp>
      <p:sp>
        <p:nvSpPr>
          <p:cNvPr id="195" name="Google Shape;195;p4"/>
          <p:cNvSpPr txBox="1"/>
          <p:nvPr/>
        </p:nvSpPr>
        <p:spPr>
          <a:xfrm>
            <a:off x="2093622" y="3297757"/>
            <a:ext cx="371672"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0</a:t>
            </a:r>
            <a:endParaRPr sz="1500" b="0" i="0" u="none" strike="noStrike" cap="none">
              <a:solidFill>
                <a:schemeClr val="dk1"/>
              </a:solidFill>
              <a:latin typeface="Calibri"/>
              <a:ea typeface="Calibri"/>
              <a:cs typeface="Calibri"/>
              <a:sym typeface="Calibri"/>
            </a:endParaRPr>
          </a:p>
        </p:txBody>
      </p:sp>
      <p:sp>
        <p:nvSpPr>
          <p:cNvPr id="196" name="Google Shape;196;p4"/>
          <p:cNvSpPr txBox="1"/>
          <p:nvPr/>
        </p:nvSpPr>
        <p:spPr>
          <a:xfrm>
            <a:off x="3566739" y="3286986"/>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1</a:t>
            </a:r>
            <a:endParaRPr sz="1500" b="0" i="0" u="none" strike="noStrike" cap="none">
              <a:solidFill>
                <a:schemeClr val="dk1"/>
              </a:solidFill>
              <a:latin typeface="Calibri"/>
              <a:ea typeface="Calibri"/>
              <a:cs typeface="Calibri"/>
              <a:sym typeface="Calibri"/>
            </a:endParaRPr>
          </a:p>
        </p:txBody>
      </p:sp>
      <p:sp>
        <p:nvSpPr>
          <p:cNvPr id="197" name="Google Shape;197;p4"/>
          <p:cNvSpPr txBox="1"/>
          <p:nvPr/>
        </p:nvSpPr>
        <p:spPr>
          <a:xfrm>
            <a:off x="6196438" y="3268307"/>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98" name="Google Shape;198;p4"/>
          <p:cNvSpPr txBox="1"/>
          <p:nvPr/>
        </p:nvSpPr>
        <p:spPr>
          <a:xfrm>
            <a:off x="4870727" y="3286986"/>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2</a:t>
            </a:r>
            <a:endParaRPr sz="1500" b="0" i="0" u="none" strike="noStrike" cap="none">
              <a:solidFill>
                <a:schemeClr val="dk1"/>
              </a:solidFill>
              <a:latin typeface="Calibri"/>
              <a:ea typeface="Calibri"/>
              <a:cs typeface="Calibri"/>
              <a:sym typeface="Calibri"/>
            </a:endParaRPr>
          </a:p>
        </p:txBody>
      </p:sp>
      <p:sp>
        <p:nvSpPr>
          <p:cNvPr id="199" name="Google Shape;199;p4"/>
          <p:cNvSpPr txBox="1"/>
          <p:nvPr/>
        </p:nvSpPr>
        <p:spPr>
          <a:xfrm>
            <a:off x="1254178" y="3837868"/>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Cash</a:t>
            </a:r>
            <a:endParaRPr sz="1800" b="1" i="0" u="none" strike="noStrike" cap="none">
              <a:solidFill>
                <a:schemeClr val="dk1"/>
              </a:solidFill>
              <a:latin typeface="Calibri"/>
              <a:ea typeface="Calibri"/>
              <a:cs typeface="Calibri"/>
              <a:sym typeface="Calibri"/>
            </a:endParaRPr>
          </a:p>
        </p:txBody>
      </p:sp>
      <p:sp>
        <p:nvSpPr>
          <p:cNvPr id="200" name="Google Shape;200;p4"/>
          <p:cNvSpPr txBox="1"/>
          <p:nvPr/>
        </p:nvSpPr>
        <p:spPr>
          <a:xfrm>
            <a:off x="1943018" y="3911775"/>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PV=$100</a:t>
            </a:r>
            <a:endParaRPr sz="1500" b="1" i="0" u="none" strike="noStrike" cap="none">
              <a:solidFill>
                <a:schemeClr val="dk1"/>
              </a:solidFill>
              <a:latin typeface="Calibri"/>
              <a:ea typeface="Calibri"/>
              <a:cs typeface="Calibri"/>
              <a:sym typeface="Calibri"/>
            </a:endParaRPr>
          </a:p>
        </p:txBody>
      </p:sp>
      <p:sp>
        <p:nvSpPr>
          <p:cNvPr id="201" name="Google Shape;201;p4"/>
          <p:cNvSpPr txBox="1"/>
          <p:nvPr/>
        </p:nvSpPr>
        <p:spPr>
          <a:xfrm>
            <a:off x="6077090" y="3890738"/>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FV=?</a:t>
            </a:r>
            <a:endParaRPr sz="1500" b="1" i="0" u="none" strike="noStrike" cap="none">
              <a:solidFill>
                <a:schemeClr val="dk1"/>
              </a:solidFill>
              <a:latin typeface="Calibri"/>
              <a:ea typeface="Calibri"/>
              <a:cs typeface="Calibri"/>
              <a:sym typeface="Calibri"/>
            </a:endParaRPr>
          </a:p>
        </p:txBody>
      </p:sp>
      <p:cxnSp>
        <p:nvCxnSpPr>
          <p:cNvPr id="202" name="Google Shape;202;p4"/>
          <p:cNvCxnSpPr/>
          <p:nvPr/>
        </p:nvCxnSpPr>
        <p:spPr>
          <a:xfrm>
            <a:off x="2195945" y="3614726"/>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03" name="Google Shape;203;p4"/>
          <p:cNvCxnSpPr/>
          <p:nvPr/>
        </p:nvCxnSpPr>
        <p:spPr>
          <a:xfrm>
            <a:off x="3692081" y="3655670"/>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04" name="Google Shape;204;p4"/>
          <p:cNvCxnSpPr/>
          <p:nvPr/>
        </p:nvCxnSpPr>
        <p:spPr>
          <a:xfrm>
            <a:off x="4981794" y="3616891"/>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05" name="Google Shape;205;p4"/>
          <p:cNvCxnSpPr/>
          <p:nvPr/>
        </p:nvCxnSpPr>
        <p:spPr>
          <a:xfrm>
            <a:off x="6347461" y="3587068"/>
            <a:ext cx="0" cy="182198"/>
          </a:xfrm>
          <a:prstGeom prst="straightConnector1">
            <a:avLst/>
          </a:prstGeom>
          <a:noFill/>
          <a:ln w="9525" cap="flat" cmpd="sng">
            <a:solidFill>
              <a:schemeClr val="accent1"/>
            </a:solidFill>
            <a:prstDash val="solid"/>
            <a:miter lim="800000"/>
            <a:headEnd type="none" w="sm" len="sm"/>
            <a:tailEnd type="none" w="sm" len="sm"/>
          </a:ln>
        </p:spPr>
      </p:cxnSp>
      <p:sp>
        <p:nvSpPr>
          <p:cNvPr id="206" name="Google Shape;206;p4"/>
          <p:cNvSpPr txBox="1"/>
          <p:nvPr/>
        </p:nvSpPr>
        <p:spPr>
          <a:xfrm>
            <a:off x="2783381" y="3328465"/>
            <a:ext cx="371672" cy="53091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6%</a:t>
            </a: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5"/>
          <p:cNvSpPr txBox="1"/>
          <p:nvPr/>
        </p:nvSpPr>
        <p:spPr>
          <a:xfrm>
            <a:off x="2524152" y="628012"/>
            <a:ext cx="621041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Practice </a:t>
            </a:r>
            <a:endParaRPr sz="2400" b="0" i="0" u="none" strike="noStrike" cap="none">
              <a:solidFill>
                <a:srgbClr val="0070C0"/>
              </a:solidFill>
              <a:latin typeface="Poppins"/>
              <a:ea typeface="Poppins"/>
              <a:cs typeface="Poppins"/>
              <a:sym typeface="Poppins"/>
            </a:endParaRPr>
          </a:p>
        </p:txBody>
      </p:sp>
      <p:sp>
        <p:nvSpPr>
          <p:cNvPr id="212" name="Google Shape;212;p5"/>
          <p:cNvSpPr txBox="1"/>
          <p:nvPr/>
        </p:nvSpPr>
        <p:spPr>
          <a:xfrm>
            <a:off x="381000" y="1200150"/>
            <a:ext cx="8454788" cy="1364642"/>
          </a:xfrm>
          <a:prstGeom prst="rect">
            <a:avLst/>
          </a:prstGeom>
          <a:noFill/>
          <a:ln>
            <a:noFill/>
          </a:ln>
        </p:spPr>
        <p:txBody>
          <a:bodyPr spcFirstLastPara="1" wrap="square" lIns="68575" tIns="34275" rIns="68575" bIns="34275"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Draw a cash flow timeline to illustrate the following situation: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You invest $5,000 today in a four-year savings instrument that pays 7% interest each year.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just"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300038" marR="0" lvl="1" indent="0" algn="just" rtl="0">
              <a:lnSpc>
                <a:spcPct val="100000"/>
              </a:lnSpc>
              <a:spcBef>
                <a:spcPts val="56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cxnSp>
        <p:nvCxnSpPr>
          <p:cNvPr id="217" name="Google Shape;217;p6"/>
          <p:cNvCxnSpPr/>
          <p:nvPr/>
        </p:nvCxnSpPr>
        <p:spPr>
          <a:xfrm rot="10800000" flipH="1">
            <a:off x="1982006" y="2190750"/>
            <a:ext cx="5485594" cy="46815"/>
          </a:xfrm>
          <a:prstGeom prst="straightConnector1">
            <a:avLst/>
          </a:prstGeom>
          <a:noFill/>
          <a:ln w="9525" cap="flat" cmpd="sng">
            <a:solidFill>
              <a:srgbClr val="0C0C0C"/>
            </a:solidFill>
            <a:prstDash val="solid"/>
            <a:miter lim="800000"/>
            <a:headEnd type="none" w="sm" len="sm"/>
            <a:tailEnd type="none" w="sm" len="sm"/>
          </a:ln>
        </p:spPr>
      </p:cxnSp>
      <p:sp>
        <p:nvSpPr>
          <p:cNvPr id="218" name="Google Shape;218;p6"/>
          <p:cNvSpPr txBox="1"/>
          <p:nvPr/>
        </p:nvSpPr>
        <p:spPr>
          <a:xfrm>
            <a:off x="1040239" y="1832186"/>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Time</a:t>
            </a:r>
            <a:endParaRPr sz="1800" b="1" i="0" u="none" strike="noStrike" cap="none">
              <a:solidFill>
                <a:schemeClr val="dk1"/>
              </a:solidFill>
              <a:latin typeface="Calibri"/>
              <a:ea typeface="Calibri"/>
              <a:cs typeface="Calibri"/>
              <a:sym typeface="Calibri"/>
            </a:endParaRPr>
          </a:p>
        </p:txBody>
      </p:sp>
      <p:sp>
        <p:nvSpPr>
          <p:cNvPr id="219" name="Google Shape;219;p6"/>
          <p:cNvSpPr txBox="1"/>
          <p:nvPr/>
        </p:nvSpPr>
        <p:spPr>
          <a:xfrm>
            <a:off x="1879683" y="1820521"/>
            <a:ext cx="371672"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0</a:t>
            </a:r>
            <a:endParaRPr sz="1500" b="0" i="0" u="none" strike="noStrike" cap="none">
              <a:solidFill>
                <a:schemeClr val="dk1"/>
              </a:solidFill>
              <a:latin typeface="Calibri"/>
              <a:ea typeface="Calibri"/>
              <a:cs typeface="Calibri"/>
              <a:sym typeface="Calibri"/>
            </a:endParaRPr>
          </a:p>
        </p:txBody>
      </p:sp>
      <p:sp>
        <p:nvSpPr>
          <p:cNvPr id="220" name="Google Shape;220;p6"/>
          <p:cNvSpPr txBox="1"/>
          <p:nvPr/>
        </p:nvSpPr>
        <p:spPr>
          <a:xfrm>
            <a:off x="3352800" y="1809750"/>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1</a:t>
            </a:r>
            <a:endParaRPr sz="1500" b="0" i="0" u="none" strike="noStrike" cap="none">
              <a:solidFill>
                <a:schemeClr val="dk1"/>
              </a:solidFill>
              <a:latin typeface="Calibri"/>
              <a:ea typeface="Calibri"/>
              <a:cs typeface="Calibri"/>
              <a:sym typeface="Calibri"/>
            </a:endParaRPr>
          </a:p>
        </p:txBody>
      </p:sp>
      <p:sp>
        <p:nvSpPr>
          <p:cNvPr id="221" name="Google Shape;221;p6"/>
          <p:cNvSpPr txBox="1"/>
          <p:nvPr/>
        </p:nvSpPr>
        <p:spPr>
          <a:xfrm>
            <a:off x="5982499" y="1791071"/>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222" name="Google Shape;222;p6"/>
          <p:cNvSpPr txBox="1"/>
          <p:nvPr/>
        </p:nvSpPr>
        <p:spPr>
          <a:xfrm>
            <a:off x="4656788" y="1809750"/>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2</a:t>
            </a:r>
            <a:endParaRPr sz="1500" b="0" i="0" u="none" strike="noStrike" cap="none">
              <a:solidFill>
                <a:schemeClr val="dk1"/>
              </a:solidFill>
              <a:latin typeface="Calibri"/>
              <a:ea typeface="Calibri"/>
              <a:cs typeface="Calibri"/>
              <a:sym typeface="Calibri"/>
            </a:endParaRPr>
          </a:p>
        </p:txBody>
      </p:sp>
      <p:sp>
        <p:nvSpPr>
          <p:cNvPr id="223" name="Google Shape;223;p6"/>
          <p:cNvSpPr txBox="1"/>
          <p:nvPr/>
        </p:nvSpPr>
        <p:spPr>
          <a:xfrm>
            <a:off x="1040239" y="2360632"/>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Cash</a:t>
            </a:r>
            <a:endParaRPr sz="1800" b="1" i="0" u="none" strike="noStrike" cap="none">
              <a:solidFill>
                <a:schemeClr val="dk1"/>
              </a:solidFill>
              <a:latin typeface="Calibri"/>
              <a:ea typeface="Calibri"/>
              <a:cs typeface="Calibri"/>
              <a:sym typeface="Calibri"/>
            </a:endParaRPr>
          </a:p>
        </p:txBody>
      </p:sp>
      <p:sp>
        <p:nvSpPr>
          <p:cNvPr id="224" name="Google Shape;224;p6"/>
          <p:cNvSpPr txBox="1"/>
          <p:nvPr/>
        </p:nvSpPr>
        <p:spPr>
          <a:xfrm>
            <a:off x="1729079" y="2434539"/>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PV=$5,000</a:t>
            </a:r>
            <a:endParaRPr sz="1500" b="1" i="0" u="none" strike="noStrike" cap="none">
              <a:solidFill>
                <a:schemeClr val="dk1"/>
              </a:solidFill>
              <a:latin typeface="Calibri"/>
              <a:ea typeface="Calibri"/>
              <a:cs typeface="Calibri"/>
              <a:sym typeface="Calibri"/>
            </a:endParaRPr>
          </a:p>
        </p:txBody>
      </p:sp>
      <p:sp>
        <p:nvSpPr>
          <p:cNvPr id="225" name="Google Shape;225;p6"/>
          <p:cNvSpPr txBox="1"/>
          <p:nvPr/>
        </p:nvSpPr>
        <p:spPr>
          <a:xfrm>
            <a:off x="7144005" y="2357273"/>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FV=?</a:t>
            </a:r>
            <a:endParaRPr sz="1500" b="1" i="0" u="none" strike="noStrike" cap="none">
              <a:solidFill>
                <a:schemeClr val="dk1"/>
              </a:solidFill>
              <a:latin typeface="Calibri"/>
              <a:ea typeface="Calibri"/>
              <a:cs typeface="Calibri"/>
              <a:sym typeface="Calibri"/>
            </a:endParaRPr>
          </a:p>
        </p:txBody>
      </p:sp>
      <p:cxnSp>
        <p:nvCxnSpPr>
          <p:cNvPr id="226" name="Google Shape;226;p6"/>
          <p:cNvCxnSpPr/>
          <p:nvPr/>
        </p:nvCxnSpPr>
        <p:spPr>
          <a:xfrm>
            <a:off x="1982006" y="2137490"/>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27" name="Google Shape;227;p6"/>
          <p:cNvCxnSpPr/>
          <p:nvPr/>
        </p:nvCxnSpPr>
        <p:spPr>
          <a:xfrm>
            <a:off x="3478142" y="2178434"/>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28" name="Google Shape;228;p6"/>
          <p:cNvCxnSpPr/>
          <p:nvPr/>
        </p:nvCxnSpPr>
        <p:spPr>
          <a:xfrm>
            <a:off x="4767855" y="2139655"/>
            <a:ext cx="0" cy="182198"/>
          </a:xfrm>
          <a:prstGeom prst="straightConnector1">
            <a:avLst/>
          </a:prstGeom>
          <a:noFill/>
          <a:ln w="9525" cap="flat" cmpd="sng">
            <a:solidFill>
              <a:schemeClr val="accent1"/>
            </a:solidFill>
            <a:prstDash val="solid"/>
            <a:miter lim="800000"/>
            <a:headEnd type="none" w="sm" len="sm"/>
            <a:tailEnd type="none" w="sm" len="sm"/>
          </a:ln>
        </p:spPr>
      </p:cxnSp>
      <p:cxnSp>
        <p:nvCxnSpPr>
          <p:cNvPr id="229" name="Google Shape;229;p6"/>
          <p:cNvCxnSpPr/>
          <p:nvPr/>
        </p:nvCxnSpPr>
        <p:spPr>
          <a:xfrm>
            <a:off x="6133522" y="2109832"/>
            <a:ext cx="0" cy="182198"/>
          </a:xfrm>
          <a:prstGeom prst="straightConnector1">
            <a:avLst/>
          </a:prstGeom>
          <a:noFill/>
          <a:ln w="9525" cap="flat" cmpd="sng">
            <a:solidFill>
              <a:schemeClr val="accent1"/>
            </a:solidFill>
            <a:prstDash val="solid"/>
            <a:miter lim="800000"/>
            <a:headEnd type="none" w="sm" len="sm"/>
            <a:tailEnd type="none" w="sm" len="sm"/>
          </a:ln>
        </p:spPr>
      </p:cxnSp>
      <p:sp>
        <p:nvSpPr>
          <p:cNvPr id="230" name="Google Shape;230;p6"/>
          <p:cNvSpPr txBox="1"/>
          <p:nvPr/>
        </p:nvSpPr>
        <p:spPr>
          <a:xfrm>
            <a:off x="2569441" y="1851229"/>
            <a:ext cx="463623" cy="300082"/>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7%</a:t>
            </a:r>
            <a:endParaRPr sz="1500" b="1" i="0" u="none" strike="noStrike" cap="none">
              <a:solidFill>
                <a:schemeClr val="dk1"/>
              </a:solidFill>
              <a:latin typeface="Calibri"/>
              <a:ea typeface="Calibri"/>
              <a:cs typeface="Calibri"/>
              <a:sym typeface="Calibri"/>
            </a:endParaRPr>
          </a:p>
        </p:txBody>
      </p:sp>
      <p:sp>
        <p:nvSpPr>
          <p:cNvPr id="231" name="Google Shape;231;p6"/>
          <p:cNvSpPr txBox="1"/>
          <p:nvPr/>
        </p:nvSpPr>
        <p:spPr>
          <a:xfrm>
            <a:off x="7308210" y="1787934"/>
            <a:ext cx="1139781"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7"/>
          <p:cNvSpPr txBox="1"/>
          <p:nvPr/>
        </p:nvSpPr>
        <p:spPr>
          <a:xfrm>
            <a:off x="1746229" y="607540"/>
            <a:ext cx="621041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Future value</a:t>
            </a:r>
            <a:endParaRPr sz="2400" b="0" i="0" u="none" strike="noStrike" cap="none">
              <a:solidFill>
                <a:srgbClr val="0070C0"/>
              </a:solidFill>
              <a:latin typeface="Poppins"/>
              <a:ea typeface="Poppins"/>
              <a:cs typeface="Poppins"/>
              <a:sym typeface="Poppins"/>
            </a:endParaRPr>
          </a:p>
        </p:txBody>
      </p:sp>
      <p:sp>
        <p:nvSpPr>
          <p:cNvPr id="237" name="Google Shape;237;p7"/>
          <p:cNvSpPr txBox="1"/>
          <p:nvPr/>
        </p:nvSpPr>
        <p:spPr>
          <a:xfrm>
            <a:off x="738686" y="3183339"/>
            <a:ext cx="7808142" cy="1514902"/>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Poppins"/>
                <a:ea typeface="Poppins"/>
                <a:cs typeface="Poppins"/>
                <a:sym typeface="Poppins"/>
              </a:rPr>
              <a:t>The amount to which a cash flow or series of cash flows will grow over a given period of time when compounded at a given interest rate.</a:t>
            </a:r>
            <a:endParaRPr sz="1800" b="0" i="0" u="none" strike="noStrike" cap="none">
              <a:solidFill>
                <a:schemeClr val="dk1"/>
              </a:solidFill>
              <a:latin typeface="Poppins"/>
              <a:ea typeface="Poppins"/>
              <a:cs typeface="Poppins"/>
              <a:sym typeface="Poppins"/>
            </a:endParaRPr>
          </a:p>
        </p:txBody>
      </p:sp>
      <p:sp>
        <p:nvSpPr>
          <p:cNvPr id="238" name="Google Shape;238;p7"/>
          <p:cNvSpPr txBox="1"/>
          <p:nvPr/>
        </p:nvSpPr>
        <p:spPr>
          <a:xfrm>
            <a:off x="738686" y="1547315"/>
            <a:ext cx="7808142" cy="1514902"/>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Poppins"/>
                <a:ea typeface="Poppins"/>
                <a:cs typeface="Poppins"/>
                <a:sym typeface="Poppins"/>
              </a:rPr>
              <a:t>A dollar in hand today is worth more than a dollar to be received in the future because if you had money now , you could invest, earn interest and end up with more than one dollar in the future. </a:t>
            </a:r>
            <a:endParaRPr sz="1800" b="0" i="0" u="none" strike="noStrike" cap="none">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8"/>
          <p:cNvSpPr txBox="1"/>
          <p:nvPr/>
        </p:nvSpPr>
        <p:spPr>
          <a:xfrm>
            <a:off x="1909836" y="318998"/>
            <a:ext cx="621041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Future value</a:t>
            </a:r>
            <a:endParaRPr sz="2400" b="0" i="0" u="none" strike="noStrike" cap="none">
              <a:solidFill>
                <a:srgbClr val="0070C0"/>
              </a:solidFill>
              <a:latin typeface="Poppins"/>
              <a:ea typeface="Poppins"/>
              <a:cs typeface="Poppins"/>
              <a:sym typeface="Poppins"/>
            </a:endParaRPr>
          </a:p>
        </p:txBody>
      </p:sp>
      <p:sp>
        <p:nvSpPr>
          <p:cNvPr id="244" name="Google Shape;244;p8"/>
          <p:cNvSpPr txBox="1"/>
          <p:nvPr/>
        </p:nvSpPr>
        <p:spPr>
          <a:xfrm>
            <a:off x="546667" y="1188567"/>
            <a:ext cx="8061372" cy="3263504"/>
          </a:xfrm>
          <a:prstGeom prst="rect">
            <a:avLst/>
          </a:prstGeom>
          <a:noFill/>
          <a:ln>
            <a:noFill/>
          </a:ln>
        </p:spPr>
        <p:txBody>
          <a:bodyPr spcFirstLastPara="1" wrap="square" lIns="68575" tIns="34275" rIns="68575" bIns="34275" anchor="t" anchorCtr="0">
            <a:noAutofit/>
          </a:bodyPr>
          <a:lstStyle/>
          <a:p>
            <a:pPr marL="342900" marR="0" lvl="0" indent="-342900" algn="l" rtl="0">
              <a:lnSpc>
                <a:spcPct val="100000"/>
              </a:lnSpc>
              <a:spcBef>
                <a:spcPts val="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Suppose, you plan to deposit $100 in a bank that pays a guaranteed 6% interest each year. How much you would have at the end of year 3?</a:t>
            </a:r>
            <a:endParaRPr sz="2100" b="0" i="0" u="none" strike="noStrike" cap="none">
              <a:solidFill>
                <a:schemeClr val="dk1"/>
              </a:solidFill>
              <a:latin typeface="Calibri"/>
              <a:ea typeface="Calibri"/>
              <a:cs typeface="Calibri"/>
              <a:sym typeface="Calibri"/>
            </a:endParaRPr>
          </a:p>
        </p:txBody>
      </p:sp>
      <p:cxnSp>
        <p:nvCxnSpPr>
          <p:cNvPr id="245" name="Google Shape;245;p8"/>
          <p:cNvCxnSpPr/>
          <p:nvPr/>
        </p:nvCxnSpPr>
        <p:spPr>
          <a:xfrm>
            <a:off x="3060461" y="2936384"/>
            <a:ext cx="4163096" cy="0"/>
          </a:xfrm>
          <a:prstGeom prst="straightConnector1">
            <a:avLst/>
          </a:prstGeom>
          <a:noFill/>
          <a:ln w="9525" cap="flat" cmpd="sng">
            <a:solidFill>
              <a:srgbClr val="0C0C0C"/>
            </a:solidFill>
            <a:prstDash val="solid"/>
            <a:miter lim="800000"/>
            <a:headEnd type="none" w="sm" len="sm"/>
            <a:tailEnd type="none" w="sm" len="sm"/>
          </a:ln>
        </p:spPr>
      </p:cxnSp>
      <p:sp>
        <p:nvSpPr>
          <p:cNvPr id="246" name="Google Shape;246;p8"/>
          <p:cNvSpPr txBox="1"/>
          <p:nvPr/>
        </p:nvSpPr>
        <p:spPr>
          <a:xfrm>
            <a:off x="2118694" y="2543321"/>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Year</a:t>
            </a:r>
            <a:endParaRPr sz="1800" b="1" i="0" u="none" strike="noStrike" cap="none">
              <a:solidFill>
                <a:schemeClr val="dk1"/>
              </a:solidFill>
              <a:latin typeface="Calibri"/>
              <a:ea typeface="Calibri"/>
              <a:cs typeface="Calibri"/>
              <a:sym typeface="Calibri"/>
            </a:endParaRPr>
          </a:p>
        </p:txBody>
      </p:sp>
      <p:sp>
        <p:nvSpPr>
          <p:cNvPr id="247" name="Google Shape;247;p8"/>
          <p:cNvSpPr txBox="1"/>
          <p:nvPr/>
        </p:nvSpPr>
        <p:spPr>
          <a:xfrm>
            <a:off x="3060461" y="2520885"/>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p:txBody>
      </p:sp>
      <p:sp>
        <p:nvSpPr>
          <p:cNvPr id="248" name="Google Shape;248;p8"/>
          <p:cNvSpPr txBox="1"/>
          <p:nvPr/>
        </p:nvSpPr>
        <p:spPr>
          <a:xfrm>
            <a:off x="4490017" y="2520885"/>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249" name="Google Shape;249;p8"/>
          <p:cNvSpPr txBox="1"/>
          <p:nvPr/>
        </p:nvSpPr>
        <p:spPr>
          <a:xfrm>
            <a:off x="6980469" y="2520885"/>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250" name="Google Shape;250;p8"/>
          <p:cNvSpPr txBox="1"/>
          <p:nvPr/>
        </p:nvSpPr>
        <p:spPr>
          <a:xfrm>
            <a:off x="5735243" y="2520885"/>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2</a:t>
            </a:r>
            <a:endParaRPr sz="1800" b="0" i="0" u="none" strike="noStrike" cap="none">
              <a:solidFill>
                <a:schemeClr val="dk1"/>
              </a:solidFill>
              <a:latin typeface="Calibri"/>
              <a:ea typeface="Calibri"/>
              <a:cs typeface="Calibri"/>
              <a:sym typeface="Calibri"/>
            </a:endParaRPr>
          </a:p>
        </p:txBody>
      </p:sp>
      <p:sp>
        <p:nvSpPr>
          <p:cNvPr id="251" name="Google Shape;251;p8"/>
          <p:cNvSpPr txBox="1"/>
          <p:nvPr/>
        </p:nvSpPr>
        <p:spPr>
          <a:xfrm>
            <a:off x="1273921" y="2857705"/>
            <a:ext cx="2641779" cy="53091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Amount at the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beginning of period </a:t>
            </a:r>
            <a:endParaRPr sz="1500" b="0" i="0" u="none" strike="noStrike" cap="none">
              <a:solidFill>
                <a:schemeClr val="dk1"/>
              </a:solidFill>
              <a:latin typeface="Calibri"/>
              <a:ea typeface="Calibri"/>
              <a:cs typeface="Calibri"/>
              <a:sym typeface="Calibri"/>
            </a:endParaRPr>
          </a:p>
        </p:txBody>
      </p:sp>
      <p:sp>
        <p:nvSpPr>
          <p:cNvPr id="252" name="Google Shape;252;p8"/>
          <p:cNvSpPr txBox="1"/>
          <p:nvPr/>
        </p:nvSpPr>
        <p:spPr>
          <a:xfrm>
            <a:off x="2936303" y="3052396"/>
            <a:ext cx="1331553"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$100</a:t>
            </a:r>
            <a:endParaRPr sz="1500" b="1" i="0" u="none" strike="noStrike" cap="none">
              <a:solidFill>
                <a:schemeClr val="dk1"/>
              </a:solidFill>
              <a:latin typeface="Calibri"/>
              <a:ea typeface="Calibri"/>
              <a:cs typeface="Calibri"/>
              <a:sym typeface="Calibri"/>
            </a:endParaRPr>
          </a:p>
        </p:txBody>
      </p:sp>
      <p:sp>
        <p:nvSpPr>
          <p:cNvPr id="253" name="Google Shape;253;p8"/>
          <p:cNvSpPr txBox="1"/>
          <p:nvPr/>
        </p:nvSpPr>
        <p:spPr>
          <a:xfrm>
            <a:off x="4308104" y="3052396"/>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$106</a:t>
            </a:r>
            <a:endParaRPr sz="1500" b="1" i="0" u="none" strike="noStrike" cap="none">
              <a:solidFill>
                <a:schemeClr val="dk1"/>
              </a:solidFill>
              <a:latin typeface="Calibri"/>
              <a:ea typeface="Calibri"/>
              <a:cs typeface="Calibri"/>
              <a:sym typeface="Calibri"/>
            </a:endParaRPr>
          </a:p>
        </p:txBody>
      </p:sp>
      <p:sp>
        <p:nvSpPr>
          <p:cNvPr id="254" name="Google Shape;254;p8"/>
          <p:cNvSpPr txBox="1"/>
          <p:nvPr/>
        </p:nvSpPr>
        <p:spPr>
          <a:xfrm>
            <a:off x="5608467" y="3047824"/>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$112.36</a:t>
            </a:r>
            <a:endParaRPr sz="1500" b="1" i="0" u="none" strike="noStrike" cap="none">
              <a:solidFill>
                <a:schemeClr val="dk1"/>
              </a:solidFill>
              <a:latin typeface="Calibri"/>
              <a:ea typeface="Calibri"/>
              <a:cs typeface="Calibri"/>
              <a:sym typeface="Calibri"/>
            </a:endParaRPr>
          </a:p>
        </p:txBody>
      </p:sp>
      <p:sp>
        <p:nvSpPr>
          <p:cNvPr id="255" name="Google Shape;255;p8"/>
          <p:cNvSpPr txBox="1"/>
          <p:nvPr/>
        </p:nvSpPr>
        <p:spPr>
          <a:xfrm>
            <a:off x="6915675" y="3023940"/>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$119.10</a:t>
            </a:r>
            <a:endParaRPr sz="1500" b="1" i="0" u="none" strike="noStrike" cap="none">
              <a:solidFill>
                <a:schemeClr val="dk1"/>
              </a:solidFill>
              <a:latin typeface="Calibri"/>
              <a:ea typeface="Calibri"/>
              <a:cs typeface="Calibri"/>
              <a:sym typeface="Calibri"/>
            </a:endParaRPr>
          </a:p>
        </p:txBody>
      </p:sp>
      <p:cxnSp>
        <p:nvCxnSpPr>
          <p:cNvPr id="256" name="Google Shape;256;p8"/>
          <p:cNvCxnSpPr/>
          <p:nvPr/>
        </p:nvCxnSpPr>
        <p:spPr>
          <a:xfrm>
            <a:off x="3548249" y="3197865"/>
            <a:ext cx="487787"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257" name="Google Shape;257;p8"/>
          <p:cNvCxnSpPr/>
          <p:nvPr/>
        </p:nvCxnSpPr>
        <p:spPr>
          <a:xfrm>
            <a:off x="4963317" y="3212677"/>
            <a:ext cx="487787"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258" name="Google Shape;258;p8"/>
          <p:cNvCxnSpPr/>
          <p:nvPr/>
        </p:nvCxnSpPr>
        <p:spPr>
          <a:xfrm>
            <a:off x="6420238" y="3211066"/>
            <a:ext cx="487787" cy="0"/>
          </a:xfrm>
          <a:prstGeom prst="straightConnector1">
            <a:avLst/>
          </a:prstGeom>
          <a:noFill/>
          <a:ln w="9525" cap="flat" cmpd="sng">
            <a:solidFill>
              <a:schemeClr val="accent1"/>
            </a:solidFill>
            <a:prstDash val="solid"/>
            <a:miter lim="800000"/>
            <a:headEnd type="none" w="sm" len="sm"/>
            <a:tailEnd type="triangle" w="med" len="med"/>
          </a:ln>
        </p:spPr>
      </p:cxnSp>
      <p:sp>
        <p:nvSpPr>
          <p:cNvPr id="259" name="Google Shape;259;p8"/>
          <p:cNvSpPr txBox="1"/>
          <p:nvPr/>
        </p:nvSpPr>
        <p:spPr>
          <a:xfrm>
            <a:off x="3792143" y="3408669"/>
            <a:ext cx="1535000" cy="62324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106=100 + 100*.06</a:t>
            </a:r>
            <a:endParaRPr sz="1800" b="0" i="0" u="none" strike="noStrike" cap="none">
              <a:solidFill>
                <a:schemeClr val="dk1"/>
              </a:solidFill>
              <a:latin typeface="Calibri"/>
              <a:ea typeface="Calibri"/>
              <a:cs typeface="Calibri"/>
              <a:sym typeface="Calibri"/>
            </a:endParaRPr>
          </a:p>
        </p:txBody>
      </p:sp>
      <p:sp>
        <p:nvSpPr>
          <p:cNvPr id="260" name="Google Shape;260;p8"/>
          <p:cNvSpPr txBox="1"/>
          <p:nvPr/>
        </p:nvSpPr>
        <p:spPr>
          <a:xfrm>
            <a:off x="5223312" y="3791008"/>
            <a:ext cx="1692364" cy="62324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112.36=106 + 106*.06</a:t>
            </a:r>
            <a:endParaRPr sz="1800" b="0" i="0" u="none" strike="noStrike" cap="none">
              <a:solidFill>
                <a:schemeClr val="dk1"/>
              </a:solidFill>
              <a:latin typeface="Calibri"/>
              <a:ea typeface="Calibri"/>
              <a:cs typeface="Calibri"/>
              <a:sym typeface="Calibri"/>
            </a:endParaRPr>
          </a:p>
        </p:txBody>
      </p:sp>
      <p:sp>
        <p:nvSpPr>
          <p:cNvPr id="261" name="Google Shape;261;p8"/>
          <p:cNvSpPr txBox="1"/>
          <p:nvPr/>
        </p:nvSpPr>
        <p:spPr>
          <a:xfrm>
            <a:off x="6715024" y="4277015"/>
            <a:ext cx="2228325" cy="62324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119.10=112.36 + 112.36*.06</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9"/>
          <p:cNvSpPr txBox="1"/>
          <p:nvPr/>
        </p:nvSpPr>
        <p:spPr>
          <a:xfrm>
            <a:off x="457200" y="498777"/>
            <a:ext cx="7886700" cy="3263504"/>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Poppins"/>
                <a:ea typeface="Poppins"/>
                <a:cs typeface="Poppins"/>
                <a:sym typeface="Poppins"/>
              </a:rPr>
              <a:t>We can use formula to calculate future values. </a:t>
            </a:r>
            <a:endParaRPr sz="2400" b="0" i="0" u="none" strike="noStrike" cap="none">
              <a:solidFill>
                <a:schemeClr val="dk1"/>
              </a:solidFill>
              <a:latin typeface="Poppins"/>
              <a:ea typeface="Poppins"/>
              <a:cs typeface="Poppins"/>
              <a:sym typeface="Poppins"/>
            </a:endParaRPr>
          </a:p>
          <a:p>
            <a:pPr marL="0" marR="0" lvl="0" indent="0" algn="just"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Poppins"/>
              <a:ea typeface="Poppins"/>
              <a:cs typeface="Poppins"/>
              <a:sym typeface="Poppins"/>
            </a:endParaRPr>
          </a:p>
          <a:p>
            <a:pPr marL="0" marR="0" lvl="0" indent="0" algn="just"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Poppins"/>
                <a:ea typeface="Poppins"/>
                <a:cs typeface="Poppins"/>
                <a:sym typeface="Poppins"/>
              </a:rPr>
              <a:t>FV = PV (1+r</a:t>
            </a:r>
            <a:r>
              <a:rPr lang="en-US" sz="1600" b="0" i="0" u="none" strike="noStrike" cap="none">
                <a:solidFill>
                  <a:schemeClr val="dk1"/>
                </a:solidFill>
                <a:latin typeface="Poppins"/>
                <a:ea typeface="Poppins"/>
                <a:cs typeface="Poppins"/>
                <a:sym typeface="Poppins"/>
              </a:rPr>
              <a:t>)</a:t>
            </a:r>
            <a:r>
              <a:rPr lang="en-US" sz="1600" b="0" i="0" u="none" strike="noStrike" cap="none" baseline="30000">
                <a:solidFill>
                  <a:schemeClr val="dk1"/>
                </a:solidFill>
                <a:latin typeface="Poppins"/>
                <a:ea typeface="Poppins"/>
                <a:cs typeface="Poppins"/>
                <a:sym typeface="Poppins"/>
              </a:rPr>
              <a:t>n</a:t>
            </a:r>
            <a:endParaRPr sz="1600" b="0" i="0" u="none" strike="noStrike" cap="none" baseline="30000">
              <a:solidFill>
                <a:schemeClr val="dk1"/>
              </a:solidFill>
              <a:latin typeface="Poppins"/>
              <a:ea typeface="Poppins"/>
              <a:cs typeface="Poppins"/>
              <a:sym typeface="Poppins"/>
            </a:endParaRPr>
          </a:p>
          <a:p>
            <a:pPr marL="0" marR="0" lvl="0" indent="0" algn="just"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Poppins"/>
              <a:ea typeface="Poppins"/>
              <a:cs typeface="Poppins"/>
              <a:sym typeface="Poppins"/>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FV = Future value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PV = Present value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r = Interest rate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n = Period</a:t>
            </a:r>
            <a:endParaRPr sz="2800" b="0" i="0" u="none" strike="noStrike" cap="none">
              <a:solidFill>
                <a:schemeClr val="dk1"/>
              </a:solidFill>
              <a:latin typeface="Calibri"/>
              <a:ea typeface="Calibri"/>
              <a:cs typeface="Calibri"/>
              <a:sym typeface="Calibri"/>
            </a:endParaRPr>
          </a:p>
          <a:p>
            <a:pPr marL="342900" marR="0" lvl="1" indent="0" algn="l" rtl="0">
              <a:lnSpc>
                <a:spcPct val="100000"/>
              </a:lnSpc>
              <a:spcBef>
                <a:spcPts val="560"/>
              </a:spcBef>
              <a:spcAft>
                <a:spcPts val="0"/>
              </a:spcAft>
              <a:buClr>
                <a:schemeClr val="dk1"/>
              </a:buClr>
              <a:buSzPts val="2800"/>
              <a:buFont typeface="Arial"/>
              <a:buNone/>
            </a:pPr>
            <a:r>
              <a:rPr lang="en-US" sz="2800" b="0" i="0" u="none" strike="noStrike" cap="none">
                <a:solidFill>
                  <a:schemeClr val="dk1"/>
                </a:solidFill>
                <a:latin typeface="Calibri"/>
                <a:ea typeface="Calibri"/>
                <a:cs typeface="Calibri"/>
                <a:sym typeface="Calibri"/>
              </a:rPr>
              <a:t>So FV=$100 (1+.06)</a:t>
            </a:r>
            <a:r>
              <a:rPr lang="en-US" sz="2800" b="0" i="0" u="none" strike="noStrike" cap="none" baseline="30000">
                <a:solidFill>
                  <a:schemeClr val="dk1"/>
                </a:solidFill>
                <a:latin typeface="Calibri"/>
                <a:ea typeface="Calibri"/>
                <a:cs typeface="Calibri"/>
                <a:sym typeface="Calibri"/>
              </a:rPr>
              <a:t>3</a:t>
            </a:r>
            <a:r>
              <a:rPr lang="en-US" sz="2800" b="0" i="0" u="none" strike="noStrike" cap="none">
                <a:solidFill>
                  <a:schemeClr val="dk1"/>
                </a:solidFill>
                <a:latin typeface="Calibri"/>
                <a:ea typeface="Calibri"/>
                <a:cs typeface="Calibri"/>
                <a:sym typeface="Calibri"/>
              </a:rPr>
              <a:t> = $119.10</a:t>
            </a:r>
            <a:endParaRPr sz="2800" b="0" i="0" u="none" strike="noStrike" cap="none">
              <a:solidFill>
                <a:schemeClr val="dk1"/>
              </a:solidFill>
              <a:latin typeface="Calibri"/>
              <a:ea typeface="Calibri"/>
              <a:cs typeface="Calibri"/>
              <a:sym typeface="Calibri"/>
            </a:endParaRPr>
          </a:p>
          <a:p>
            <a:pPr marL="742950" marR="0" lvl="1" indent="-10795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742950" marR="0" lvl="1" indent="-10795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267" name="Google Shape;267;p9"/>
          <p:cNvSpPr txBox="1"/>
          <p:nvPr/>
        </p:nvSpPr>
        <p:spPr>
          <a:xfrm>
            <a:off x="2411673" y="144989"/>
            <a:ext cx="621041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Future value</a:t>
            </a:r>
            <a:endParaRPr sz="2400" b="0" i="0" u="none" strike="noStrike" cap="none">
              <a:solidFill>
                <a:srgbClr val="0070C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0"/>
          <p:cNvSpPr txBox="1"/>
          <p:nvPr/>
        </p:nvSpPr>
        <p:spPr>
          <a:xfrm>
            <a:off x="638033" y="895351"/>
            <a:ext cx="7210568" cy="2590800"/>
          </a:xfrm>
          <a:prstGeom prst="rect">
            <a:avLst/>
          </a:prstGeom>
          <a:noFill/>
          <a:ln>
            <a:noFill/>
          </a:ln>
        </p:spPr>
        <p:txBody>
          <a:bodyPr spcFirstLastPara="1" wrap="square" lIns="68575" tIns="34275" rIns="68575" bIns="34275" anchor="t" anchorCtr="0">
            <a:noAutofit/>
          </a:bodyPr>
          <a:lstStyle/>
          <a:p>
            <a:pPr marL="342900" marR="0" lvl="0" indent="-209550" algn="l" rtl="0">
              <a:lnSpc>
                <a:spcPct val="100000"/>
              </a:lnSpc>
              <a:spcBef>
                <a:spcPts val="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Assume that you invest $2,500 today. How much will this amount be worth in five years if the interest rate is 4%? How would your answer change if the interest rate is 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rgbClr val="000000"/>
              </a:buClr>
              <a:buSzPts val="3200"/>
              <a:buFont typeface="Arial"/>
              <a:buNone/>
            </a:pPr>
            <a:r>
              <a:rPr lang="en-US" sz="3200" b="0" i="0" u="none" strike="noStrike" cap="none">
                <a:solidFill>
                  <a:srgbClr val="000000"/>
                </a:solidFill>
                <a:latin typeface="Calibri"/>
                <a:ea typeface="Calibri"/>
                <a:cs typeface="Calibri"/>
                <a:sym typeface="Calibri"/>
              </a:rPr>
              <a:t>Calculate using the formula.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a:p>
            <a:pPr marL="0" marR="0" lvl="0" indent="0" algn="l" rtl="0">
              <a:lnSpc>
                <a:spcPct val="100000"/>
              </a:lnSpc>
              <a:spcBef>
                <a:spcPts val="36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p:txBody>
      </p:sp>
      <p:sp>
        <p:nvSpPr>
          <p:cNvPr id="273" name="Google Shape;273;p10"/>
          <p:cNvSpPr txBox="1"/>
          <p:nvPr/>
        </p:nvSpPr>
        <p:spPr>
          <a:xfrm>
            <a:off x="3944031" y="413059"/>
            <a:ext cx="459264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Practice </a:t>
            </a:r>
            <a:endParaRPr sz="2400" b="0" i="0" u="none" strike="noStrike" cap="none">
              <a:solidFill>
                <a:srgbClr val="0070C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1"/>
          <p:cNvSpPr/>
          <p:nvPr/>
        </p:nvSpPr>
        <p:spPr>
          <a:xfrm>
            <a:off x="1219200" y="1047750"/>
            <a:ext cx="5200792" cy="22570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FV = PV (1+r</a:t>
            </a:r>
            <a:r>
              <a:rPr lang="en-US" sz="1600" b="1" i="0" u="none" strike="noStrike" cap="none">
                <a:solidFill>
                  <a:schemeClr val="dk1"/>
                </a:solidFill>
                <a:latin typeface="Calibri"/>
                <a:ea typeface="Calibri"/>
                <a:cs typeface="Calibri"/>
                <a:sym typeface="Calibri"/>
              </a:rPr>
              <a:t>)</a:t>
            </a:r>
            <a:r>
              <a:rPr lang="en-US" sz="1600" b="1" i="0" u="none" strike="noStrike" cap="none" baseline="30000">
                <a:solidFill>
                  <a:schemeClr val="dk1"/>
                </a:solidFill>
                <a:latin typeface="Calibri"/>
                <a:ea typeface="Calibri"/>
                <a:cs typeface="Calibri"/>
                <a:sym typeface="Calibri"/>
              </a:rPr>
              <a:t>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baseline="30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baseline="30000">
                <a:solidFill>
                  <a:schemeClr val="dk1"/>
                </a:solidFill>
                <a:latin typeface="Calibri"/>
                <a:ea typeface="Calibri"/>
                <a:cs typeface="Calibri"/>
                <a:sym typeface="Calibri"/>
              </a:rPr>
              <a:t> </a:t>
            </a:r>
            <a:r>
              <a:rPr lang="en-US" sz="1600" b="1" i="0" u="none" strike="noStrike" cap="none">
                <a:solidFill>
                  <a:schemeClr val="dk1"/>
                </a:solidFill>
                <a:latin typeface="Calibri"/>
                <a:ea typeface="Calibri"/>
                <a:cs typeface="Calibri"/>
                <a:sym typeface="Calibri"/>
              </a:rPr>
              <a:t>      =  2,500 (1+ 0.04)^5    = $ 3,041.63  (Answer)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FV = PV (1+r</a:t>
            </a:r>
            <a:r>
              <a:rPr lang="en-US" sz="1400" b="1" i="0" u="none" strike="noStrike" cap="none">
                <a:solidFill>
                  <a:schemeClr val="dk1"/>
                </a:solidFill>
                <a:latin typeface="Calibri"/>
                <a:ea typeface="Calibri"/>
                <a:cs typeface="Calibri"/>
                <a:sym typeface="Calibri"/>
              </a:rPr>
              <a:t>)</a:t>
            </a:r>
            <a:r>
              <a:rPr lang="en-US" sz="1400" b="1" i="0" u="none" strike="noStrike" cap="none" baseline="30000">
                <a:solidFill>
                  <a:schemeClr val="dk1"/>
                </a:solidFill>
                <a:latin typeface="Calibri"/>
                <a:ea typeface="Calibri"/>
                <a:cs typeface="Calibri"/>
                <a:sym typeface="Calibri"/>
              </a:rPr>
              <a:t>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        = 2,500 (1+0.06)^5 =  $ 3,345.56   (Answer)</a:t>
            </a:r>
            <a:endParaRPr sz="16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 </a:t>
            </a:r>
            <a:endParaRPr sz="1600" b="1" i="0" u="none" strike="noStrike" cap="none" baseline="30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2"/>
          <p:cNvSpPr txBox="1"/>
          <p:nvPr/>
        </p:nvSpPr>
        <p:spPr>
          <a:xfrm>
            <a:off x="513761" y="969799"/>
            <a:ext cx="8454788" cy="515186"/>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The process of finding present value is called </a:t>
            </a:r>
            <a:r>
              <a:rPr lang="en-US" sz="2100" b="0" i="0" u="none" strike="noStrike" cap="none">
                <a:solidFill>
                  <a:srgbClr val="FF0000"/>
                </a:solidFill>
                <a:latin typeface="Calibri"/>
                <a:ea typeface="Calibri"/>
                <a:cs typeface="Calibri"/>
                <a:sym typeface="Calibri"/>
              </a:rPr>
              <a:t>discounting.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p:txBody>
      </p:sp>
      <p:sp>
        <p:nvSpPr>
          <p:cNvPr id="284" name="Google Shape;284;p12"/>
          <p:cNvSpPr txBox="1"/>
          <p:nvPr/>
        </p:nvSpPr>
        <p:spPr>
          <a:xfrm>
            <a:off x="3783973" y="341674"/>
            <a:ext cx="459264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Present value</a:t>
            </a:r>
            <a:endParaRPr sz="2400" b="0" i="0" u="none" strike="noStrike" cap="none">
              <a:solidFill>
                <a:srgbClr val="0070C0"/>
              </a:solidFill>
              <a:latin typeface="Poppins"/>
              <a:ea typeface="Poppins"/>
              <a:cs typeface="Poppins"/>
              <a:sym typeface="Poppins"/>
            </a:endParaRPr>
          </a:p>
        </p:txBody>
      </p:sp>
      <p:sp>
        <p:nvSpPr>
          <p:cNvPr id="285" name="Google Shape;285;p12"/>
          <p:cNvSpPr txBo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cxnSp>
        <p:nvCxnSpPr>
          <p:cNvPr id="286" name="Google Shape;286;p12"/>
          <p:cNvCxnSpPr/>
          <p:nvPr/>
        </p:nvCxnSpPr>
        <p:spPr>
          <a:xfrm>
            <a:off x="2741709" y="2709507"/>
            <a:ext cx="4163096" cy="0"/>
          </a:xfrm>
          <a:prstGeom prst="straightConnector1">
            <a:avLst/>
          </a:prstGeom>
          <a:noFill/>
          <a:ln w="9525" cap="flat" cmpd="sng">
            <a:solidFill>
              <a:srgbClr val="0C0C0C"/>
            </a:solidFill>
            <a:prstDash val="solid"/>
            <a:miter lim="800000"/>
            <a:headEnd type="none" w="sm" len="sm"/>
            <a:tailEnd type="none" w="sm" len="sm"/>
          </a:ln>
        </p:spPr>
      </p:cxnSp>
      <p:sp>
        <p:nvSpPr>
          <p:cNvPr id="287" name="Google Shape;287;p12"/>
          <p:cNvSpPr txBox="1"/>
          <p:nvPr/>
        </p:nvSpPr>
        <p:spPr>
          <a:xfrm>
            <a:off x="1799942" y="2316444"/>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Year</a:t>
            </a:r>
            <a:endParaRPr sz="1800" b="1" i="0" u="none" strike="noStrike" cap="none">
              <a:solidFill>
                <a:schemeClr val="dk1"/>
              </a:solidFill>
              <a:latin typeface="Calibri"/>
              <a:ea typeface="Calibri"/>
              <a:cs typeface="Calibri"/>
              <a:sym typeface="Calibri"/>
            </a:endParaRPr>
          </a:p>
        </p:txBody>
      </p:sp>
      <p:sp>
        <p:nvSpPr>
          <p:cNvPr id="288" name="Google Shape;288;p12"/>
          <p:cNvSpPr txBox="1"/>
          <p:nvPr/>
        </p:nvSpPr>
        <p:spPr>
          <a:xfrm>
            <a:off x="2741709"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p:txBody>
      </p:sp>
      <p:sp>
        <p:nvSpPr>
          <p:cNvPr id="289" name="Google Shape;289;p12"/>
          <p:cNvSpPr txBox="1"/>
          <p:nvPr/>
        </p:nvSpPr>
        <p:spPr>
          <a:xfrm>
            <a:off x="4171265"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290" name="Google Shape;290;p12"/>
          <p:cNvSpPr txBox="1"/>
          <p:nvPr/>
        </p:nvSpPr>
        <p:spPr>
          <a:xfrm>
            <a:off x="6661717"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291" name="Google Shape;291;p12"/>
          <p:cNvSpPr txBox="1"/>
          <p:nvPr/>
        </p:nvSpPr>
        <p:spPr>
          <a:xfrm>
            <a:off x="5416490"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2</a:t>
            </a:r>
            <a:endParaRPr sz="1800" b="0" i="0" u="none" strike="noStrike" cap="none">
              <a:solidFill>
                <a:schemeClr val="dk1"/>
              </a:solidFill>
              <a:latin typeface="Calibri"/>
              <a:ea typeface="Calibri"/>
              <a:cs typeface="Calibri"/>
              <a:sym typeface="Calibri"/>
            </a:endParaRPr>
          </a:p>
        </p:txBody>
      </p:sp>
      <p:sp>
        <p:nvSpPr>
          <p:cNvPr id="292" name="Google Shape;292;p12"/>
          <p:cNvSpPr txBox="1"/>
          <p:nvPr/>
        </p:nvSpPr>
        <p:spPr>
          <a:xfrm>
            <a:off x="955169" y="2630829"/>
            <a:ext cx="2641779" cy="53091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Amount at the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beginning of period </a:t>
            </a:r>
            <a:endParaRPr sz="1500" b="0" i="0" u="none" strike="noStrike" cap="none">
              <a:solidFill>
                <a:schemeClr val="dk1"/>
              </a:solidFill>
              <a:latin typeface="Calibri"/>
              <a:ea typeface="Calibri"/>
              <a:cs typeface="Calibri"/>
              <a:sym typeface="Calibri"/>
            </a:endParaRPr>
          </a:p>
        </p:txBody>
      </p:sp>
      <p:sp>
        <p:nvSpPr>
          <p:cNvPr id="293" name="Google Shape;293;p12"/>
          <p:cNvSpPr txBox="1"/>
          <p:nvPr/>
        </p:nvSpPr>
        <p:spPr>
          <a:xfrm>
            <a:off x="2617550" y="2825519"/>
            <a:ext cx="1331553"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$100</a:t>
            </a:r>
            <a:endParaRPr sz="1500" b="1" i="0" u="none" strike="noStrike" cap="none">
              <a:solidFill>
                <a:schemeClr val="dk1"/>
              </a:solidFill>
              <a:latin typeface="Calibri"/>
              <a:ea typeface="Calibri"/>
              <a:cs typeface="Calibri"/>
              <a:sym typeface="Calibri"/>
            </a:endParaRPr>
          </a:p>
        </p:txBody>
      </p:sp>
      <p:sp>
        <p:nvSpPr>
          <p:cNvPr id="294" name="Google Shape;294;p12"/>
          <p:cNvSpPr txBox="1"/>
          <p:nvPr/>
        </p:nvSpPr>
        <p:spPr>
          <a:xfrm>
            <a:off x="3989351" y="2825519"/>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$105</a:t>
            </a:r>
            <a:endParaRPr sz="1500" b="1" i="0" u="none" strike="noStrike" cap="none">
              <a:solidFill>
                <a:schemeClr val="dk1"/>
              </a:solidFill>
              <a:latin typeface="Calibri"/>
              <a:ea typeface="Calibri"/>
              <a:cs typeface="Calibri"/>
              <a:sym typeface="Calibri"/>
            </a:endParaRPr>
          </a:p>
        </p:txBody>
      </p:sp>
      <p:sp>
        <p:nvSpPr>
          <p:cNvPr id="295" name="Google Shape;295;p12"/>
          <p:cNvSpPr txBox="1"/>
          <p:nvPr/>
        </p:nvSpPr>
        <p:spPr>
          <a:xfrm>
            <a:off x="5289715" y="2820947"/>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$110.25</a:t>
            </a:r>
            <a:endParaRPr sz="1500" b="1" i="0" u="none" strike="noStrike" cap="none">
              <a:solidFill>
                <a:schemeClr val="dk1"/>
              </a:solidFill>
              <a:latin typeface="Calibri"/>
              <a:ea typeface="Calibri"/>
              <a:cs typeface="Calibri"/>
              <a:sym typeface="Calibri"/>
            </a:endParaRPr>
          </a:p>
        </p:txBody>
      </p:sp>
      <p:sp>
        <p:nvSpPr>
          <p:cNvPr id="296" name="Google Shape;296;p12"/>
          <p:cNvSpPr txBox="1"/>
          <p:nvPr/>
        </p:nvSpPr>
        <p:spPr>
          <a:xfrm>
            <a:off x="6596923" y="2797063"/>
            <a:ext cx="1303986"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$115.7625</a:t>
            </a:r>
            <a:endParaRPr sz="1500" b="1" i="0" u="none" strike="noStrike" cap="none">
              <a:solidFill>
                <a:schemeClr val="dk1"/>
              </a:solidFill>
              <a:latin typeface="Calibri"/>
              <a:ea typeface="Calibri"/>
              <a:cs typeface="Calibri"/>
              <a:sym typeface="Calibri"/>
            </a:endParaRPr>
          </a:p>
        </p:txBody>
      </p:sp>
      <p:sp>
        <p:nvSpPr>
          <p:cNvPr id="297" name="Google Shape;297;p12"/>
          <p:cNvSpPr txBox="1"/>
          <p:nvPr/>
        </p:nvSpPr>
        <p:spPr>
          <a:xfrm>
            <a:off x="2451935" y="4284854"/>
            <a:ext cx="1535000" cy="62324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100 =105/ (1+.05)</a:t>
            </a:r>
            <a:endParaRPr sz="1800" b="0" i="0" u="none" strike="noStrike" cap="none">
              <a:solidFill>
                <a:schemeClr val="dk1"/>
              </a:solidFill>
              <a:latin typeface="Calibri"/>
              <a:ea typeface="Calibri"/>
              <a:cs typeface="Calibri"/>
              <a:sym typeface="Calibri"/>
            </a:endParaRPr>
          </a:p>
        </p:txBody>
      </p:sp>
      <p:sp>
        <p:nvSpPr>
          <p:cNvPr id="298" name="Google Shape;298;p12"/>
          <p:cNvSpPr txBox="1"/>
          <p:nvPr/>
        </p:nvSpPr>
        <p:spPr>
          <a:xfrm>
            <a:off x="3655023" y="3736091"/>
            <a:ext cx="1692364" cy="62324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105 = 110.25/ (1+.05)</a:t>
            </a:r>
            <a:endParaRPr sz="1800" b="0" i="0" u="none" strike="noStrike" cap="none">
              <a:solidFill>
                <a:schemeClr val="dk1"/>
              </a:solidFill>
              <a:latin typeface="Calibri"/>
              <a:ea typeface="Calibri"/>
              <a:cs typeface="Calibri"/>
              <a:sym typeface="Calibri"/>
            </a:endParaRPr>
          </a:p>
        </p:txBody>
      </p:sp>
      <p:sp>
        <p:nvSpPr>
          <p:cNvPr id="299" name="Google Shape;299;p12"/>
          <p:cNvSpPr txBox="1"/>
          <p:nvPr/>
        </p:nvSpPr>
        <p:spPr>
          <a:xfrm>
            <a:off x="4942388" y="3357298"/>
            <a:ext cx="2859110"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110.25=115.7625 / (1+.05)</a:t>
            </a:r>
            <a:endParaRPr sz="1800" b="0" i="0" u="none" strike="noStrike" cap="none">
              <a:solidFill>
                <a:schemeClr val="dk1"/>
              </a:solidFill>
              <a:latin typeface="Calibri"/>
              <a:ea typeface="Calibri"/>
              <a:cs typeface="Calibri"/>
              <a:sym typeface="Calibri"/>
            </a:endParaRPr>
          </a:p>
        </p:txBody>
      </p:sp>
      <p:cxnSp>
        <p:nvCxnSpPr>
          <p:cNvPr id="300" name="Google Shape;300;p12"/>
          <p:cNvCxnSpPr>
            <a:stCxn id="295" idx="3"/>
          </p:cNvCxnSpPr>
          <p:nvPr/>
        </p:nvCxnSpPr>
        <p:spPr>
          <a:xfrm flipH="1">
            <a:off x="6114301" y="2970989"/>
            <a:ext cx="479400" cy="6600"/>
          </a:xfrm>
          <a:prstGeom prst="straightConnector1">
            <a:avLst/>
          </a:prstGeom>
          <a:noFill/>
          <a:ln w="9525" cap="flat" cmpd="sng">
            <a:solidFill>
              <a:schemeClr val="accent1"/>
            </a:solidFill>
            <a:prstDash val="solid"/>
            <a:miter lim="800000"/>
            <a:headEnd type="none" w="sm" len="sm"/>
            <a:tailEnd type="triangle" w="med" len="med"/>
          </a:ln>
        </p:spPr>
      </p:cxnSp>
      <p:cxnSp>
        <p:nvCxnSpPr>
          <p:cNvPr id="301" name="Google Shape;301;p12"/>
          <p:cNvCxnSpPr/>
          <p:nvPr/>
        </p:nvCxnSpPr>
        <p:spPr>
          <a:xfrm flipH="1">
            <a:off x="4661065" y="2977454"/>
            <a:ext cx="479456" cy="6465"/>
          </a:xfrm>
          <a:prstGeom prst="straightConnector1">
            <a:avLst/>
          </a:prstGeom>
          <a:noFill/>
          <a:ln w="9525" cap="flat" cmpd="sng">
            <a:solidFill>
              <a:schemeClr val="accent1"/>
            </a:solidFill>
            <a:prstDash val="solid"/>
            <a:miter lim="800000"/>
            <a:headEnd type="none" w="sm" len="sm"/>
            <a:tailEnd type="triangle" w="med" len="med"/>
          </a:ln>
        </p:spPr>
      </p:cxnSp>
      <p:cxnSp>
        <p:nvCxnSpPr>
          <p:cNvPr id="302" name="Google Shape;302;p12"/>
          <p:cNvCxnSpPr/>
          <p:nvPr/>
        </p:nvCxnSpPr>
        <p:spPr>
          <a:xfrm flipH="1">
            <a:off x="3304517" y="2983919"/>
            <a:ext cx="479456" cy="6465"/>
          </a:xfrm>
          <a:prstGeom prst="straightConnector1">
            <a:avLst/>
          </a:prstGeom>
          <a:noFill/>
          <a:ln w="9525" cap="flat" cmpd="sng">
            <a:solidFill>
              <a:schemeClr val="accent1"/>
            </a:solidFill>
            <a:prstDash val="solid"/>
            <a:miter lim="800000"/>
            <a:headEnd type="none" w="sm" len="sm"/>
            <a:tailEnd type="triangle" w="med" len="med"/>
          </a:ln>
        </p:spPr>
      </p:cxnSp>
      <p:sp>
        <p:nvSpPr>
          <p:cNvPr id="303" name="Google Shape;303;p12"/>
          <p:cNvSpPr txBox="1"/>
          <p:nvPr/>
        </p:nvSpPr>
        <p:spPr>
          <a:xfrm>
            <a:off x="3358409" y="1666639"/>
            <a:ext cx="2850109"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5%  Interest rate</a:t>
            </a: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3"/>
          <p:cNvSpPr txBox="1"/>
          <p:nvPr/>
        </p:nvSpPr>
        <p:spPr>
          <a:xfrm>
            <a:off x="3886331" y="525919"/>
            <a:ext cx="459264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Present value</a:t>
            </a:r>
            <a:endParaRPr sz="2400" b="0" i="0" u="none" strike="noStrike" cap="none">
              <a:solidFill>
                <a:srgbClr val="0070C0"/>
              </a:solidFill>
              <a:latin typeface="Poppins"/>
              <a:ea typeface="Poppins"/>
              <a:cs typeface="Poppins"/>
              <a:sym typeface="Poppins"/>
            </a:endParaRPr>
          </a:p>
        </p:txBody>
      </p:sp>
      <p:sp>
        <p:nvSpPr>
          <p:cNvPr id="309" name="Google Shape;309;p13"/>
          <p:cNvSpPr txBo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2060"/>
              </a:buClr>
              <a:buSzPts val="3200"/>
              <a:buFont typeface="Arial"/>
              <a:buNone/>
            </a:pPr>
            <a:r>
              <a:rPr lang="en-US" sz="3200" b="0" i="0" u="none" strike="noStrike" cap="none">
                <a:solidFill>
                  <a:srgbClr val="002060"/>
                </a:solidFill>
                <a:latin typeface="Calibri"/>
                <a:ea typeface="Calibri"/>
                <a:cs typeface="Calibri"/>
                <a:sym typeface="Calibri"/>
              </a:rPr>
              <a:t>PV = FV / (1+r)</a:t>
            </a:r>
            <a:r>
              <a:rPr lang="en-US" sz="3200" b="0" i="0" u="none" strike="noStrike" cap="none" baseline="30000">
                <a:solidFill>
                  <a:srgbClr val="002060"/>
                </a:solidFill>
                <a:latin typeface="Calibri"/>
                <a:ea typeface="Calibri"/>
                <a:cs typeface="Calibri"/>
                <a:sym typeface="Calibri"/>
              </a:rPr>
              <a:t>n</a:t>
            </a:r>
            <a:endParaRPr sz="1800" b="0" i="0" u="none" strike="noStrike" cap="none" baseline="30000">
              <a:solidFill>
                <a:srgbClr val="002060"/>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cxnSp>
        <p:nvCxnSpPr>
          <p:cNvPr id="310" name="Google Shape;310;p13"/>
          <p:cNvCxnSpPr/>
          <p:nvPr/>
        </p:nvCxnSpPr>
        <p:spPr>
          <a:xfrm>
            <a:off x="2741709" y="2709507"/>
            <a:ext cx="4163096" cy="0"/>
          </a:xfrm>
          <a:prstGeom prst="straightConnector1">
            <a:avLst/>
          </a:prstGeom>
          <a:noFill/>
          <a:ln w="9525" cap="flat" cmpd="sng">
            <a:solidFill>
              <a:srgbClr val="0C0C0C"/>
            </a:solidFill>
            <a:prstDash val="solid"/>
            <a:miter lim="800000"/>
            <a:headEnd type="none" w="sm" len="sm"/>
            <a:tailEnd type="none" w="sm" len="sm"/>
          </a:ln>
        </p:spPr>
      </p:cxnSp>
      <p:sp>
        <p:nvSpPr>
          <p:cNvPr id="311" name="Google Shape;311;p13"/>
          <p:cNvSpPr txBox="1"/>
          <p:nvPr/>
        </p:nvSpPr>
        <p:spPr>
          <a:xfrm>
            <a:off x="1799942" y="2316444"/>
            <a:ext cx="1303986"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Year</a:t>
            </a:r>
            <a:endParaRPr sz="1800" b="1" i="0" u="none" strike="noStrike" cap="none">
              <a:solidFill>
                <a:schemeClr val="dk1"/>
              </a:solidFill>
              <a:latin typeface="Calibri"/>
              <a:ea typeface="Calibri"/>
              <a:cs typeface="Calibri"/>
              <a:sym typeface="Calibri"/>
            </a:endParaRPr>
          </a:p>
        </p:txBody>
      </p:sp>
      <p:sp>
        <p:nvSpPr>
          <p:cNvPr id="312" name="Google Shape;312;p13"/>
          <p:cNvSpPr txBox="1"/>
          <p:nvPr/>
        </p:nvSpPr>
        <p:spPr>
          <a:xfrm>
            <a:off x="2741709"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p:txBody>
      </p:sp>
      <p:sp>
        <p:nvSpPr>
          <p:cNvPr id="313" name="Google Shape;313;p13"/>
          <p:cNvSpPr txBox="1"/>
          <p:nvPr/>
        </p:nvSpPr>
        <p:spPr>
          <a:xfrm>
            <a:off x="4171265"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314" name="Google Shape;314;p13"/>
          <p:cNvSpPr txBox="1"/>
          <p:nvPr/>
        </p:nvSpPr>
        <p:spPr>
          <a:xfrm>
            <a:off x="6661717"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315" name="Google Shape;315;p13"/>
          <p:cNvSpPr txBox="1"/>
          <p:nvPr/>
        </p:nvSpPr>
        <p:spPr>
          <a:xfrm>
            <a:off x="5416490" y="2294009"/>
            <a:ext cx="1139781" cy="34624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2</a:t>
            </a:r>
            <a:endParaRPr sz="1800" b="0" i="0" u="none" strike="noStrike" cap="none">
              <a:solidFill>
                <a:schemeClr val="dk1"/>
              </a:solidFill>
              <a:latin typeface="Calibri"/>
              <a:ea typeface="Calibri"/>
              <a:cs typeface="Calibri"/>
              <a:sym typeface="Calibri"/>
            </a:endParaRPr>
          </a:p>
        </p:txBody>
      </p:sp>
      <p:sp>
        <p:nvSpPr>
          <p:cNvPr id="316" name="Google Shape;316;p13"/>
          <p:cNvSpPr txBox="1"/>
          <p:nvPr/>
        </p:nvSpPr>
        <p:spPr>
          <a:xfrm>
            <a:off x="955169" y="2630829"/>
            <a:ext cx="2641779" cy="53091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Amount at the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latin typeface="Calibri"/>
                <a:ea typeface="Calibri"/>
                <a:cs typeface="Calibri"/>
                <a:sym typeface="Calibri"/>
              </a:rPr>
              <a:t>beginning of period </a:t>
            </a:r>
            <a:endParaRPr sz="1500" b="0" i="0" u="none" strike="noStrike" cap="none">
              <a:solidFill>
                <a:schemeClr val="dk1"/>
              </a:solidFill>
              <a:latin typeface="Calibri"/>
              <a:ea typeface="Calibri"/>
              <a:cs typeface="Calibri"/>
              <a:sym typeface="Calibri"/>
            </a:endParaRPr>
          </a:p>
        </p:txBody>
      </p:sp>
      <p:sp>
        <p:nvSpPr>
          <p:cNvPr id="317" name="Google Shape;317;p13"/>
          <p:cNvSpPr txBox="1"/>
          <p:nvPr/>
        </p:nvSpPr>
        <p:spPr>
          <a:xfrm>
            <a:off x="2617550" y="2825519"/>
            <a:ext cx="1331553"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PV=?</a:t>
            </a:r>
            <a:endParaRPr sz="1500" b="1" i="0" u="none" strike="noStrike" cap="none">
              <a:solidFill>
                <a:schemeClr val="dk1"/>
              </a:solidFill>
              <a:latin typeface="Calibri"/>
              <a:ea typeface="Calibri"/>
              <a:cs typeface="Calibri"/>
              <a:sym typeface="Calibri"/>
            </a:endParaRPr>
          </a:p>
        </p:txBody>
      </p:sp>
      <p:sp>
        <p:nvSpPr>
          <p:cNvPr id="318" name="Google Shape;318;p13"/>
          <p:cNvSpPr txBox="1"/>
          <p:nvPr/>
        </p:nvSpPr>
        <p:spPr>
          <a:xfrm>
            <a:off x="6596922" y="2797063"/>
            <a:ext cx="1371880" cy="30008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Calibri"/>
                <a:ea typeface="Calibri"/>
                <a:cs typeface="Calibri"/>
                <a:sym typeface="Calibri"/>
              </a:rPr>
              <a:t>FV = $115.7625</a:t>
            </a:r>
            <a:endParaRPr sz="1500" b="1" i="0" u="none" strike="noStrike" cap="none">
              <a:solidFill>
                <a:schemeClr val="dk1"/>
              </a:solidFill>
              <a:latin typeface="Calibri"/>
              <a:ea typeface="Calibri"/>
              <a:cs typeface="Calibri"/>
              <a:sym typeface="Calibri"/>
            </a:endParaRPr>
          </a:p>
        </p:txBody>
      </p:sp>
      <p:sp>
        <p:nvSpPr>
          <p:cNvPr id="319" name="Google Shape;319;p13"/>
          <p:cNvSpPr txBox="1"/>
          <p:nvPr/>
        </p:nvSpPr>
        <p:spPr>
          <a:xfrm>
            <a:off x="1181137" y="3756155"/>
            <a:ext cx="3574573" cy="99257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PV = 115.7625/ (1+.05)</a:t>
            </a:r>
            <a:r>
              <a:rPr lang="en-US" sz="1800" b="0" i="0" u="none" strike="noStrike" cap="none" baseline="30000">
                <a:solidFill>
                  <a:schemeClr val="dk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baseline="30000">
                <a:solidFill>
                  <a:schemeClr val="dk1"/>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     = 100</a:t>
            </a:r>
            <a:endParaRPr sz="1800" b="0" i="0" u="none" strike="noStrike" cap="none" baseline="30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4"/>
          <p:cNvSpPr txBox="1"/>
          <p:nvPr/>
        </p:nvSpPr>
        <p:spPr>
          <a:xfrm>
            <a:off x="3657427" y="535887"/>
            <a:ext cx="459264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Practice</a:t>
            </a:r>
            <a:endParaRPr sz="2400" b="0" i="0" u="none" strike="noStrike" cap="none">
              <a:solidFill>
                <a:srgbClr val="0070C0"/>
              </a:solidFill>
              <a:latin typeface="Poppins"/>
              <a:ea typeface="Poppins"/>
              <a:cs typeface="Poppins"/>
              <a:sym typeface="Poppins"/>
            </a:endParaRPr>
          </a:p>
        </p:txBody>
      </p:sp>
      <p:sp>
        <p:nvSpPr>
          <p:cNvPr id="325" name="Google Shape;325;p14"/>
          <p:cNvSpPr txBox="1"/>
          <p:nvPr/>
        </p:nvSpPr>
        <p:spPr>
          <a:xfrm>
            <a:off x="379863" y="1684053"/>
            <a:ext cx="8454788" cy="3263504"/>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Assume that you have the opportunity to purchase an investment that promises to pay you $3,041.63 in five years and your opportunity cost is 4%, How much should you be willing to pay for this investment today? How your answer change if your opportunity cost is 6%?</a:t>
            </a:r>
            <a:endParaRPr sz="2100" b="0" i="0" u="none" strike="noStrike" cap="none">
              <a:solidFill>
                <a:srgbClr val="000000"/>
              </a:solidFill>
              <a:latin typeface="Calibri"/>
              <a:ea typeface="Calibri"/>
              <a:cs typeface="Calibri"/>
              <a:sym typeface="Calibri"/>
            </a:endParaRPr>
          </a:p>
          <a:p>
            <a:pPr marL="0" marR="0" lvl="0" indent="0" algn="just"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SzPts val="2100"/>
              <a:buFont typeface="Arial"/>
              <a:buNone/>
            </a:pPr>
            <a:endParaRPr sz="21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5"/>
          <p:cNvSpPr/>
          <p:nvPr/>
        </p:nvSpPr>
        <p:spPr>
          <a:xfrm>
            <a:off x="2057400" y="1352550"/>
            <a:ext cx="2435731"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PV = 3,041.63/ (1+.04)</a:t>
            </a:r>
            <a:r>
              <a:rPr lang="en-US" sz="1800" b="0" i="0" u="none" strike="noStrike" cap="none" baseline="30000">
                <a:solidFill>
                  <a:schemeClr val="dk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baseline="30000">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baseline="30000">
                <a:solidFill>
                  <a:schemeClr val="dk1"/>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     = $2,499.99</a:t>
            </a:r>
            <a:endParaRPr sz="1800" b="0" i="0" u="none" strike="noStrike" cap="none" baseline="30000">
              <a:solidFill>
                <a:schemeClr val="dk1"/>
              </a:solidFill>
              <a:latin typeface="Calibri"/>
              <a:ea typeface="Calibri"/>
              <a:cs typeface="Calibri"/>
              <a:sym typeface="Calibri"/>
            </a:endParaRPr>
          </a:p>
        </p:txBody>
      </p:sp>
      <p:sp>
        <p:nvSpPr>
          <p:cNvPr id="331" name="Google Shape;331;p15"/>
          <p:cNvSpPr txBox="1"/>
          <p:nvPr/>
        </p:nvSpPr>
        <p:spPr>
          <a:xfrm>
            <a:off x="3657427" y="535887"/>
            <a:ext cx="4592645" cy="648072"/>
          </a:xfrm>
          <a:prstGeom prst="rect">
            <a:avLst/>
          </a:prstGeom>
          <a:noFill/>
          <a:ln>
            <a:noFill/>
          </a:ln>
        </p:spPr>
        <p:txBody>
          <a:bodyPr spcFirstLastPara="1" wrap="square" lIns="68575" tIns="34275" rIns="68575" bIns="34275" anchor="t" anchorCtr="0">
            <a:normAutofit/>
          </a:bodyPr>
          <a:lstStyle/>
          <a:p>
            <a:pPr marL="0" marR="0" lvl="0" indent="0" algn="r" rtl="0">
              <a:lnSpc>
                <a:spcPct val="100000"/>
              </a:lnSpc>
              <a:spcBef>
                <a:spcPts val="0"/>
              </a:spcBef>
              <a:spcAft>
                <a:spcPts val="0"/>
              </a:spcAft>
              <a:buClr>
                <a:srgbClr val="0070C0"/>
              </a:buClr>
              <a:buSzPts val="2400"/>
              <a:buFont typeface="Poppins"/>
              <a:buNone/>
            </a:pPr>
            <a:r>
              <a:rPr lang="en-US" sz="2400" b="0" i="0" u="none" strike="noStrike" cap="none">
                <a:solidFill>
                  <a:srgbClr val="0070C0"/>
                </a:solidFill>
                <a:latin typeface="Poppins"/>
                <a:ea typeface="Poppins"/>
                <a:cs typeface="Poppins"/>
                <a:sym typeface="Poppins"/>
              </a:rPr>
              <a:t>Answer</a:t>
            </a:r>
            <a:endParaRPr sz="2400" b="0" i="0" u="none" strike="noStrike" cap="none">
              <a:solidFill>
                <a:srgbClr val="0070C0"/>
              </a:solidFill>
              <a:latin typeface="Poppins"/>
              <a:ea typeface="Poppins"/>
              <a:cs typeface="Poppins"/>
              <a:sym typeface="Poppins"/>
            </a:endParaRPr>
          </a:p>
        </p:txBody>
      </p:sp>
      <p:sp>
        <p:nvSpPr>
          <p:cNvPr id="332" name="Google Shape;332;p15"/>
          <p:cNvSpPr/>
          <p:nvPr/>
        </p:nvSpPr>
        <p:spPr>
          <a:xfrm>
            <a:off x="2057400" y="2647950"/>
            <a:ext cx="2435731"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PV = 3,041.63/ (1+.06)</a:t>
            </a:r>
            <a:r>
              <a:rPr lang="en-US" sz="1800" b="0" i="0" u="none" strike="noStrike" cap="none" baseline="30000">
                <a:solidFill>
                  <a:schemeClr val="dk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baseline="30000">
                <a:solidFill>
                  <a:schemeClr val="dk1"/>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     = $2,272.88</a:t>
            </a:r>
            <a:endParaRPr sz="1800" b="0" i="0" u="none" strike="noStrike" cap="none" baseline="30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6"/>
          <p:cNvSpPr txBox="1">
            <a:spLocks noGrp="1"/>
          </p:cNvSpPr>
          <p:nvPr>
            <p:ph type="title"/>
          </p:nvPr>
        </p:nvSpPr>
        <p:spPr>
          <a:xfrm>
            <a:off x="3603364" y="327651"/>
            <a:ext cx="5703922" cy="5214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F5496"/>
              </a:buClr>
              <a:buSzPct val="100000"/>
              <a:buFont typeface="Calibri"/>
              <a:buNone/>
            </a:pPr>
            <a:r>
              <a:rPr lang="en-US">
                <a:solidFill>
                  <a:srgbClr val="2F5496"/>
                </a:solidFill>
              </a:rPr>
              <a:t>Interest rate</a:t>
            </a:r>
            <a:endParaRPr>
              <a:solidFill>
                <a:srgbClr val="2F5496"/>
              </a:solidFill>
            </a:endParaRPr>
          </a:p>
        </p:txBody>
      </p:sp>
      <p:sp>
        <p:nvSpPr>
          <p:cNvPr id="338" name="Google Shape;338;p16"/>
          <p:cNvSpPr txBox="1"/>
          <p:nvPr/>
        </p:nvSpPr>
        <p:spPr>
          <a:xfrm>
            <a:off x="433507" y="1170857"/>
            <a:ext cx="8351265" cy="320857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Suppose a bond has a cost of $100 and it will return $150 after 10 years, calculate required rate of return.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206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2060"/>
                </a:solidFill>
                <a:latin typeface="Calibri"/>
                <a:ea typeface="Calibri"/>
                <a:cs typeface="Calibri"/>
                <a:sym typeface="Calibri"/>
              </a:rPr>
              <a:t>        FV = PV (1+r)</a:t>
            </a:r>
            <a:r>
              <a:rPr lang="en-US" sz="1500" b="0" i="0" u="none" strike="noStrike" cap="none" baseline="30000">
                <a:solidFill>
                  <a:srgbClr val="002060"/>
                </a:solidFill>
                <a:latin typeface="Calibri"/>
                <a:ea typeface="Calibri"/>
                <a:cs typeface="Calibri"/>
                <a:sym typeface="Calibri"/>
              </a:rPr>
              <a:t>n</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$150 = $ 100 (1+r)</a:t>
            </a:r>
            <a:r>
              <a:rPr lang="en-US" sz="1500" b="0" i="0" u="none" strike="noStrike" cap="none" baseline="30000">
                <a:solidFill>
                  <a:srgbClr val="002060"/>
                </a:solidFill>
                <a:latin typeface="Calibri"/>
                <a:ea typeface="Calibri"/>
                <a:cs typeface="Calibri"/>
                <a:sym typeface="Calibri"/>
              </a:rPr>
              <a:t>10</a:t>
            </a:r>
            <a:r>
              <a:rPr lang="en-US" sz="18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150/100= (1+r)</a:t>
            </a:r>
            <a:r>
              <a:rPr lang="en-US" sz="1800" b="0" i="0" u="none" strike="noStrike" cap="none" baseline="30000">
                <a:solidFill>
                  <a:srgbClr val="002060"/>
                </a:solidFill>
                <a:latin typeface="Calibri"/>
                <a:ea typeface="Calibri"/>
                <a:cs typeface="Calibri"/>
                <a:sym typeface="Calibri"/>
              </a:rPr>
              <a:t> 10</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 = (1+r)</a:t>
            </a:r>
            <a:r>
              <a:rPr lang="en-US" sz="1800" b="0" i="0" u="none" strike="noStrike" cap="none" baseline="30000">
                <a:solidFill>
                  <a:srgbClr val="002060"/>
                </a:solidFill>
                <a:latin typeface="Calibri"/>
                <a:ea typeface="Calibri"/>
                <a:cs typeface="Calibri"/>
                <a:sym typeface="Calibri"/>
              </a:rPr>
              <a:t> 10</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a:t>
            </a:r>
            <a:r>
              <a:rPr lang="en-US" sz="1800" b="0" i="0" u="none" strike="noStrike" cap="none" baseline="30000">
                <a:solidFill>
                  <a:srgbClr val="002060"/>
                </a:solidFill>
                <a:latin typeface="Calibri"/>
                <a:ea typeface="Calibri"/>
                <a:cs typeface="Calibri"/>
                <a:sym typeface="Calibri"/>
              </a:rPr>
              <a:t> 1/10 </a:t>
            </a:r>
            <a:r>
              <a:rPr lang="en-US" sz="1800" b="0" i="0" u="none" strike="noStrike" cap="none">
                <a:solidFill>
                  <a:schemeClr val="dk1"/>
                </a:solidFill>
                <a:latin typeface="Calibri"/>
                <a:ea typeface="Calibri"/>
                <a:cs typeface="Calibri"/>
                <a:sym typeface="Calibri"/>
              </a:rPr>
              <a:t>= [(1+r)</a:t>
            </a:r>
            <a:r>
              <a:rPr lang="en-US" sz="1800" b="0" i="0" u="none" strike="noStrike" cap="none" baseline="30000">
                <a:solidFill>
                  <a:srgbClr val="002060"/>
                </a:solidFill>
                <a:latin typeface="Calibri"/>
                <a:ea typeface="Calibri"/>
                <a:cs typeface="Calibri"/>
                <a:sym typeface="Calibri"/>
              </a:rPr>
              <a:t> </a:t>
            </a:r>
            <a:r>
              <a:rPr lang="en-US" sz="1800" b="0" i="0" u="none" strike="noStrike" cap="none" baseline="30000">
                <a:solidFill>
                  <a:schemeClr val="dk1"/>
                </a:solidFill>
                <a:latin typeface="Calibri"/>
                <a:ea typeface="Calibri"/>
                <a:cs typeface="Calibri"/>
                <a:sym typeface="Calibri"/>
              </a:rPr>
              <a:t>10</a:t>
            </a:r>
            <a:r>
              <a:rPr lang="en-US" sz="1800" b="0" i="0" u="none" strike="noStrike" cap="none">
                <a:solidFill>
                  <a:schemeClr val="dk1"/>
                </a:solidFill>
                <a:latin typeface="Calibri"/>
                <a:ea typeface="Calibri"/>
                <a:cs typeface="Calibri"/>
                <a:sym typeface="Calibri"/>
              </a:rPr>
              <a:t>] </a:t>
            </a:r>
            <a:r>
              <a:rPr lang="en-US" sz="1800" b="0" i="0" u="none" strike="noStrike" cap="none" baseline="30000">
                <a:solidFill>
                  <a:srgbClr val="002060"/>
                </a:solidFill>
                <a:latin typeface="Calibri"/>
                <a:ea typeface="Calibri"/>
                <a:cs typeface="Calibri"/>
                <a:sym typeface="Calibri"/>
              </a:rPr>
              <a:t>1/10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1.0413 = 1+r</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1.0413-1=r</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So, r = .0413 or 4.13% (Answer)</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7"/>
          <p:cNvSpPr txBox="1">
            <a:spLocks noGrp="1"/>
          </p:cNvSpPr>
          <p:nvPr>
            <p:ph type="title"/>
          </p:nvPr>
        </p:nvSpPr>
        <p:spPr>
          <a:xfrm>
            <a:off x="5116287" y="565208"/>
            <a:ext cx="3385457" cy="5342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F5496"/>
              </a:buClr>
              <a:buSzPts val="3300"/>
              <a:buFont typeface="Calibri"/>
              <a:buNone/>
            </a:pPr>
            <a:r>
              <a:rPr lang="en-US">
                <a:solidFill>
                  <a:srgbClr val="2F5496"/>
                </a:solidFill>
              </a:rPr>
              <a:t>Practice</a:t>
            </a:r>
            <a:endParaRPr/>
          </a:p>
        </p:txBody>
      </p:sp>
      <p:sp>
        <p:nvSpPr>
          <p:cNvPr id="344" name="Google Shape;344;p17"/>
          <p:cNvSpPr txBox="1">
            <a:spLocks noGrp="1"/>
          </p:cNvSpPr>
          <p:nvPr>
            <p:ph type="body" idx="1"/>
          </p:nvPr>
        </p:nvSpPr>
        <p:spPr>
          <a:xfrm>
            <a:off x="576943" y="1646466"/>
            <a:ext cx="8229600" cy="3394472"/>
          </a:xfrm>
          <a:prstGeom prst="rect">
            <a:avLst/>
          </a:prstGeom>
          <a:noFill/>
          <a:ln>
            <a:noFill/>
          </a:ln>
        </p:spPr>
        <p:txBody>
          <a:bodyPr spcFirstLastPara="1" wrap="square" lIns="91425" tIns="45700" rIns="91425" bIns="45700" anchor="t" anchorCtr="0">
            <a:normAutofit/>
          </a:bodyPr>
          <a:lstStyle/>
          <a:p>
            <a:pPr marL="171450" lvl="0" indent="-171450" algn="just" rtl="0">
              <a:lnSpc>
                <a:spcPct val="90000"/>
              </a:lnSpc>
              <a:spcBef>
                <a:spcPts val="0"/>
              </a:spcBef>
              <a:spcAft>
                <a:spcPts val="0"/>
              </a:spcAft>
              <a:buClr>
                <a:schemeClr val="dk1"/>
              </a:buClr>
              <a:buSzPts val="2100"/>
              <a:buChar char="•"/>
            </a:pPr>
            <a:r>
              <a:rPr lang="en-US"/>
              <a:t>Suppose you just called the East key State bank and found that the balance in your savings account is $1,269.50. If you deposited $800 six years ago, what rate of return have you earned on the savings account?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8"/>
          <p:cNvSpPr/>
          <p:nvPr/>
        </p:nvSpPr>
        <p:spPr>
          <a:xfrm>
            <a:off x="2286000" y="1417588"/>
            <a:ext cx="4572000" cy="230832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2060"/>
                </a:solidFill>
                <a:latin typeface="Calibri"/>
                <a:ea typeface="Calibri"/>
                <a:cs typeface="Calibri"/>
                <a:sym typeface="Calibri"/>
              </a:rPr>
              <a:t>FV = PV (1+r)</a:t>
            </a:r>
            <a:r>
              <a:rPr lang="en-US" sz="1500" b="0" i="0" u="none" strike="noStrike" cap="none" baseline="30000">
                <a:solidFill>
                  <a:srgbClr val="002060"/>
                </a:solidFill>
                <a:latin typeface="Calibri"/>
                <a:ea typeface="Calibri"/>
                <a:cs typeface="Calibri"/>
                <a:sym typeface="Calibri"/>
              </a:rPr>
              <a:t>n</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$1,269.50 = $ 800 (1+r)</a:t>
            </a:r>
            <a:r>
              <a:rPr lang="en-US" sz="1500" b="0" i="0" u="none" strike="noStrike" cap="none" baseline="30000">
                <a:solidFill>
                  <a:srgbClr val="002060"/>
                </a:solidFill>
                <a:latin typeface="Calibri"/>
                <a:ea typeface="Calibri"/>
                <a:cs typeface="Calibri"/>
                <a:sym typeface="Calibri"/>
              </a:rPr>
              <a:t>6</a:t>
            </a:r>
            <a:r>
              <a:rPr lang="en-US"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1269.50/800= (1+r)</a:t>
            </a:r>
            <a:r>
              <a:rPr lang="en-US" sz="1800" b="0" i="0" u="none" strike="noStrike" cap="none" baseline="30000">
                <a:solidFill>
                  <a:srgbClr val="002060"/>
                </a:solidFill>
                <a:latin typeface="Calibri"/>
                <a:ea typeface="Calibri"/>
                <a:cs typeface="Calibri"/>
                <a:sym typeface="Calibri"/>
              </a:rPr>
              <a:t> 6</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1.586 = (1+r)</a:t>
            </a:r>
            <a:r>
              <a:rPr lang="en-US" sz="1800" b="0" i="0" u="none" strike="noStrike" cap="none" baseline="30000">
                <a:solidFill>
                  <a:srgbClr val="002060"/>
                </a:solidFill>
                <a:latin typeface="Calibri"/>
                <a:ea typeface="Calibri"/>
                <a:cs typeface="Calibri"/>
                <a:sym typeface="Calibri"/>
              </a:rPr>
              <a:t> 6</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(1.586)</a:t>
            </a:r>
            <a:r>
              <a:rPr lang="en-US" sz="1800" b="0" i="0" u="none" strike="noStrike" cap="none" baseline="30000">
                <a:solidFill>
                  <a:srgbClr val="002060"/>
                </a:solidFill>
                <a:latin typeface="Calibri"/>
                <a:ea typeface="Calibri"/>
                <a:cs typeface="Calibri"/>
                <a:sym typeface="Calibri"/>
              </a:rPr>
              <a:t> 1/6 </a:t>
            </a:r>
            <a:r>
              <a:rPr lang="en-US" sz="1800" b="0" i="0" u="none" strike="noStrike" cap="none">
                <a:solidFill>
                  <a:schemeClr val="dk1"/>
                </a:solidFill>
                <a:latin typeface="Calibri"/>
                <a:ea typeface="Calibri"/>
                <a:cs typeface="Calibri"/>
                <a:sym typeface="Calibri"/>
              </a:rPr>
              <a:t>= [(1+r)</a:t>
            </a:r>
            <a:r>
              <a:rPr lang="en-US" sz="1800" b="0" i="0" u="none" strike="noStrike" cap="none" baseline="30000">
                <a:solidFill>
                  <a:srgbClr val="002060"/>
                </a:solidFill>
                <a:latin typeface="Calibri"/>
                <a:ea typeface="Calibri"/>
                <a:cs typeface="Calibri"/>
                <a:sym typeface="Calibri"/>
              </a:rPr>
              <a:t>6</a:t>
            </a:r>
            <a:r>
              <a:rPr lang="en-US" sz="1800" b="0" i="0" u="none" strike="noStrike" cap="none">
                <a:solidFill>
                  <a:schemeClr val="dk1"/>
                </a:solidFill>
                <a:latin typeface="Calibri"/>
                <a:ea typeface="Calibri"/>
                <a:cs typeface="Calibri"/>
                <a:sym typeface="Calibri"/>
              </a:rPr>
              <a:t>] </a:t>
            </a:r>
            <a:r>
              <a:rPr lang="en-US" sz="1800" b="0" i="0" u="none" strike="noStrike" cap="none" baseline="30000">
                <a:solidFill>
                  <a:srgbClr val="002060"/>
                </a:solidFill>
                <a:latin typeface="Calibri"/>
                <a:ea typeface="Calibri"/>
                <a:cs typeface="Calibri"/>
                <a:sym typeface="Calibri"/>
              </a:rPr>
              <a:t>1/6</a:t>
            </a:r>
            <a:endParaRPr sz="1800" b="0" i="0" u="none" strike="noStrike" cap="none" baseline="30000">
              <a:solidFill>
                <a:srgbClr val="002060"/>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1.0799 = 1+r</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1.0799-1=r</a:t>
            </a:r>
            <a:endParaRPr sz="18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So, r = 0.0799 or 7.99% (Answer)</a:t>
            </a:r>
            <a:endParaRPr sz="1400" b="0" i="0" u="none" strike="noStrike" cap="none">
              <a:solidFill>
                <a:srgbClr val="000000"/>
              </a:solidFill>
              <a:latin typeface="Arial"/>
              <a:ea typeface="Arial"/>
              <a:cs typeface="Arial"/>
              <a:sym typeface="Arial"/>
            </a:endParaRPr>
          </a:p>
        </p:txBody>
      </p:sp>
      <p:sp>
        <p:nvSpPr>
          <p:cNvPr id="350" name="Google Shape;350;p18"/>
          <p:cNvSpPr txBox="1">
            <a:spLocks noGrp="1"/>
          </p:cNvSpPr>
          <p:nvPr>
            <p:ph type="title"/>
          </p:nvPr>
        </p:nvSpPr>
        <p:spPr>
          <a:xfrm>
            <a:off x="5116287" y="565208"/>
            <a:ext cx="3385457" cy="5342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F5496"/>
              </a:buClr>
              <a:buSzPts val="3300"/>
              <a:buFont typeface="Calibri"/>
              <a:buNone/>
            </a:pPr>
            <a:r>
              <a:rPr lang="en-US">
                <a:solidFill>
                  <a:srgbClr val="2F5496"/>
                </a:solidFill>
              </a:rPr>
              <a:t>Answer</a:t>
            </a:r>
            <a:endParaRPr>
              <a:solidFill>
                <a:srgbClr val="2F549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9"/>
          <p:cNvSpPr txBox="1">
            <a:spLocks noGrp="1"/>
          </p:cNvSpPr>
          <p:nvPr>
            <p:ph type="title"/>
          </p:nvPr>
        </p:nvSpPr>
        <p:spPr>
          <a:xfrm>
            <a:off x="3730510" y="239479"/>
            <a:ext cx="7176977" cy="44632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sz="2700">
                <a:solidFill>
                  <a:srgbClr val="C00000"/>
                </a:solidFill>
              </a:rPr>
              <a:t>Time</a:t>
            </a:r>
            <a:endParaRPr sz="2700">
              <a:solidFill>
                <a:srgbClr val="C00000"/>
              </a:solidFill>
            </a:endParaRPr>
          </a:p>
        </p:txBody>
      </p:sp>
      <p:sp>
        <p:nvSpPr>
          <p:cNvPr id="356" name="Google Shape;356;p19"/>
          <p:cNvSpPr txBox="1">
            <a:spLocks noGrp="1"/>
          </p:cNvSpPr>
          <p:nvPr>
            <p:ph type="body" idx="1"/>
          </p:nvPr>
        </p:nvSpPr>
        <p:spPr>
          <a:xfrm>
            <a:off x="613362" y="768809"/>
            <a:ext cx="7886700" cy="3263504"/>
          </a:xfrm>
          <a:prstGeom prst="rect">
            <a:avLst/>
          </a:prstGeom>
          <a:noFill/>
          <a:ln>
            <a:noFill/>
          </a:ln>
        </p:spPr>
        <p:txBody>
          <a:bodyPr spcFirstLastPara="1" wrap="square" lIns="91425" tIns="45700" rIns="91425" bIns="45700" anchor="t" anchorCtr="0">
            <a:noAutofit/>
          </a:bodyPr>
          <a:lstStyle/>
          <a:p>
            <a:pPr marL="171450" lvl="0" indent="-171450" algn="just" rtl="0">
              <a:lnSpc>
                <a:spcPct val="150000"/>
              </a:lnSpc>
              <a:spcBef>
                <a:spcPts val="0"/>
              </a:spcBef>
              <a:spcAft>
                <a:spcPts val="0"/>
              </a:spcAft>
              <a:buClr>
                <a:schemeClr val="dk1"/>
              </a:buClr>
              <a:buSzPts val="1800"/>
              <a:buChar char="•"/>
            </a:pPr>
            <a:r>
              <a:rPr lang="en-US" sz="1800"/>
              <a:t>Suppose, you believe that you could retire comfortably if you had $1 mln, you want to find out how long it will take you to acquire $1 mln, assuming you now have $500,000 invested at 4.5%? (1 mln = 1,000,000)</a:t>
            </a:r>
            <a:endParaRPr/>
          </a:p>
          <a:p>
            <a:pPr marL="0" lvl="0" indent="0" algn="l" rtl="0">
              <a:lnSpc>
                <a:spcPct val="90000"/>
              </a:lnSpc>
              <a:spcBef>
                <a:spcPts val="750"/>
              </a:spcBef>
              <a:spcAft>
                <a:spcPts val="0"/>
              </a:spcAft>
              <a:buClr>
                <a:schemeClr val="dk1"/>
              </a:buClr>
              <a:buSzPts val="1800"/>
              <a:buNone/>
            </a:pPr>
            <a:r>
              <a:rPr lang="en-US" sz="1800"/>
              <a:t>	</a:t>
            </a:r>
            <a:endParaRPr sz="1800"/>
          </a:p>
          <a:p>
            <a:pPr marL="342900" lvl="1" indent="0" algn="l" rtl="0">
              <a:lnSpc>
                <a:spcPct val="90000"/>
              </a:lnSpc>
              <a:spcBef>
                <a:spcPts val="375"/>
              </a:spcBef>
              <a:spcAft>
                <a:spcPts val="0"/>
              </a:spcAft>
              <a:buClr>
                <a:schemeClr val="dk1"/>
              </a:buClr>
              <a:buSzPts val="1500"/>
              <a:buNone/>
            </a:pPr>
            <a:r>
              <a:rPr lang="en-US" sz="1500"/>
              <a:t>FV = PV (1+r)</a:t>
            </a:r>
            <a:r>
              <a:rPr lang="en-US" sz="1500" baseline="30000"/>
              <a:t>n</a:t>
            </a:r>
            <a:endParaRPr sz="1500"/>
          </a:p>
          <a:p>
            <a:pPr marL="342900" lvl="1" indent="0" algn="l" rtl="0">
              <a:lnSpc>
                <a:spcPct val="90000"/>
              </a:lnSpc>
              <a:spcBef>
                <a:spcPts val="375"/>
              </a:spcBef>
              <a:spcAft>
                <a:spcPts val="0"/>
              </a:spcAft>
              <a:buClr>
                <a:schemeClr val="dk1"/>
              </a:buClr>
              <a:buSzPts val="1500"/>
              <a:buNone/>
            </a:pPr>
            <a:r>
              <a:rPr lang="en-US" sz="1500"/>
              <a:t>1,000,000 = 500,000 (1+.045)</a:t>
            </a:r>
            <a:r>
              <a:rPr lang="en-US" sz="1500" baseline="30000"/>
              <a:t>n</a:t>
            </a:r>
            <a:endParaRPr sz="1500" baseline="30000"/>
          </a:p>
          <a:p>
            <a:pPr marL="342900" lvl="1" indent="0" algn="l" rtl="0">
              <a:lnSpc>
                <a:spcPct val="90000"/>
              </a:lnSpc>
              <a:spcBef>
                <a:spcPts val="375"/>
              </a:spcBef>
              <a:spcAft>
                <a:spcPts val="0"/>
              </a:spcAft>
              <a:buClr>
                <a:schemeClr val="dk1"/>
              </a:buClr>
              <a:buSzPts val="1500"/>
              <a:buNone/>
            </a:pPr>
            <a:r>
              <a:rPr lang="en-US" sz="1500"/>
              <a:t>2 = (1.045) </a:t>
            </a:r>
            <a:r>
              <a:rPr lang="en-US" sz="1500" baseline="30000"/>
              <a:t>n</a:t>
            </a:r>
            <a:endParaRPr/>
          </a:p>
          <a:p>
            <a:pPr marL="342900" lvl="1" indent="0" algn="l" rtl="0">
              <a:lnSpc>
                <a:spcPct val="90000"/>
              </a:lnSpc>
              <a:spcBef>
                <a:spcPts val="375"/>
              </a:spcBef>
              <a:spcAft>
                <a:spcPts val="0"/>
              </a:spcAft>
              <a:buClr>
                <a:schemeClr val="dk1"/>
              </a:buClr>
              <a:buSzPts val="1500"/>
              <a:buNone/>
            </a:pPr>
            <a:r>
              <a:rPr lang="en-US" sz="1500"/>
              <a:t>ln 2 =ln (1.045) </a:t>
            </a:r>
            <a:r>
              <a:rPr lang="en-US" sz="1500" baseline="30000"/>
              <a:t>n</a:t>
            </a:r>
            <a:endParaRPr/>
          </a:p>
          <a:p>
            <a:pPr marL="342900" lvl="1" indent="0" algn="l" rtl="0">
              <a:lnSpc>
                <a:spcPct val="90000"/>
              </a:lnSpc>
              <a:spcBef>
                <a:spcPts val="375"/>
              </a:spcBef>
              <a:spcAft>
                <a:spcPts val="0"/>
              </a:spcAft>
              <a:buClr>
                <a:schemeClr val="dk1"/>
              </a:buClr>
              <a:buSzPts val="1500"/>
              <a:buNone/>
            </a:pPr>
            <a:r>
              <a:rPr lang="en-US" sz="1500"/>
              <a:t>ln 2 = n  ln(1.045)</a:t>
            </a:r>
            <a:endParaRPr sz="1500" baseline="30000"/>
          </a:p>
          <a:p>
            <a:pPr marL="0" lvl="0" indent="0" algn="l" rtl="0">
              <a:lnSpc>
                <a:spcPct val="90000"/>
              </a:lnSpc>
              <a:spcBef>
                <a:spcPts val="750"/>
              </a:spcBef>
              <a:spcAft>
                <a:spcPts val="0"/>
              </a:spcAft>
              <a:buClr>
                <a:schemeClr val="dk1"/>
              </a:buClr>
              <a:buSzPts val="1500"/>
              <a:buNone/>
            </a:pPr>
            <a:r>
              <a:rPr lang="en-US" sz="1500"/>
              <a:t>      ln 2 / ln (1.045) = n</a:t>
            </a:r>
            <a:endParaRPr sz="1500"/>
          </a:p>
          <a:p>
            <a:pPr marL="0" lvl="0" indent="0" algn="l" rtl="0">
              <a:lnSpc>
                <a:spcPct val="90000"/>
              </a:lnSpc>
              <a:spcBef>
                <a:spcPts val="750"/>
              </a:spcBef>
              <a:spcAft>
                <a:spcPts val="0"/>
              </a:spcAft>
              <a:buClr>
                <a:schemeClr val="dk1"/>
              </a:buClr>
              <a:buSzPts val="1500"/>
              <a:buNone/>
            </a:pPr>
            <a:r>
              <a:rPr lang="en-US" sz="1500"/>
              <a:t>     15.74 = n   </a:t>
            </a:r>
            <a:endParaRPr/>
          </a:p>
          <a:p>
            <a:pPr marL="0" lvl="0" indent="0" algn="l" rtl="0">
              <a:lnSpc>
                <a:spcPct val="90000"/>
              </a:lnSpc>
              <a:spcBef>
                <a:spcPts val="750"/>
              </a:spcBef>
              <a:spcAft>
                <a:spcPts val="0"/>
              </a:spcAft>
              <a:buClr>
                <a:schemeClr val="dk1"/>
              </a:buClr>
              <a:buSzPts val="1500"/>
              <a:buNone/>
            </a:pPr>
            <a:endParaRPr sz="1500"/>
          </a:p>
          <a:p>
            <a:pPr marL="0" lvl="0" indent="0" algn="l" rtl="0">
              <a:lnSpc>
                <a:spcPct val="90000"/>
              </a:lnSpc>
              <a:spcBef>
                <a:spcPts val="750"/>
              </a:spcBef>
              <a:spcAft>
                <a:spcPts val="0"/>
              </a:spcAft>
              <a:buClr>
                <a:schemeClr val="dk1"/>
              </a:buClr>
              <a:buSzPts val="1500"/>
              <a:buNone/>
            </a:pPr>
            <a:r>
              <a:rPr lang="en-US" sz="1500"/>
              <a:t>so, N = 15.74 years. (Answer) </a:t>
            </a:r>
            <a:endParaRPr/>
          </a:p>
          <a:p>
            <a:pPr marL="0" lvl="0" indent="0" algn="l" rtl="0">
              <a:lnSpc>
                <a:spcPct val="90000"/>
              </a:lnSpc>
              <a:spcBef>
                <a:spcPts val="750"/>
              </a:spcBef>
              <a:spcAft>
                <a:spcPts val="0"/>
              </a:spcAft>
              <a:buClr>
                <a:schemeClr val="dk1"/>
              </a:buClr>
              <a:buSzPts val="1800"/>
              <a:buNone/>
            </a:pPr>
            <a:endParaRPr sz="1800"/>
          </a:p>
          <a:p>
            <a:pPr marL="0" lvl="0" indent="0" algn="l" rtl="0">
              <a:lnSpc>
                <a:spcPct val="90000"/>
              </a:lnSpc>
              <a:spcBef>
                <a:spcPts val="750"/>
              </a:spcBef>
              <a:spcAft>
                <a:spcPts val="0"/>
              </a:spcAft>
              <a:buClr>
                <a:schemeClr val="dk1"/>
              </a:buClr>
              <a:buSzPts val="1800"/>
              <a:buNone/>
            </a:pPr>
            <a:endParaRPr sz="1800"/>
          </a:p>
          <a:p>
            <a:pPr marL="0" lvl="0" indent="0" algn="l" rtl="0">
              <a:lnSpc>
                <a:spcPct val="9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0"/>
          <p:cNvSpPr txBox="1">
            <a:spLocks noGrp="1"/>
          </p:cNvSpPr>
          <p:nvPr>
            <p:ph type="title"/>
          </p:nvPr>
        </p:nvSpPr>
        <p:spPr>
          <a:xfrm>
            <a:off x="5725884" y="499893"/>
            <a:ext cx="3145972" cy="5560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300"/>
              <a:buFont typeface="Calibri"/>
              <a:buNone/>
            </a:pPr>
            <a:r>
              <a:rPr lang="en-US">
                <a:solidFill>
                  <a:srgbClr val="2F5496"/>
                </a:solidFill>
              </a:rPr>
              <a:t>Practice</a:t>
            </a:r>
            <a:endParaRPr>
              <a:solidFill>
                <a:srgbClr val="2F5496"/>
              </a:solidFill>
            </a:endParaRPr>
          </a:p>
        </p:txBody>
      </p:sp>
      <p:sp>
        <p:nvSpPr>
          <p:cNvPr id="362" name="Google Shape;362;p20"/>
          <p:cNvSpPr txBox="1">
            <a:spLocks noGrp="1"/>
          </p:cNvSpPr>
          <p:nvPr>
            <p:ph type="body" idx="1"/>
          </p:nvPr>
        </p:nvSpPr>
        <p:spPr>
          <a:xfrm>
            <a:off x="468086" y="1548494"/>
            <a:ext cx="8229600" cy="3394472"/>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chemeClr val="dk1"/>
              </a:buClr>
              <a:buSzPts val="2100"/>
              <a:buChar char="•"/>
            </a:pPr>
            <a:r>
              <a:rPr lang="en-US"/>
              <a:t>Assume you can invest $1,000,000 today at 4.5% interest. If you plan to sell the investment when its value reaches $1,500,000 for how long will your money have to be invested?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1"/>
          <p:cNvSpPr txBox="1">
            <a:spLocks noGrp="1"/>
          </p:cNvSpPr>
          <p:nvPr>
            <p:ph type="body" idx="1"/>
          </p:nvPr>
        </p:nvSpPr>
        <p:spPr>
          <a:xfrm>
            <a:off x="613362" y="768809"/>
            <a:ext cx="7886700" cy="326350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t>	</a:t>
            </a:r>
            <a:endParaRPr sz="1800"/>
          </a:p>
          <a:p>
            <a:pPr marL="342900" lvl="1" indent="0" algn="l" rtl="0">
              <a:lnSpc>
                <a:spcPct val="90000"/>
              </a:lnSpc>
              <a:spcBef>
                <a:spcPts val="375"/>
              </a:spcBef>
              <a:spcAft>
                <a:spcPts val="0"/>
              </a:spcAft>
              <a:buClr>
                <a:schemeClr val="dk1"/>
              </a:buClr>
              <a:buSzPts val="1500"/>
              <a:buNone/>
            </a:pPr>
            <a:r>
              <a:rPr lang="en-US" sz="1500"/>
              <a:t>FV = PV (1+r)</a:t>
            </a:r>
            <a:r>
              <a:rPr lang="en-US" sz="1500" baseline="30000"/>
              <a:t>n</a:t>
            </a:r>
            <a:endParaRPr sz="1500"/>
          </a:p>
          <a:p>
            <a:pPr marL="342900" lvl="1" indent="0" algn="l" rtl="0">
              <a:lnSpc>
                <a:spcPct val="90000"/>
              </a:lnSpc>
              <a:spcBef>
                <a:spcPts val="375"/>
              </a:spcBef>
              <a:spcAft>
                <a:spcPts val="0"/>
              </a:spcAft>
              <a:buClr>
                <a:schemeClr val="dk1"/>
              </a:buClr>
              <a:buSzPts val="1500"/>
              <a:buNone/>
            </a:pPr>
            <a:r>
              <a:rPr lang="en-US" sz="1500"/>
              <a:t>1,500,000 = 1,000,000 (1+.045)</a:t>
            </a:r>
            <a:r>
              <a:rPr lang="en-US" sz="1500" baseline="30000"/>
              <a:t>n</a:t>
            </a:r>
            <a:endParaRPr sz="1500" baseline="30000"/>
          </a:p>
          <a:p>
            <a:pPr marL="342900" lvl="1" indent="0" algn="l" rtl="0">
              <a:lnSpc>
                <a:spcPct val="90000"/>
              </a:lnSpc>
              <a:spcBef>
                <a:spcPts val="375"/>
              </a:spcBef>
              <a:spcAft>
                <a:spcPts val="0"/>
              </a:spcAft>
              <a:buClr>
                <a:schemeClr val="dk1"/>
              </a:buClr>
              <a:buSzPts val="1500"/>
              <a:buNone/>
            </a:pPr>
            <a:r>
              <a:rPr lang="en-US" sz="1500"/>
              <a:t>1.5 = (1.045) </a:t>
            </a:r>
            <a:r>
              <a:rPr lang="en-US" sz="1500" baseline="30000"/>
              <a:t>n</a:t>
            </a:r>
            <a:endParaRPr/>
          </a:p>
          <a:p>
            <a:pPr marL="342900" lvl="1" indent="0" algn="l" rtl="0">
              <a:lnSpc>
                <a:spcPct val="90000"/>
              </a:lnSpc>
              <a:spcBef>
                <a:spcPts val="375"/>
              </a:spcBef>
              <a:spcAft>
                <a:spcPts val="0"/>
              </a:spcAft>
              <a:buClr>
                <a:schemeClr val="dk1"/>
              </a:buClr>
              <a:buSzPts val="1500"/>
              <a:buNone/>
            </a:pPr>
            <a:r>
              <a:rPr lang="en-US" sz="1500"/>
              <a:t>ln 1.5 =ln (1.045) </a:t>
            </a:r>
            <a:r>
              <a:rPr lang="en-US" sz="1500" baseline="30000"/>
              <a:t>n</a:t>
            </a:r>
            <a:endParaRPr/>
          </a:p>
          <a:p>
            <a:pPr marL="342900" lvl="1" indent="0" algn="l" rtl="0">
              <a:lnSpc>
                <a:spcPct val="90000"/>
              </a:lnSpc>
              <a:spcBef>
                <a:spcPts val="375"/>
              </a:spcBef>
              <a:spcAft>
                <a:spcPts val="0"/>
              </a:spcAft>
              <a:buClr>
                <a:schemeClr val="dk1"/>
              </a:buClr>
              <a:buSzPts val="1500"/>
              <a:buNone/>
            </a:pPr>
            <a:r>
              <a:rPr lang="en-US" sz="1500"/>
              <a:t>ln 1.5 = n  ln(1.045)</a:t>
            </a:r>
            <a:endParaRPr sz="1500" baseline="30000"/>
          </a:p>
          <a:p>
            <a:pPr marL="0" lvl="0" indent="0" algn="l" rtl="0">
              <a:lnSpc>
                <a:spcPct val="90000"/>
              </a:lnSpc>
              <a:spcBef>
                <a:spcPts val="750"/>
              </a:spcBef>
              <a:spcAft>
                <a:spcPts val="0"/>
              </a:spcAft>
              <a:buClr>
                <a:schemeClr val="dk1"/>
              </a:buClr>
              <a:buSzPts val="1500"/>
              <a:buNone/>
            </a:pPr>
            <a:r>
              <a:rPr lang="en-US" sz="1500"/>
              <a:t>        ln 1.5 / ln (1.045) = n</a:t>
            </a:r>
            <a:endParaRPr sz="1500"/>
          </a:p>
          <a:p>
            <a:pPr marL="0" lvl="0" indent="0" algn="l" rtl="0">
              <a:lnSpc>
                <a:spcPct val="90000"/>
              </a:lnSpc>
              <a:spcBef>
                <a:spcPts val="750"/>
              </a:spcBef>
              <a:spcAft>
                <a:spcPts val="0"/>
              </a:spcAft>
              <a:buClr>
                <a:schemeClr val="dk1"/>
              </a:buClr>
              <a:buSzPts val="1500"/>
              <a:buNone/>
            </a:pPr>
            <a:r>
              <a:rPr lang="en-US" sz="1500"/>
              <a:t>       9.21 = n   </a:t>
            </a:r>
            <a:endParaRPr/>
          </a:p>
          <a:p>
            <a:pPr marL="0" lvl="0" indent="0" algn="l" rtl="0">
              <a:lnSpc>
                <a:spcPct val="90000"/>
              </a:lnSpc>
              <a:spcBef>
                <a:spcPts val="750"/>
              </a:spcBef>
              <a:spcAft>
                <a:spcPts val="0"/>
              </a:spcAft>
              <a:buClr>
                <a:schemeClr val="dk1"/>
              </a:buClr>
              <a:buSzPts val="1500"/>
              <a:buNone/>
            </a:pPr>
            <a:endParaRPr sz="1500"/>
          </a:p>
          <a:p>
            <a:pPr marL="0" lvl="0" indent="0" algn="l" rtl="0">
              <a:lnSpc>
                <a:spcPct val="90000"/>
              </a:lnSpc>
              <a:spcBef>
                <a:spcPts val="750"/>
              </a:spcBef>
              <a:spcAft>
                <a:spcPts val="0"/>
              </a:spcAft>
              <a:buClr>
                <a:schemeClr val="dk1"/>
              </a:buClr>
              <a:buSzPts val="1500"/>
              <a:buNone/>
            </a:pPr>
            <a:r>
              <a:rPr lang="en-US" sz="1500"/>
              <a:t>so, N = 9.21 years. (Answer) </a:t>
            </a:r>
            <a:endParaRPr/>
          </a:p>
          <a:p>
            <a:pPr marL="0" lvl="0" indent="0" algn="l" rtl="0">
              <a:lnSpc>
                <a:spcPct val="90000"/>
              </a:lnSpc>
              <a:spcBef>
                <a:spcPts val="750"/>
              </a:spcBef>
              <a:spcAft>
                <a:spcPts val="0"/>
              </a:spcAft>
              <a:buClr>
                <a:schemeClr val="dk1"/>
              </a:buClr>
              <a:buSzPts val="1800"/>
              <a:buNone/>
            </a:pPr>
            <a:endParaRPr sz="1800"/>
          </a:p>
          <a:p>
            <a:pPr marL="0" lvl="0" indent="0" algn="l" rtl="0">
              <a:lnSpc>
                <a:spcPct val="90000"/>
              </a:lnSpc>
              <a:spcBef>
                <a:spcPts val="750"/>
              </a:spcBef>
              <a:spcAft>
                <a:spcPts val="0"/>
              </a:spcAft>
              <a:buClr>
                <a:schemeClr val="dk1"/>
              </a:buClr>
              <a:buSzPts val="1800"/>
              <a:buNone/>
            </a:pPr>
            <a:endParaRPr sz="1800"/>
          </a:p>
          <a:p>
            <a:pPr marL="0" lvl="0" indent="0" algn="l" rtl="0">
              <a:lnSpc>
                <a:spcPct val="9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a:p>
            <a:pPr marL="171450" lvl="0" indent="-57150" algn="l" rtl="0">
              <a:lnSpc>
                <a:spcPct val="150000"/>
              </a:lnSpc>
              <a:spcBef>
                <a:spcPts val="750"/>
              </a:spcBef>
              <a:spcAft>
                <a:spcPts val="0"/>
              </a:spcAft>
              <a:buClr>
                <a:schemeClr val="dk1"/>
              </a:buClr>
              <a:buSzPts val="1800"/>
              <a:buNone/>
            </a:pPr>
            <a:endParaRPr sz="1800"/>
          </a:p>
        </p:txBody>
      </p:sp>
      <p:sp>
        <p:nvSpPr>
          <p:cNvPr id="368" name="Google Shape;368;p21"/>
          <p:cNvSpPr txBox="1">
            <a:spLocks noGrp="1"/>
          </p:cNvSpPr>
          <p:nvPr>
            <p:ph type="title"/>
          </p:nvPr>
        </p:nvSpPr>
        <p:spPr>
          <a:xfrm>
            <a:off x="5715000" y="212787"/>
            <a:ext cx="3145972" cy="5560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300"/>
              <a:buFont typeface="Calibri"/>
              <a:buNone/>
            </a:pPr>
            <a:r>
              <a:rPr lang="en-US">
                <a:solidFill>
                  <a:srgbClr val="2F5496"/>
                </a:solidFill>
              </a:rPr>
              <a:t>Answer</a:t>
            </a:r>
            <a:endParaRPr>
              <a:solidFill>
                <a:srgbClr val="2F549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2"/>
          <p:cNvSpPr txBox="1">
            <a:spLocks noGrp="1"/>
          </p:cNvSpPr>
          <p:nvPr>
            <p:ph type="title"/>
          </p:nvPr>
        </p:nvSpPr>
        <p:spPr>
          <a:xfrm>
            <a:off x="3145972" y="521664"/>
            <a:ext cx="5998028" cy="6213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300"/>
              <a:buFont typeface="Calibri"/>
              <a:buNone/>
            </a:pPr>
            <a:r>
              <a:rPr lang="en-US">
                <a:solidFill>
                  <a:srgbClr val="C00000"/>
                </a:solidFill>
              </a:rPr>
              <a:t>Conversion period</a:t>
            </a:r>
            <a:endParaRPr>
              <a:solidFill>
                <a:srgbClr val="C00000"/>
              </a:solidFill>
            </a:endParaRPr>
          </a:p>
        </p:txBody>
      </p:sp>
      <p:sp>
        <p:nvSpPr>
          <p:cNvPr id="374" name="Google Shape;374;p22"/>
          <p:cNvSpPr txBox="1">
            <a:spLocks noGrp="1"/>
          </p:cNvSpPr>
          <p:nvPr>
            <p:ph type="body" idx="1"/>
          </p:nvPr>
        </p:nvSpPr>
        <p:spPr>
          <a:xfrm>
            <a:off x="544285" y="1613809"/>
            <a:ext cx="8229600" cy="3394472"/>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chemeClr val="dk1"/>
              </a:buClr>
              <a:buSzPts val="2100"/>
              <a:buChar char="•"/>
            </a:pPr>
            <a:r>
              <a:rPr lang="en-US"/>
              <a:t>When interest is compounded more often than once a year, </a:t>
            </a:r>
            <a:r>
              <a:rPr lang="en-US">
                <a:solidFill>
                  <a:srgbClr val="2F5496"/>
                </a:solidFill>
              </a:rPr>
              <a:t>interest rate </a:t>
            </a:r>
            <a:r>
              <a:rPr lang="en-US"/>
              <a:t>and </a:t>
            </a:r>
            <a:r>
              <a:rPr lang="en-US">
                <a:solidFill>
                  <a:srgbClr val="2F5496"/>
                </a:solidFill>
              </a:rPr>
              <a:t>time</a:t>
            </a:r>
            <a:r>
              <a:rPr lang="en-US"/>
              <a:t> need to be modified as per compounding frequency. </a:t>
            </a:r>
            <a:endParaRPr/>
          </a:p>
          <a:p>
            <a:pPr marL="171450" lvl="0" indent="-38100" algn="l" rtl="0">
              <a:lnSpc>
                <a:spcPct val="90000"/>
              </a:lnSpc>
              <a:spcBef>
                <a:spcPts val="750"/>
              </a:spcBef>
              <a:spcAft>
                <a:spcPts val="0"/>
              </a:spcAft>
              <a:buClr>
                <a:schemeClr val="dk1"/>
              </a:buClr>
              <a:buSzPts val="2100"/>
              <a:buNone/>
            </a:pPr>
            <a:endParaRPr/>
          </a:p>
          <a:p>
            <a:pPr marL="171450" lvl="0" indent="-171450" algn="l" rtl="0">
              <a:lnSpc>
                <a:spcPct val="90000"/>
              </a:lnSpc>
              <a:spcBef>
                <a:spcPts val="750"/>
              </a:spcBef>
              <a:spcAft>
                <a:spcPts val="0"/>
              </a:spcAft>
              <a:buClr>
                <a:schemeClr val="dk1"/>
              </a:buClr>
              <a:buSzPts val="2100"/>
              <a:buChar char="•"/>
            </a:pPr>
            <a:r>
              <a:rPr lang="en-US"/>
              <a:t>Compounding can be monthly, quarterly, semi -annually etc.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3"/>
          <p:cNvSpPr txBox="1">
            <a:spLocks noGrp="1"/>
          </p:cNvSpPr>
          <p:nvPr>
            <p:ph type="title"/>
          </p:nvPr>
        </p:nvSpPr>
        <p:spPr>
          <a:xfrm>
            <a:off x="6117771" y="173321"/>
            <a:ext cx="2688772" cy="857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300"/>
              <a:buFont typeface="Calibri"/>
              <a:buNone/>
            </a:pPr>
            <a:r>
              <a:rPr lang="en-US">
                <a:solidFill>
                  <a:srgbClr val="C00000"/>
                </a:solidFill>
              </a:rPr>
              <a:t>Practice </a:t>
            </a:r>
            <a:endParaRPr>
              <a:solidFill>
                <a:srgbClr val="C00000"/>
              </a:solidFill>
            </a:endParaRPr>
          </a:p>
        </p:txBody>
      </p:sp>
      <p:sp>
        <p:nvSpPr>
          <p:cNvPr id="380" name="Google Shape;380;p2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fontScale="92500"/>
          </a:bodyPr>
          <a:lstStyle/>
          <a:p>
            <a:pPr marL="171450" lvl="0" indent="-171481" algn="l" rtl="0">
              <a:lnSpc>
                <a:spcPct val="90000"/>
              </a:lnSpc>
              <a:spcBef>
                <a:spcPts val="0"/>
              </a:spcBef>
              <a:spcAft>
                <a:spcPts val="0"/>
              </a:spcAft>
              <a:buClr>
                <a:schemeClr val="dk1"/>
              </a:buClr>
              <a:buSzPct val="100000"/>
              <a:buChar char="•"/>
            </a:pPr>
            <a:r>
              <a:rPr lang="en-US"/>
              <a:t>Find the future value of $500 at 8% compounded quarterly for 10 years. </a:t>
            </a:r>
            <a:endParaRPr/>
          </a:p>
          <a:p>
            <a:pPr marL="171450" lvl="0" indent="-48133" algn="l" rtl="0">
              <a:lnSpc>
                <a:spcPct val="90000"/>
              </a:lnSpc>
              <a:spcBef>
                <a:spcPts val="750"/>
              </a:spcBef>
              <a:spcAft>
                <a:spcPts val="0"/>
              </a:spcAft>
              <a:buClr>
                <a:schemeClr val="dk1"/>
              </a:buClr>
              <a:buSzPct val="100000"/>
              <a:buNone/>
            </a:pPr>
            <a:endParaRPr/>
          </a:p>
          <a:p>
            <a:pPr marL="0" lvl="0" indent="0" algn="l" rtl="0">
              <a:lnSpc>
                <a:spcPct val="90000"/>
              </a:lnSpc>
              <a:spcBef>
                <a:spcPts val="750"/>
              </a:spcBef>
              <a:spcAft>
                <a:spcPts val="0"/>
              </a:spcAft>
              <a:buClr>
                <a:srgbClr val="002060"/>
              </a:buClr>
              <a:buSzPct val="100000"/>
              <a:buNone/>
            </a:pPr>
            <a:r>
              <a:rPr lang="en-US">
                <a:solidFill>
                  <a:srgbClr val="002060"/>
                </a:solidFill>
              </a:rPr>
              <a:t>   FV = PV (1+r)</a:t>
            </a:r>
            <a:r>
              <a:rPr lang="en-US" baseline="30000">
                <a:solidFill>
                  <a:srgbClr val="002060"/>
                </a:solidFill>
              </a:rPr>
              <a:t>n</a:t>
            </a:r>
            <a:endParaRPr/>
          </a:p>
          <a:p>
            <a:pPr marL="0" lvl="0" indent="0" algn="l" rtl="0">
              <a:lnSpc>
                <a:spcPct val="90000"/>
              </a:lnSpc>
              <a:spcBef>
                <a:spcPts val="750"/>
              </a:spcBef>
              <a:spcAft>
                <a:spcPts val="0"/>
              </a:spcAft>
              <a:buClr>
                <a:schemeClr val="dk1"/>
              </a:buClr>
              <a:buSzPct val="100000"/>
              <a:buNone/>
            </a:pPr>
            <a:r>
              <a:rPr lang="en-US"/>
              <a:t>         = 500 (1+ 0.08/4)</a:t>
            </a:r>
            <a:r>
              <a:rPr lang="en-US" baseline="30000"/>
              <a:t>10x4</a:t>
            </a:r>
            <a:r>
              <a:rPr lang="en-US"/>
              <a:t> </a:t>
            </a:r>
            <a:endParaRPr/>
          </a:p>
          <a:p>
            <a:pPr marL="0" lvl="0" indent="0" algn="l" rtl="0">
              <a:lnSpc>
                <a:spcPct val="90000"/>
              </a:lnSpc>
              <a:spcBef>
                <a:spcPts val="750"/>
              </a:spcBef>
              <a:spcAft>
                <a:spcPts val="0"/>
              </a:spcAft>
              <a:buClr>
                <a:schemeClr val="dk1"/>
              </a:buClr>
              <a:buSzPct val="100000"/>
              <a:buNone/>
            </a:pPr>
            <a:r>
              <a:rPr lang="en-US"/>
              <a:t>	 = $1,104.02 </a:t>
            </a:r>
            <a:endParaRPr/>
          </a:p>
          <a:p>
            <a:pPr marL="0" lvl="0" indent="0" algn="l" rtl="0">
              <a:lnSpc>
                <a:spcPct val="90000"/>
              </a:lnSpc>
              <a:spcBef>
                <a:spcPts val="750"/>
              </a:spcBef>
              <a:spcAft>
                <a:spcPts val="0"/>
              </a:spcAft>
              <a:buClr>
                <a:schemeClr val="dk1"/>
              </a:buClr>
              <a:buSzPct val="100000"/>
              <a:buNone/>
            </a:pPr>
            <a:endParaRPr/>
          </a:p>
          <a:p>
            <a:pPr marL="0" lvl="0" indent="0" algn="l" rtl="0">
              <a:lnSpc>
                <a:spcPct val="90000"/>
              </a:lnSpc>
              <a:spcBef>
                <a:spcPts val="750"/>
              </a:spcBef>
              <a:spcAft>
                <a:spcPts val="0"/>
              </a:spcAft>
              <a:buClr>
                <a:schemeClr val="dk1"/>
              </a:buClr>
              <a:buSzPct val="100000"/>
              <a:buNone/>
            </a:pPr>
            <a:r>
              <a:rPr lang="en-US"/>
              <a:t>If compounded monthly, FV = 500 (1+ .08/12)</a:t>
            </a:r>
            <a:r>
              <a:rPr lang="en-US" baseline="30000"/>
              <a:t>10x12 </a:t>
            </a:r>
            <a:endParaRPr/>
          </a:p>
          <a:p>
            <a:pPr marL="0" lvl="0" indent="0" algn="l" rtl="0">
              <a:lnSpc>
                <a:spcPct val="90000"/>
              </a:lnSpc>
              <a:spcBef>
                <a:spcPts val="750"/>
              </a:spcBef>
              <a:spcAft>
                <a:spcPts val="0"/>
              </a:spcAft>
              <a:buClr>
                <a:schemeClr val="dk1"/>
              </a:buClr>
              <a:buSzPct val="100000"/>
              <a:buNone/>
            </a:pPr>
            <a:r>
              <a:rPr lang="en-US" baseline="30000"/>
              <a:t>          </a:t>
            </a:r>
            <a:endParaRPr/>
          </a:p>
          <a:p>
            <a:pPr marL="0" lvl="0" indent="0" algn="l" rtl="0">
              <a:lnSpc>
                <a:spcPct val="90000"/>
              </a:lnSpc>
              <a:spcBef>
                <a:spcPts val="750"/>
              </a:spcBef>
              <a:spcAft>
                <a:spcPts val="0"/>
              </a:spcAft>
              <a:buClr>
                <a:schemeClr val="dk1"/>
              </a:buClr>
              <a:buSzPct val="100000"/>
              <a:buNone/>
            </a:pPr>
            <a:r>
              <a:rPr lang="en-US" baseline="30000"/>
              <a:t>					 </a:t>
            </a:r>
            <a:r>
              <a:rPr lang="en-US"/>
              <a:t> = $1,109.82</a:t>
            </a:r>
            <a:endParaRPr baseline="30000"/>
          </a:p>
          <a:p>
            <a:pPr marL="0" lvl="0" indent="0" algn="l" rtl="0">
              <a:lnSpc>
                <a:spcPct val="90000"/>
              </a:lnSpc>
              <a:spcBef>
                <a:spcPts val="750"/>
              </a:spcBef>
              <a:spcAft>
                <a:spcPts val="0"/>
              </a:spcAft>
              <a:buClr>
                <a:schemeClr val="dk1"/>
              </a:buClr>
              <a:buSzPct val="100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51"/>
          <p:cNvSpPr txBox="1"/>
          <p:nvPr/>
        </p:nvSpPr>
        <p:spPr>
          <a:xfrm>
            <a:off x="2798645" y="2168768"/>
            <a:ext cx="7886700" cy="3263504"/>
          </a:xfrm>
          <a:prstGeom prst="rect">
            <a:avLst/>
          </a:prstGeom>
          <a:noFill/>
          <a:ln>
            <a:noFill/>
          </a:ln>
        </p:spPr>
        <p:txBody>
          <a:bodyPr spcFirstLastPara="1" wrap="square" lIns="68575" tIns="34275" rIns="68575" bIns="34275" anchor="t" anchorCtr="0">
            <a:normAutofit/>
          </a:bodyPr>
          <a:lstStyle/>
          <a:p>
            <a:pPr marL="0" marR="0" lvl="0" indent="0" algn="l" rtl="0">
              <a:lnSpc>
                <a:spcPct val="100000"/>
              </a:lnSpc>
              <a:spcBef>
                <a:spcPts val="0"/>
              </a:spcBef>
              <a:spcAft>
                <a:spcPts val="0"/>
              </a:spcAft>
              <a:buClr>
                <a:schemeClr val="dk1"/>
              </a:buClr>
              <a:buSzPts val="2700"/>
              <a:buFont typeface="Arial"/>
              <a:buNone/>
            </a:pPr>
            <a:r>
              <a:rPr lang="en-US" sz="2700" b="0" i="0" u="none" strike="noStrike" cap="none">
                <a:solidFill>
                  <a:schemeClr val="dk1"/>
                </a:solidFill>
                <a:latin typeface="Calibri"/>
                <a:ea typeface="Calibri"/>
                <a:cs typeface="Calibri"/>
                <a:sym typeface="Calibri"/>
              </a:rPr>
              <a:t>Thank you</a:t>
            </a:r>
            <a:endParaRPr sz="27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1191</Words>
  <Application>Microsoft Office PowerPoint</Application>
  <PresentationFormat>On-screen Show (16:9)</PresentationFormat>
  <Paragraphs>221</Paragraphs>
  <Slides>24</Slides>
  <Notes>24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24</vt:i4>
      </vt:variant>
    </vt:vector>
  </HeadingPairs>
  <TitlesOfParts>
    <vt:vector size="29" baseType="lpstr">
      <vt:lpstr>Arial</vt:lpstr>
      <vt:lpstr>Poppins</vt:lpstr>
      <vt:lpstr>Calibri</vt:lpstr>
      <vt:lpstr>Office Theme</vt:lpstr>
      <vt:lpstr>1_Office Theme</vt:lpstr>
      <vt:lpstr>PowerPoint Presentation</vt:lpstr>
      <vt:lpstr>Topics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Interest rate</vt:lpstr>
      <vt:lpstr>Practice</vt:lpstr>
      <vt:lpstr>Answer</vt:lpstr>
      <vt:lpstr>Time</vt:lpstr>
      <vt:lpstr>Practice</vt:lpstr>
      <vt:lpstr>Answer</vt:lpstr>
      <vt:lpstr>Conversion period</vt:lpstr>
      <vt:lpstr>Practice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Eshrat Kamal Nova</cp:lastModifiedBy>
  <cp:revision>1</cp:revision>
  <dcterms:modified xsi:type="dcterms:W3CDTF">2025-12-15T04:51:17Z</dcterms:modified>
</cp:coreProperties>
</file>