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1" r:id="rId4"/>
    <p:sldMasterId id="214748365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4"/>
          <p:cNvSpPr txBox="1"/>
          <p:nvPr>
            <p:ph type="title"/>
          </p:nvPr>
        </p:nvSpPr>
        <p:spPr>
          <a:xfrm>
            <a:off x="457200" y="-5947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4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 type="body"/>
          </p:nvPr>
        </p:nvSpPr>
        <p:spPr>
          <a:xfrm>
            <a:off x="457200" y="1354010"/>
            <a:ext cx="8229600" cy="4525963"/>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4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360"/>
              </a:spcBef>
              <a:spcAft>
                <a:spcPts val="0"/>
              </a:spcAft>
              <a:buSzPts val="1400"/>
              <a:buNone/>
              <a:defRPr/>
            </a:lvl4pPr>
            <a:lvl5pPr indent="-228600" lvl="4" marL="2286000" algn="l">
              <a:spcBef>
                <a:spcPts val="360"/>
              </a:spcBef>
              <a:spcAft>
                <a:spcPts val="0"/>
              </a:spcAft>
              <a:buSzPts val="14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 name="Shape 30"/>
        <p:cNvGrpSpPr/>
        <p:nvPr/>
      </p:nvGrpSpPr>
      <p:grpSpPr>
        <a:xfrm>
          <a:off x="0" y="0"/>
          <a:ext cx="0" cy="0"/>
          <a:chOff x="0" y="0"/>
          <a:chExt cx="0" cy="0"/>
        </a:xfrm>
      </p:grpSpPr>
      <p:sp>
        <p:nvSpPr>
          <p:cNvPr id="31" name="Google Shape;31;p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640"/>
              </a:spcBef>
              <a:spcAft>
                <a:spcPts val="0"/>
              </a:spcAft>
              <a:buClr>
                <a:srgbClr val="888888"/>
              </a:buClr>
              <a:buSzPts val="3200"/>
              <a:buNone/>
              <a:defRPr>
                <a:solidFill>
                  <a:srgbClr val="888888"/>
                </a:solidFill>
              </a:defRPr>
            </a:lvl2pPr>
            <a:lvl3pPr lvl="2" algn="ctr">
              <a:spcBef>
                <a:spcPts val="640"/>
              </a:spcBef>
              <a:spcAft>
                <a:spcPts val="0"/>
              </a:spcAft>
              <a:buClr>
                <a:srgbClr val="888888"/>
              </a:buClr>
              <a:buSzPts val="3200"/>
              <a:buNone/>
              <a:defRPr>
                <a:solidFill>
                  <a:srgbClr val="888888"/>
                </a:solidFill>
              </a:defRPr>
            </a:lvl3pPr>
            <a:lvl4pPr lvl="3" algn="ctr">
              <a:spcBef>
                <a:spcPts val="640"/>
              </a:spcBef>
              <a:spcAft>
                <a:spcPts val="0"/>
              </a:spcAft>
              <a:buClr>
                <a:srgbClr val="888888"/>
              </a:buClr>
              <a:buSzPts val="3200"/>
              <a:buNone/>
              <a:defRPr>
                <a:solidFill>
                  <a:srgbClr val="888888"/>
                </a:solidFill>
              </a:defRPr>
            </a:lvl4pPr>
            <a:lvl5pPr lvl="4" algn="ctr">
              <a:spcBef>
                <a:spcPts val="640"/>
              </a:spcBef>
              <a:spcAft>
                <a:spcPts val="0"/>
              </a:spcAft>
              <a:buClr>
                <a:srgbClr val="888888"/>
              </a:buClr>
              <a:buSzPts val="32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nvSpPr>
        <p:spPr>
          <a:xfrm>
            <a:off x="0" y="6407150"/>
            <a:ext cx="9145587" cy="457200"/>
          </a:xfrm>
          <a:prstGeom prst="rect">
            <a:avLst/>
          </a:pr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 name="Google Shape;11;p1"/>
          <p:cNvSpPr txBox="1"/>
          <p:nvPr>
            <p:ph type="title"/>
          </p:nvPr>
        </p:nvSpPr>
        <p:spPr>
          <a:xfrm>
            <a:off x="365125" y="395287"/>
            <a:ext cx="4359275" cy="1143000"/>
          </a:xfrm>
          <a:prstGeom prst="rect">
            <a:avLst/>
          </a:prstGeom>
          <a:noFill/>
          <a:ln>
            <a:noFill/>
          </a:ln>
        </p:spPr>
        <p:txBody>
          <a:bodyPr anchorCtr="0" anchor="t" bIns="0" lIns="0" spcFirstLastPara="1" rIns="0" wrap="square" tIns="0">
            <a:noAutofit/>
          </a:bodyPr>
          <a:lstStyle>
            <a:lvl1pPr lvl="0" marR="0" rtl="0" algn="l">
              <a:spcBef>
                <a:spcPts val="1440"/>
              </a:spcBef>
              <a:spcAft>
                <a:spcPts val="0"/>
              </a:spcAft>
              <a:buSzPts val="1400"/>
              <a:buNone/>
              <a:defRPr b="1" i="0" sz="3600" u="none" cap="none" strike="noStrike">
                <a:solidFill>
                  <a:schemeClr val="dk2"/>
                </a:solidFill>
                <a:latin typeface="Arial"/>
                <a:ea typeface="Arial"/>
                <a:cs typeface="Arial"/>
                <a:sym typeface="Arial"/>
              </a:defRPr>
            </a:lvl1pPr>
            <a:lvl2pPr lvl="1" marR="0" rtl="0" algn="l">
              <a:spcBef>
                <a:spcPts val="1440"/>
              </a:spcBef>
              <a:spcAft>
                <a:spcPts val="0"/>
              </a:spcAft>
              <a:buSzPts val="1400"/>
              <a:buNone/>
              <a:defRPr b="1" i="0" sz="3600" u="none" cap="none" strike="noStrike">
                <a:solidFill>
                  <a:schemeClr val="dk2"/>
                </a:solidFill>
                <a:latin typeface="Arial"/>
                <a:ea typeface="Arial"/>
                <a:cs typeface="Arial"/>
                <a:sym typeface="Arial"/>
              </a:defRPr>
            </a:lvl2pPr>
            <a:lvl3pPr lvl="2" marR="0" rtl="0" algn="l">
              <a:spcBef>
                <a:spcPts val="1440"/>
              </a:spcBef>
              <a:spcAft>
                <a:spcPts val="0"/>
              </a:spcAft>
              <a:buSzPts val="1400"/>
              <a:buNone/>
              <a:defRPr b="1" i="0" sz="3600" u="none" cap="none" strike="noStrike">
                <a:solidFill>
                  <a:schemeClr val="dk2"/>
                </a:solidFill>
                <a:latin typeface="Arial"/>
                <a:ea typeface="Arial"/>
                <a:cs typeface="Arial"/>
                <a:sym typeface="Arial"/>
              </a:defRPr>
            </a:lvl3pPr>
            <a:lvl4pPr lvl="3" marR="0" rtl="0" algn="l">
              <a:spcBef>
                <a:spcPts val="1440"/>
              </a:spcBef>
              <a:spcAft>
                <a:spcPts val="0"/>
              </a:spcAft>
              <a:buSzPts val="1400"/>
              <a:buNone/>
              <a:defRPr b="1" i="0" sz="3600" u="none" cap="none" strike="noStrike">
                <a:solidFill>
                  <a:schemeClr val="dk2"/>
                </a:solidFill>
                <a:latin typeface="Arial"/>
                <a:ea typeface="Arial"/>
                <a:cs typeface="Arial"/>
                <a:sym typeface="Arial"/>
              </a:defRPr>
            </a:lvl4pPr>
            <a:lvl5pPr lvl="4" marR="0" rtl="0" algn="l">
              <a:spcBef>
                <a:spcPts val="1440"/>
              </a:spcBef>
              <a:spcAft>
                <a:spcPts val="0"/>
              </a:spcAft>
              <a:buSzPts val="1400"/>
              <a:buNone/>
              <a:defRPr b="1" i="0" sz="3600" u="none" cap="none" strike="noStrike">
                <a:solidFill>
                  <a:schemeClr val="dk2"/>
                </a:solidFill>
                <a:latin typeface="Arial"/>
                <a:ea typeface="Arial"/>
                <a:cs typeface="Arial"/>
                <a:sym typeface="Arial"/>
              </a:defRPr>
            </a:lvl5pPr>
            <a:lvl6pPr lvl="5" marR="0" rtl="0" algn="l">
              <a:spcBef>
                <a:spcPts val="1440"/>
              </a:spcBef>
              <a:spcAft>
                <a:spcPts val="0"/>
              </a:spcAft>
              <a:buSzPts val="1400"/>
              <a:buNone/>
              <a:defRPr b="1" i="0" sz="3600" u="none" cap="none" strike="noStrike">
                <a:solidFill>
                  <a:schemeClr val="dk2"/>
                </a:solidFill>
                <a:latin typeface="Verdana"/>
                <a:ea typeface="Verdana"/>
                <a:cs typeface="Verdana"/>
                <a:sym typeface="Verdana"/>
              </a:defRPr>
            </a:lvl6pPr>
            <a:lvl7pPr lvl="6" marR="0" rtl="0" algn="l">
              <a:spcBef>
                <a:spcPts val="1440"/>
              </a:spcBef>
              <a:spcAft>
                <a:spcPts val="0"/>
              </a:spcAft>
              <a:buSzPts val="1400"/>
              <a:buNone/>
              <a:defRPr b="1" i="0" sz="3600" u="none" cap="none" strike="noStrike">
                <a:solidFill>
                  <a:schemeClr val="dk2"/>
                </a:solidFill>
                <a:latin typeface="Verdana"/>
                <a:ea typeface="Verdana"/>
                <a:cs typeface="Verdana"/>
                <a:sym typeface="Verdana"/>
              </a:defRPr>
            </a:lvl7pPr>
            <a:lvl8pPr lvl="7" marR="0" rtl="0" algn="l">
              <a:spcBef>
                <a:spcPts val="1440"/>
              </a:spcBef>
              <a:spcAft>
                <a:spcPts val="0"/>
              </a:spcAft>
              <a:buSzPts val="1400"/>
              <a:buNone/>
              <a:defRPr b="1" i="0" sz="3600" u="none" cap="none" strike="noStrike">
                <a:solidFill>
                  <a:schemeClr val="dk2"/>
                </a:solidFill>
                <a:latin typeface="Verdana"/>
                <a:ea typeface="Verdana"/>
                <a:cs typeface="Verdana"/>
                <a:sym typeface="Verdana"/>
              </a:defRPr>
            </a:lvl8pPr>
            <a:lvl9pPr lvl="8" marR="0" rtl="0" algn="l">
              <a:spcBef>
                <a:spcPts val="1440"/>
              </a:spcBef>
              <a:spcAft>
                <a:spcPts val="0"/>
              </a:spcAft>
              <a:buSzPts val="1400"/>
              <a:buNone/>
              <a:defRPr b="1" i="0" sz="3600" u="none" cap="none" strike="noStrike">
                <a:solidFill>
                  <a:schemeClr val="dk2"/>
                </a:solidFill>
                <a:latin typeface="Verdana"/>
                <a:ea typeface="Verdana"/>
                <a:cs typeface="Verdana"/>
                <a:sym typeface="Verdana"/>
              </a:defRPr>
            </a:lvl9pPr>
          </a:lstStyle>
          <a:p/>
        </p:txBody>
      </p:sp>
      <p:sp>
        <p:nvSpPr>
          <p:cNvPr id="12" name="Google Shape;12;p1"/>
          <p:cNvSpPr txBox="1"/>
          <p:nvPr>
            <p:ph idx="1" type="body"/>
          </p:nvPr>
        </p:nvSpPr>
        <p:spPr>
          <a:xfrm>
            <a:off x="365125" y="1762125"/>
            <a:ext cx="4359275" cy="4525962"/>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1" i="0" sz="2800" u="none" cap="none" strike="noStrike">
                <a:solidFill>
                  <a:schemeClr val="dk2"/>
                </a:solidFill>
                <a:latin typeface="Arial"/>
                <a:ea typeface="Arial"/>
                <a:cs typeface="Arial"/>
                <a:sym typeface="Arial"/>
              </a:defRPr>
            </a:lvl1pPr>
            <a:lvl2pPr indent="-228600" lvl="1" marL="914400" marR="0" rtl="0" algn="l">
              <a:spcBef>
                <a:spcPts val="0"/>
              </a:spcBef>
              <a:spcAft>
                <a:spcPts val="0"/>
              </a:spcAft>
              <a:buSzPts val="1400"/>
              <a:buNone/>
              <a:defRPr b="0" i="0" sz="2800" u="none" cap="none" strike="noStrike">
                <a:solidFill>
                  <a:schemeClr val="dk1"/>
                </a:solidFill>
                <a:latin typeface="Arial"/>
                <a:ea typeface="Arial"/>
                <a:cs typeface="Arial"/>
                <a:sym typeface="Arial"/>
              </a:defRPr>
            </a:lvl2pPr>
            <a:lvl3pPr indent="-350519" lvl="2" marL="1371600" marR="0" rtl="0" algn="l">
              <a:spcBef>
                <a:spcPts val="0"/>
              </a:spcBef>
              <a:spcAft>
                <a:spcPts val="0"/>
              </a:spcAft>
              <a:buClr>
                <a:schemeClr val="dk1"/>
              </a:buClr>
              <a:buSzPts val="1920"/>
              <a:buFont typeface="Arial"/>
              <a:buChar char="–"/>
              <a:defRPr b="0" i="0" sz="2400" u="none" cap="none" strike="noStrike">
                <a:solidFill>
                  <a:schemeClr val="dk1"/>
                </a:solidFill>
                <a:latin typeface="Verdana"/>
                <a:ea typeface="Verdana"/>
                <a:cs typeface="Verdana"/>
                <a:sym typeface="Verdana"/>
              </a:defRPr>
            </a:lvl3pPr>
            <a:lvl4pPr indent="-350519" lvl="3" marL="1828800" marR="0" rtl="0" algn="l">
              <a:spcBef>
                <a:spcPts val="0"/>
              </a:spcBef>
              <a:spcAft>
                <a:spcPts val="0"/>
              </a:spcAft>
              <a:buClr>
                <a:schemeClr val="dk1"/>
              </a:buClr>
              <a:buSzPts val="1920"/>
              <a:buFont typeface="Arial"/>
              <a:buChar char="○"/>
              <a:defRPr b="0" i="0" sz="2400" u="none" cap="none" strike="noStrike">
                <a:solidFill>
                  <a:schemeClr val="dk1"/>
                </a:solidFill>
                <a:latin typeface="Verdana"/>
                <a:ea typeface="Verdana"/>
                <a:cs typeface="Verdana"/>
                <a:sym typeface="Verdana"/>
              </a:defRPr>
            </a:lvl4pPr>
            <a:lvl5pPr indent="-381000" lvl="4" marL="2286000" marR="0" rtl="0" algn="l">
              <a:spcBef>
                <a:spcPts val="0"/>
              </a:spcBef>
              <a:spcAft>
                <a:spcPts val="0"/>
              </a:spcAft>
              <a:buClr>
                <a:schemeClr val="dk1"/>
              </a:buClr>
              <a:buSzPts val="2400"/>
              <a:buFont typeface="Verdana"/>
              <a:buChar char="»"/>
              <a:defRPr b="0" i="0" sz="2400" u="none" cap="none" strike="noStrike">
                <a:solidFill>
                  <a:schemeClr val="dk1"/>
                </a:solidFill>
                <a:latin typeface="Verdana"/>
                <a:ea typeface="Verdana"/>
                <a:cs typeface="Verdana"/>
                <a:sym typeface="Verdana"/>
              </a:defRPr>
            </a:lvl5pPr>
            <a:lvl6pPr indent="-381000" lvl="5" marL="2743200" marR="0" rtl="0" algn="l">
              <a:spcBef>
                <a:spcPts val="0"/>
              </a:spcBef>
              <a:spcAft>
                <a:spcPts val="0"/>
              </a:spcAft>
              <a:buClr>
                <a:schemeClr val="dk1"/>
              </a:buClr>
              <a:buSzPts val="2400"/>
              <a:buFont typeface="Verdana"/>
              <a:buChar char="»"/>
              <a:defRPr b="0" i="0" sz="2400" u="none" cap="none" strike="noStrike">
                <a:solidFill>
                  <a:schemeClr val="dk1"/>
                </a:solidFill>
                <a:latin typeface="Verdana"/>
                <a:ea typeface="Verdana"/>
                <a:cs typeface="Verdana"/>
                <a:sym typeface="Verdana"/>
              </a:defRPr>
            </a:lvl6pPr>
            <a:lvl7pPr indent="-381000" lvl="6" marL="3200400" marR="0" rtl="0" algn="l">
              <a:spcBef>
                <a:spcPts val="0"/>
              </a:spcBef>
              <a:spcAft>
                <a:spcPts val="0"/>
              </a:spcAft>
              <a:buClr>
                <a:schemeClr val="dk1"/>
              </a:buClr>
              <a:buSzPts val="2400"/>
              <a:buFont typeface="Verdana"/>
              <a:buChar char="»"/>
              <a:defRPr b="0" i="0" sz="2400" u="none" cap="none" strike="noStrike">
                <a:solidFill>
                  <a:schemeClr val="dk1"/>
                </a:solidFill>
                <a:latin typeface="Verdana"/>
                <a:ea typeface="Verdana"/>
                <a:cs typeface="Verdana"/>
                <a:sym typeface="Verdana"/>
              </a:defRPr>
            </a:lvl7pPr>
            <a:lvl8pPr indent="-381000" lvl="7" marL="3657600" marR="0" rtl="0" algn="l">
              <a:spcBef>
                <a:spcPts val="0"/>
              </a:spcBef>
              <a:spcAft>
                <a:spcPts val="0"/>
              </a:spcAft>
              <a:buClr>
                <a:schemeClr val="dk1"/>
              </a:buClr>
              <a:buSzPts val="2400"/>
              <a:buFont typeface="Verdana"/>
              <a:buChar char="»"/>
              <a:defRPr b="0" i="0" sz="2400" u="none" cap="none" strike="noStrike">
                <a:solidFill>
                  <a:schemeClr val="dk1"/>
                </a:solidFill>
                <a:latin typeface="Verdana"/>
                <a:ea typeface="Verdana"/>
                <a:cs typeface="Verdana"/>
                <a:sym typeface="Verdana"/>
              </a:defRPr>
            </a:lvl8pPr>
            <a:lvl9pPr indent="-381000" lvl="8" marL="4114800" marR="0" rtl="0" algn="l">
              <a:spcBef>
                <a:spcPts val="0"/>
              </a:spcBef>
              <a:spcAft>
                <a:spcPts val="0"/>
              </a:spcAft>
              <a:buClr>
                <a:schemeClr val="dk1"/>
              </a:buClr>
              <a:buSzPts val="2400"/>
              <a:buFont typeface="Verdana"/>
              <a:buChar char="»"/>
              <a:defRPr b="0" i="0" sz="2400" u="none" cap="none" strike="noStrike">
                <a:solidFill>
                  <a:schemeClr val="dk1"/>
                </a:solidFill>
                <a:latin typeface="Verdana"/>
                <a:ea typeface="Verdana"/>
                <a:cs typeface="Verdana"/>
                <a:sym typeface="Verdana"/>
              </a:defRPr>
            </a:lvl9pPr>
          </a:lstStyle>
          <a:p/>
        </p:txBody>
      </p:sp>
      <p:pic>
        <p:nvPicPr>
          <p:cNvPr descr="Pearson_Bound_White" id="13" name="Google Shape;13;p1"/>
          <p:cNvPicPr preferRelativeResize="0"/>
          <p:nvPr/>
        </p:nvPicPr>
        <p:blipFill rotWithShape="1">
          <a:blip r:embed="rId1">
            <a:alphaModFix/>
          </a:blip>
          <a:srcRect b="0" l="0" r="0" t="0"/>
          <a:stretch/>
        </p:blipFill>
        <p:spPr>
          <a:xfrm>
            <a:off x="6853237" y="6356350"/>
            <a:ext cx="1528762" cy="493712"/>
          </a:xfrm>
          <a:prstGeom prst="rect">
            <a:avLst/>
          </a:prstGeom>
          <a:noFill/>
          <a:ln>
            <a:noFill/>
          </a:ln>
        </p:spPr>
      </p:pic>
      <p:pic>
        <p:nvPicPr>
          <p:cNvPr descr="Pearson_Strap_Bound_White" id="14" name="Google Shape;14;p1"/>
          <p:cNvPicPr preferRelativeResize="0"/>
          <p:nvPr/>
        </p:nvPicPr>
        <p:blipFill rotWithShape="1">
          <a:blip r:embed="rId2">
            <a:alphaModFix/>
          </a:blip>
          <a:srcRect b="0" l="0" r="0" t="0"/>
          <a:stretch/>
        </p:blipFill>
        <p:spPr>
          <a:xfrm>
            <a:off x="0" y="6356350"/>
            <a:ext cx="1762125" cy="493712"/>
          </a:xfrm>
          <a:prstGeom prst="rect">
            <a:avLst/>
          </a:prstGeom>
          <a:noFill/>
          <a:ln>
            <a:noFill/>
          </a:ln>
        </p:spPr>
      </p:pic>
      <p:sp>
        <p:nvSpPr>
          <p:cNvPr id="15" name="Google Shape;15;p1"/>
          <p:cNvSpPr txBox="1"/>
          <p:nvPr/>
        </p:nvSpPr>
        <p:spPr>
          <a:xfrm>
            <a:off x="2611437" y="6526212"/>
            <a:ext cx="4495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BF5EA"/>
              </a:buClr>
              <a:buSzPts val="900"/>
              <a:buFont typeface="Arial"/>
              <a:buNone/>
            </a:pPr>
            <a:r>
              <a:rPr b="0" i="0" lang="en-US" sz="900" u="none">
                <a:solidFill>
                  <a:srgbClr val="FBF5EA"/>
                </a:solidFill>
                <a:latin typeface="Arial"/>
                <a:ea typeface="Arial"/>
                <a:cs typeface="Arial"/>
                <a:sym typeface="Arial"/>
              </a:rPr>
              <a:t>Copyright © 2015, 2011, and 2007 Pearson Education, Inc. </a:t>
            </a:r>
            <a:endParaRPr/>
          </a:p>
        </p:txBody>
      </p:sp>
      <p:sp>
        <p:nvSpPr>
          <p:cNvPr id="16" name="Google Shape;16;p1"/>
          <p:cNvSpPr txBox="1"/>
          <p:nvPr/>
        </p:nvSpPr>
        <p:spPr>
          <a:xfrm>
            <a:off x="8135937" y="6303962"/>
            <a:ext cx="842962"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FBF5EA"/>
              </a:buClr>
              <a:buSzPts val="1000"/>
              <a:buFont typeface="Arial"/>
              <a:buNone/>
            </a:pPr>
            <a:fld id="{00000000-1234-1234-1234-123412341234}" type="slidenum">
              <a:rPr b="1" i="0" lang="en-US" sz="1000" u="none">
                <a:solidFill>
                  <a:srgbClr val="FBF5EA"/>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sldLayoutIdLst>
    <p:sldLayoutId id="2147483648"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3"/>
          <p:cNvSpPr txBox="1"/>
          <p:nvPr>
            <p:ph type="title"/>
          </p:nvPr>
        </p:nvSpPr>
        <p:spPr>
          <a:xfrm>
            <a:off x="457200" y="80962"/>
            <a:ext cx="8229600" cy="833437"/>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Times"/>
                <a:ea typeface="Times"/>
                <a:cs typeface="Times"/>
                <a:sym typeface="Times"/>
              </a:defRPr>
            </a:lvl1pPr>
            <a:lvl2pPr lvl="1" marR="0" rtl="0" algn="ctr">
              <a:spcBef>
                <a:spcPts val="0"/>
              </a:spcBef>
              <a:spcAft>
                <a:spcPts val="0"/>
              </a:spcAft>
              <a:buSzPts val="1400"/>
              <a:buNone/>
              <a:defRPr b="0" i="0" sz="4400" u="none" cap="none" strike="noStrike">
                <a:solidFill>
                  <a:schemeClr val="dk1"/>
                </a:solidFill>
                <a:latin typeface="Times"/>
                <a:ea typeface="Times"/>
                <a:cs typeface="Times"/>
                <a:sym typeface="Times"/>
              </a:defRPr>
            </a:lvl2pPr>
            <a:lvl3pPr lvl="2" marR="0" rtl="0" algn="ctr">
              <a:spcBef>
                <a:spcPts val="0"/>
              </a:spcBef>
              <a:spcAft>
                <a:spcPts val="0"/>
              </a:spcAft>
              <a:buSzPts val="1400"/>
              <a:buNone/>
              <a:defRPr b="0" i="0" sz="4400" u="none" cap="none" strike="noStrike">
                <a:solidFill>
                  <a:schemeClr val="dk1"/>
                </a:solidFill>
                <a:latin typeface="Times"/>
                <a:ea typeface="Times"/>
                <a:cs typeface="Times"/>
                <a:sym typeface="Times"/>
              </a:defRPr>
            </a:lvl3pPr>
            <a:lvl4pPr lvl="3" marR="0" rtl="0" algn="ctr">
              <a:spcBef>
                <a:spcPts val="0"/>
              </a:spcBef>
              <a:spcAft>
                <a:spcPts val="0"/>
              </a:spcAft>
              <a:buSzPts val="1400"/>
              <a:buNone/>
              <a:defRPr b="0" i="0" sz="4400" u="none" cap="none" strike="noStrike">
                <a:solidFill>
                  <a:schemeClr val="dk1"/>
                </a:solidFill>
                <a:latin typeface="Times"/>
                <a:ea typeface="Times"/>
                <a:cs typeface="Times"/>
                <a:sym typeface="Times"/>
              </a:defRPr>
            </a:lvl4pPr>
            <a:lvl5pPr lvl="4" marR="0" rtl="0" algn="ctr">
              <a:spcBef>
                <a:spcPts val="0"/>
              </a:spcBef>
              <a:spcAft>
                <a:spcPts val="0"/>
              </a:spcAft>
              <a:buSzPts val="1400"/>
              <a:buNone/>
              <a:defRPr b="0" i="0" sz="4400" u="none" cap="none" strike="noStrike">
                <a:solidFill>
                  <a:schemeClr val="dk1"/>
                </a:solidFill>
                <a:latin typeface="Times"/>
                <a:ea typeface="Times"/>
                <a:cs typeface="Times"/>
                <a:sym typeface="Times"/>
              </a:defRPr>
            </a:lvl5pPr>
            <a:lvl6pPr lvl="5" marR="0" rtl="0" algn="ctr">
              <a:spcBef>
                <a:spcPts val="0"/>
              </a:spcBef>
              <a:spcAft>
                <a:spcPts val="0"/>
              </a:spcAft>
              <a:buSzPts val="1400"/>
              <a:buNone/>
              <a:defRPr b="0" i="0" sz="4800" u="none" cap="none" strike="noStrike">
                <a:solidFill>
                  <a:schemeClr val="dk1"/>
                </a:solidFill>
                <a:latin typeface="Times"/>
                <a:ea typeface="Times"/>
                <a:cs typeface="Times"/>
                <a:sym typeface="Times"/>
              </a:defRPr>
            </a:lvl6pPr>
            <a:lvl7pPr lvl="6" marR="0" rtl="0" algn="ctr">
              <a:spcBef>
                <a:spcPts val="0"/>
              </a:spcBef>
              <a:spcAft>
                <a:spcPts val="0"/>
              </a:spcAft>
              <a:buSzPts val="1400"/>
              <a:buNone/>
              <a:defRPr b="0" i="0" sz="4800" u="none" cap="none" strike="noStrike">
                <a:solidFill>
                  <a:schemeClr val="dk1"/>
                </a:solidFill>
                <a:latin typeface="Times"/>
                <a:ea typeface="Times"/>
                <a:cs typeface="Times"/>
                <a:sym typeface="Times"/>
              </a:defRPr>
            </a:lvl7pPr>
            <a:lvl8pPr lvl="7" marR="0" rtl="0" algn="ctr">
              <a:spcBef>
                <a:spcPts val="0"/>
              </a:spcBef>
              <a:spcAft>
                <a:spcPts val="0"/>
              </a:spcAft>
              <a:buSzPts val="1400"/>
              <a:buNone/>
              <a:defRPr b="0" i="0" sz="4800" u="none" cap="none" strike="noStrike">
                <a:solidFill>
                  <a:schemeClr val="dk1"/>
                </a:solidFill>
                <a:latin typeface="Times"/>
                <a:ea typeface="Times"/>
                <a:cs typeface="Times"/>
                <a:sym typeface="Times"/>
              </a:defRPr>
            </a:lvl8pPr>
            <a:lvl9pPr lvl="8" marR="0" rtl="0" algn="ctr">
              <a:spcBef>
                <a:spcPts val="0"/>
              </a:spcBef>
              <a:spcAft>
                <a:spcPts val="0"/>
              </a:spcAft>
              <a:buSzPts val="1400"/>
              <a:buNone/>
              <a:defRPr b="0" i="0" sz="4800" u="none" cap="none" strike="noStrike">
                <a:solidFill>
                  <a:schemeClr val="dk1"/>
                </a:solidFill>
                <a:latin typeface="Times"/>
                <a:ea typeface="Times"/>
                <a:cs typeface="Times"/>
                <a:sym typeface="Times"/>
              </a:defRPr>
            </a:lvl9pPr>
          </a:lstStyle>
          <a:p/>
        </p:txBody>
      </p:sp>
      <p:sp>
        <p:nvSpPr>
          <p:cNvPr id="20" name="Google Shape;20;p3"/>
          <p:cNvSpPr txBox="1"/>
          <p:nvPr>
            <p:ph idx="1" type="body"/>
          </p:nvPr>
        </p:nvSpPr>
        <p:spPr>
          <a:xfrm>
            <a:off x="457200" y="1212850"/>
            <a:ext cx="8521700" cy="48974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640"/>
              </a:spcBef>
              <a:spcAft>
                <a:spcPts val="0"/>
              </a:spcAft>
              <a:buSzPts val="1400"/>
              <a:buNone/>
              <a:defRPr b="0" i="0" sz="3200" u="none" cap="none" strike="noStrike">
                <a:solidFill>
                  <a:schemeClr val="dk1"/>
                </a:solidFill>
                <a:latin typeface="Times"/>
                <a:ea typeface="Times"/>
                <a:cs typeface="Times"/>
                <a:sym typeface="Times"/>
              </a:defRPr>
            </a:lvl1pPr>
            <a:lvl2pPr indent="-228600" lvl="1" marL="914400" marR="0" rtl="0" algn="l">
              <a:spcBef>
                <a:spcPts val="640"/>
              </a:spcBef>
              <a:spcAft>
                <a:spcPts val="0"/>
              </a:spcAft>
              <a:buSzPts val="1400"/>
              <a:buNone/>
              <a:defRPr b="0" i="0" sz="3200" u="none" cap="none" strike="noStrike">
                <a:solidFill>
                  <a:schemeClr val="dk1"/>
                </a:solidFill>
                <a:latin typeface="Times"/>
                <a:ea typeface="Times"/>
                <a:cs typeface="Times"/>
                <a:sym typeface="Times"/>
              </a:defRPr>
            </a:lvl2pPr>
            <a:lvl3pPr indent="-228600" lvl="2" marL="1371600" marR="0" rtl="0" algn="l">
              <a:spcBef>
                <a:spcPts val="640"/>
              </a:spcBef>
              <a:spcAft>
                <a:spcPts val="0"/>
              </a:spcAft>
              <a:buSzPts val="1400"/>
              <a:buNone/>
              <a:defRPr b="0" i="0" sz="3200" u="none" cap="none" strike="noStrike">
                <a:solidFill>
                  <a:schemeClr val="dk1"/>
                </a:solidFill>
                <a:latin typeface="Times"/>
                <a:ea typeface="Times"/>
                <a:cs typeface="Times"/>
                <a:sym typeface="Times"/>
              </a:defRPr>
            </a:lvl3pPr>
            <a:lvl4pPr indent="-228600" lvl="3" marL="1828800" marR="0" rtl="0" algn="l">
              <a:spcBef>
                <a:spcPts val="640"/>
              </a:spcBef>
              <a:spcAft>
                <a:spcPts val="0"/>
              </a:spcAft>
              <a:buSzPts val="1400"/>
              <a:buNone/>
              <a:defRPr b="0" i="0" sz="3200" u="none" cap="none" strike="noStrike">
                <a:solidFill>
                  <a:schemeClr val="dk1"/>
                </a:solidFill>
                <a:latin typeface="Times"/>
                <a:ea typeface="Times"/>
                <a:cs typeface="Times"/>
                <a:sym typeface="Times"/>
              </a:defRPr>
            </a:lvl4pPr>
            <a:lvl5pPr indent="-228600" lvl="4" marL="2286000" marR="0" rtl="0" algn="l">
              <a:spcBef>
                <a:spcPts val="640"/>
              </a:spcBef>
              <a:spcAft>
                <a:spcPts val="0"/>
              </a:spcAft>
              <a:buSzPts val="1400"/>
              <a:buNone/>
              <a:defRPr b="0" i="0" sz="3200" u="none" cap="none" strike="noStrike">
                <a:solidFill>
                  <a:schemeClr val="dk1"/>
                </a:solidFill>
                <a:latin typeface="Times"/>
                <a:ea typeface="Times"/>
                <a:cs typeface="Times"/>
                <a:sym typeface="Time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1" name="Google Shape;21;p3"/>
          <p:cNvSpPr txBox="1"/>
          <p:nvPr/>
        </p:nvSpPr>
        <p:spPr>
          <a:xfrm>
            <a:off x="0" y="6407150"/>
            <a:ext cx="9145587" cy="457200"/>
          </a:xfrm>
          <a:prstGeom prst="rect">
            <a:avLst/>
          </a:prstGeom>
          <a:solidFill>
            <a:srgbClr val="36439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Pearson_Bound_White" id="22" name="Google Shape;22;p3"/>
          <p:cNvPicPr preferRelativeResize="0"/>
          <p:nvPr/>
        </p:nvPicPr>
        <p:blipFill rotWithShape="1">
          <a:blip r:embed="rId1">
            <a:alphaModFix/>
          </a:blip>
          <a:srcRect b="0" l="0" r="0" t="0"/>
          <a:stretch/>
        </p:blipFill>
        <p:spPr>
          <a:xfrm>
            <a:off x="6853237" y="6356350"/>
            <a:ext cx="1528762" cy="493712"/>
          </a:xfrm>
          <a:prstGeom prst="rect">
            <a:avLst/>
          </a:prstGeom>
          <a:noFill/>
          <a:ln>
            <a:noFill/>
          </a:ln>
        </p:spPr>
      </p:pic>
      <p:pic>
        <p:nvPicPr>
          <p:cNvPr descr="Pearson_Strap_Bound_White" id="23" name="Google Shape;23;p3"/>
          <p:cNvPicPr preferRelativeResize="0"/>
          <p:nvPr/>
        </p:nvPicPr>
        <p:blipFill rotWithShape="1">
          <a:blip r:embed="rId2">
            <a:alphaModFix/>
          </a:blip>
          <a:srcRect b="0" l="0" r="0" t="0"/>
          <a:stretch/>
        </p:blipFill>
        <p:spPr>
          <a:xfrm>
            <a:off x="0" y="6356350"/>
            <a:ext cx="1762125" cy="493712"/>
          </a:xfrm>
          <a:prstGeom prst="rect">
            <a:avLst/>
          </a:prstGeom>
          <a:noFill/>
          <a:ln>
            <a:noFill/>
          </a:ln>
        </p:spPr>
      </p:pic>
      <p:sp>
        <p:nvSpPr>
          <p:cNvPr id="24" name="Google Shape;24;p3"/>
          <p:cNvSpPr txBox="1"/>
          <p:nvPr/>
        </p:nvSpPr>
        <p:spPr>
          <a:xfrm>
            <a:off x="2611437" y="6526212"/>
            <a:ext cx="4495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BF5EA"/>
              </a:buClr>
              <a:buSzPts val="900"/>
              <a:buFont typeface="Arial"/>
              <a:buNone/>
            </a:pPr>
            <a:r>
              <a:rPr b="0" i="0" lang="en-US" sz="900" u="none">
                <a:solidFill>
                  <a:srgbClr val="FBF5EA"/>
                </a:solidFill>
                <a:latin typeface="Arial"/>
                <a:ea typeface="Arial"/>
                <a:cs typeface="Arial"/>
                <a:sym typeface="Arial"/>
              </a:rPr>
              <a:t>Copyright © 2015, 2011, and 2007 Pearson Education, Inc. </a:t>
            </a:r>
            <a:endParaRPr/>
          </a:p>
        </p:txBody>
      </p:sp>
      <p:sp>
        <p:nvSpPr>
          <p:cNvPr id="25" name="Google Shape;25;p3"/>
          <p:cNvSpPr txBox="1"/>
          <p:nvPr/>
        </p:nvSpPr>
        <p:spPr>
          <a:xfrm>
            <a:off x="8135937" y="6303962"/>
            <a:ext cx="842962"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FBF5EA"/>
              </a:buClr>
              <a:buSzPts val="1000"/>
              <a:buFont typeface="Arial"/>
              <a:buNone/>
            </a:pPr>
            <a:fld id="{00000000-1234-1234-1234-123412341234}" type="slidenum">
              <a:rPr b="1" i="0" lang="en-US" sz="1000" u="none">
                <a:solidFill>
                  <a:srgbClr val="FBF5EA"/>
                </a:solidFill>
                <a:latin typeface="Arial"/>
                <a:ea typeface="Arial"/>
                <a:cs typeface="Arial"/>
                <a:sym typeface="Arial"/>
              </a:rPr>
              <a:t>‹#›</a:t>
            </a:fld>
            <a:endParaRPr/>
          </a:p>
        </p:txBody>
      </p:sp>
      <p:sp>
        <p:nvSpPr>
          <p:cNvPr id="26" name="Google Shape;26;p3"/>
          <p:cNvSpPr txBox="1"/>
          <p:nvPr/>
        </p:nvSpPr>
        <p:spPr>
          <a:xfrm>
            <a:off x="12700" y="1044575"/>
            <a:ext cx="9145587" cy="58737"/>
          </a:xfrm>
          <a:prstGeom prst="rect">
            <a:avLst/>
          </a:prstGeom>
          <a:solidFill>
            <a:srgbClr val="36439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10.png"/><Relationship Id="rId5" Type="http://schemas.openxmlformats.org/officeDocument/2006/relationships/image" Target="../media/image25.png"/><Relationship Id="rId6"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6"/>
          <p:cNvSpPr txBox="1"/>
          <p:nvPr/>
        </p:nvSpPr>
        <p:spPr>
          <a:xfrm>
            <a:off x="-1177925" y="1538287"/>
            <a:ext cx="9144000" cy="175418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800"/>
              <a:buFont typeface="Avenir"/>
              <a:buNone/>
            </a:pPr>
            <a:br>
              <a:rPr b="0" i="0" lang="en-US" sz="4800" u="none">
                <a:solidFill>
                  <a:schemeClr val="dk1"/>
                </a:solidFill>
                <a:latin typeface="Avenir"/>
                <a:ea typeface="Avenir"/>
                <a:cs typeface="Avenir"/>
                <a:sym typeface="Avenir"/>
              </a:rPr>
            </a:br>
            <a:r>
              <a:rPr b="1" i="0" lang="en-US" sz="4800" u="none">
                <a:solidFill>
                  <a:schemeClr val="dk1"/>
                </a:solidFill>
                <a:latin typeface="Avenir"/>
                <a:ea typeface="Avenir"/>
                <a:cs typeface="Avenir"/>
                <a:sym typeface="Avenir"/>
              </a:rPr>
              <a:t>Ratios</a:t>
            </a:r>
            <a:endParaRPr/>
          </a:p>
        </p:txBody>
      </p:sp>
      <p:sp>
        <p:nvSpPr>
          <p:cNvPr id="38" name="Google Shape;38;p6"/>
          <p:cNvSpPr txBox="1"/>
          <p:nvPr/>
        </p:nvSpPr>
        <p:spPr>
          <a:xfrm>
            <a:off x="111125" y="5868987"/>
            <a:ext cx="8888412" cy="400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Textbook: </a:t>
            </a:r>
            <a:r>
              <a:rPr b="0" i="0" lang="en-US" sz="2000" u="none">
                <a:solidFill>
                  <a:schemeClr val="dk1"/>
                </a:solidFill>
                <a:latin typeface="Arial"/>
                <a:ea typeface="Arial"/>
                <a:cs typeface="Arial"/>
                <a:sym typeface="Arial"/>
              </a:rPr>
              <a:t>Business Mathematics by Gary Clendenen and Stanley Salzman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7"/>
          <p:cNvSpPr txBox="1"/>
          <p:nvPr>
            <p:ph type="title"/>
          </p:nvPr>
        </p:nvSpPr>
        <p:spPr>
          <a:xfrm>
            <a:off x="457200" y="-55562"/>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Define a Ratio</a:t>
            </a:r>
            <a:endParaRPr/>
          </a:p>
        </p:txBody>
      </p:sp>
      <p:sp>
        <p:nvSpPr>
          <p:cNvPr id="44" name="Google Shape;44;p7"/>
          <p:cNvSpPr txBox="1"/>
          <p:nvPr>
            <p:ph idx="1" type="body"/>
          </p:nvPr>
        </p:nvSpPr>
        <p:spPr>
          <a:xfrm>
            <a:off x="457200" y="1076325"/>
            <a:ext cx="8407400" cy="27098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200"/>
              <a:buFont typeface="Arial"/>
              <a:buNone/>
            </a:pPr>
            <a:r>
              <a:rPr b="0" i="0" lang="en-US" sz="3200" u="none" cap="none" strike="noStrike">
                <a:solidFill>
                  <a:srgbClr val="141413"/>
                </a:solidFill>
                <a:latin typeface="Times New Roman"/>
                <a:ea typeface="Times New Roman"/>
                <a:cs typeface="Times New Roman"/>
                <a:sym typeface="Times New Roman"/>
              </a:rPr>
              <a:t>A </a:t>
            </a:r>
            <a:r>
              <a:rPr b="1" i="0" lang="en-US" sz="3200" u="none" cap="none" strike="noStrike">
                <a:solidFill>
                  <a:srgbClr val="141413"/>
                </a:solidFill>
                <a:latin typeface="Times New Roman"/>
                <a:ea typeface="Times New Roman"/>
                <a:cs typeface="Times New Roman"/>
                <a:sym typeface="Times New Roman"/>
              </a:rPr>
              <a:t>ratio </a:t>
            </a:r>
            <a:r>
              <a:rPr b="0" i="0" lang="en-US" sz="3200" u="none" cap="none" strike="noStrike">
                <a:solidFill>
                  <a:srgbClr val="141413"/>
                </a:solidFill>
                <a:latin typeface="Times New Roman"/>
                <a:ea typeface="Times New Roman"/>
                <a:cs typeface="Times New Roman"/>
                <a:sym typeface="Times New Roman"/>
              </a:rPr>
              <a:t>is a quotient of two quantities that is used to </a:t>
            </a:r>
            <a:r>
              <a:rPr b="0" i="1" lang="en-US" sz="3200" u="none" cap="none" strike="noStrike">
                <a:solidFill>
                  <a:srgbClr val="141413"/>
                </a:solidFill>
                <a:latin typeface="Times New Roman"/>
                <a:ea typeface="Times New Roman"/>
                <a:cs typeface="Times New Roman"/>
                <a:sym typeface="Times New Roman"/>
              </a:rPr>
              <a:t>compare </a:t>
            </a:r>
            <a:r>
              <a:rPr b="0" i="0" lang="en-US" sz="3200" u="none" cap="none" strike="noStrike">
                <a:solidFill>
                  <a:srgbClr val="141413"/>
                </a:solidFill>
                <a:latin typeface="Times New Roman"/>
                <a:ea typeface="Times New Roman"/>
                <a:cs typeface="Times New Roman"/>
                <a:sym typeface="Times New Roman"/>
              </a:rPr>
              <a:t>the quantities.</a:t>
            </a:r>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New Roman"/>
                <a:ea typeface="Times New Roman"/>
                <a:cs typeface="Times New Roman"/>
                <a:sym typeface="Times New Roman"/>
              </a:rPr>
              <a:t>The ratio of the number </a:t>
            </a:r>
            <a:r>
              <a:rPr b="0" i="1" lang="en-US" sz="3200" u="none" cap="none" strike="noStrike">
                <a:solidFill>
                  <a:srgbClr val="141413"/>
                </a:solidFill>
                <a:latin typeface="Times New Roman"/>
                <a:ea typeface="Times New Roman"/>
                <a:cs typeface="Times New Roman"/>
                <a:sym typeface="Times New Roman"/>
              </a:rPr>
              <a:t>a </a:t>
            </a:r>
            <a:r>
              <a:rPr b="0" i="0" lang="en-US" sz="3200" u="none" cap="none" strike="noStrike">
                <a:solidFill>
                  <a:srgbClr val="141413"/>
                </a:solidFill>
                <a:latin typeface="Times New Roman"/>
                <a:ea typeface="Times New Roman"/>
                <a:cs typeface="Times New Roman"/>
                <a:sym typeface="Times New Roman"/>
              </a:rPr>
              <a:t>to the number </a:t>
            </a:r>
            <a:r>
              <a:rPr b="0" i="1" lang="en-US" sz="3200" u="none" cap="none" strike="noStrike">
                <a:solidFill>
                  <a:srgbClr val="141413"/>
                </a:solidFill>
                <a:latin typeface="Times New Roman"/>
                <a:ea typeface="Times New Roman"/>
                <a:cs typeface="Times New Roman"/>
                <a:sym typeface="Times New Roman"/>
              </a:rPr>
              <a:t>b </a:t>
            </a:r>
            <a:r>
              <a:rPr b="0" i="0" lang="en-US" sz="3200" u="none" cap="none" strike="noStrike">
                <a:solidFill>
                  <a:srgbClr val="141413"/>
                </a:solidFill>
                <a:latin typeface="Times New Roman"/>
                <a:ea typeface="Times New Roman"/>
                <a:cs typeface="Times New Roman"/>
                <a:sym typeface="Times New Roman"/>
              </a:rPr>
              <a:t>is written in any of the following ways</a:t>
            </a:r>
            <a:r>
              <a:rPr b="0" i="1" lang="en-US" sz="3200" u="none" cap="none" strike="noStrike">
                <a:solidFill>
                  <a:srgbClr val="141413"/>
                </a:solidFill>
                <a:latin typeface="Times New Roman"/>
                <a:ea typeface="Times New Roman"/>
                <a:cs typeface="Times New Roman"/>
                <a:sym typeface="Times New Roman"/>
              </a:rPr>
              <a:t>.</a:t>
            </a:r>
            <a:endParaRPr/>
          </a:p>
        </p:txBody>
      </p:sp>
      <p:sp>
        <p:nvSpPr>
          <p:cNvPr id="45" name="Google Shape;45;p7"/>
          <p:cNvSpPr txBox="1"/>
          <p:nvPr/>
        </p:nvSpPr>
        <p:spPr>
          <a:xfrm>
            <a:off x="7010400" y="6496050"/>
            <a:ext cx="2133600" cy="365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EB24B"/>
              </a:buClr>
              <a:buSzPts val="1200"/>
              <a:buFont typeface="Calibri"/>
              <a:buNone/>
            </a:pPr>
            <a:r>
              <a:rPr b="0" i="0" lang="en-US" sz="1200" u="none">
                <a:solidFill>
                  <a:srgbClr val="5EB24B"/>
                </a:solidFill>
                <a:latin typeface="Calibri"/>
                <a:ea typeface="Calibri"/>
                <a:cs typeface="Calibri"/>
                <a:sym typeface="Calibri"/>
              </a:rPr>
              <a:t>4.4- </a:t>
            </a:r>
            <a:fld id="{00000000-1234-1234-1234-123412341234}" type="slidenum">
              <a:rPr b="0" i="0" lang="en-US" sz="1200" u="none">
                <a:solidFill>
                  <a:srgbClr val="5EB24B"/>
                </a:solidFill>
                <a:latin typeface="Calibri"/>
                <a:ea typeface="Calibri"/>
                <a:cs typeface="Calibri"/>
                <a:sym typeface="Calibri"/>
              </a:rPr>
              <a:t>‹#›</a:t>
            </a:fld>
            <a:endParaRPr/>
          </a:p>
        </p:txBody>
      </p:sp>
      <p:pic>
        <p:nvPicPr>
          <p:cNvPr id="46" name="Google Shape;46;p7"/>
          <p:cNvPicPr preferRelativeResize="0"/>
          <p:nvPr/>
        </p:nvPicPr>
        <p:blipFill rotWithShape="1">
          <a:blip r:embed="rId3">
            <a:alphaModFix/>
          </a:blip>
          <a:srcRect b="0" l="0" r="0" t="0"/>
          <a:stretch/>
        </p:blipFill>
        <p:spPr>
          <a:xfrm>
            <a:off x="2382837" y="3251200"/>
            <a:ext cx="3289300" cy="1054100"/>
          </a:xfrm>
          <a:prstGeom prst="rect">
            <a:avLst/>
          </a:prstGeom>
          <a:noFill/>
          <a:ln>
            <a:noFill/>
          </a:ln>
        </p:spPr>
      </p:pic>
      <p:sp>
        <p:nvSpPr>
          <p:cNvPr id="47" name="Google Shape;47;p7"/>
          <p:cNvSpPr txBox="1"/>
          <p:nvPr/>
        </p:nvSpPr>
        <p:spPr>
          <a:xfrm>
            <a:off x="450850" y="4241800"/>
            <a:ext cx="8407400" cy="27098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200"/>
              <a:buFont typeface="Times New Roman"/>
              <a:buNone/>
            </a:pPr>
            <a:r>
              <a:rPr b="0" i="0" lang="en-US" sz="3200" u="none">
                <a:solidFill>
                  <a:srgbClr val="141413"/>
                </a:solidFill>
                <a:latin typeface="Times New Roman"/>
                <a:ea typeface="Times New Roman"/>
                <a:cs typeface="Times New Roman"/>
                <a:sym typeface="Times New Roman"/>
              </a:rPr>
              <a:t>All are pronounced “</a:t>
            </a:r>
            <a:r>
              <a:rPr b="0" i="1" lang="en-US" sz="3200" u="none">
                <a:solidFill>
                  <a:srgbClr val="141413"/>
                </a:solidFill>
                <a:latin typeface="Times New Roman"/>
                <a:ea typeface="Times New Roman"/>
                <a:cs typeface="Times New Roman"/>
                <a:sym typeface="Times New Roman"/>
              </a:rPr>
              <a:t>a to b” or “a is to b.”</a:t>
            </a:r>
            <a:endParaRPr/>
          </a:p>
          <a:p>
            <a:pPr indent="0" lvl="0" marL="0" marR="0" rtl="0" algn="l">
              <a:lnSpc>
                <a:spcPct val="100000"/>
              </a:lnSpc>
              <a:spcBef>
                <a:spcPts val="640"/>
              </a:spcBef>
              <a:spcAft>
                <a:spcPts val="0"/>
              </a:spcAft>
              <a:buClr>
                <a:srgbClr val="141413"/>
              </a:buClr>
              <a:buSzPts val="3200"/>
              <a:buFont typeface="Times New Roman"/>
              <a:buNone/>
            </a:pPr>
            <a:r>
              <a:rPr b="0" i="0" lang="en-US" sz="3200" u="none">
                <a:solidFill>
                  <a:srgbClr val="141413"/>
                </a:solidFill>
                <a:latin typeface="Times New Roman"/>
                <a:ea typeface="Times New Roman"/>
                <a:cs typeface="Times New Roman"/>
                <a:sym typeface="Times New Roman"/>
              </a:rPr>
              <a:t>This last way of writing a ratio is most common in mathematics, while </a:t>
            </a:r>
            <a:r>
              <a:rPr b="0" i="1" lang="en-US" sz="3200" u="none">
                <a:solidFill>
                  <a:srgbClr val="141413"/>
                </a:solidFill>
                <a:latin typeface="Times New Roman"/>
                <a:ea typeface="Times New Roman"/>
                <a:cs typeface="Times New Roman"/>
                <a:sym typeface="Times New Roman"/>
              </a:rPr>
              <a:t>a</a:t>
            </a:r>
            <a:r>
              <a:rPr b="0" i="0" lang="en-US" sz="3200" u="none">
                <a:solidFill>
                  <a:srgbClr val="141413"/>
                </a:solidFill>
                <a:latin typeface="Times New Roman"/>
                <a:ea typeface="Times New Roman"/>
                <a:cs typeface="Times New Roman"/>
                <a:sym typeface="Times New Roman"/>
              </a:rPr>
              <a:t>:</a:t>
            </a:r>
            <a:r>
              <a:rPr b="0" i="1" lang="en-US" sz="3200" u="none">
                <a:solidFill>
                  <a:srgbClr val="141413"/>
                </a:solidFill>
                <a:latin typeface="Times New Roman"/>
                <a:ea typeface="Times New Roman"/>
                <a:cs typeface="Times New Roman"/>
                <a:sym typeface="Times New Roman"/>
              </a:rPr>
              <a:t>b</a:t>
            </a:r>
            <a:r>
              <a:rPr b="0" i="0" lang="en-US" sz="3200" u="none">
                <a:solidFill>
                  <a:srgbClr val="141413"/>
                </a:solidFill>
                <a:latin typeface="Times New Roman"/>
                <a:ea typeface="Times New Roman"/>
                <a:cs typeface="Times New Roman"/>
                <a:sym typeface="Times New Roman"/>
              </a:rPr>
              <a:t> is perhaps more common in business.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8"/>
          <p:cNvSpPr txBox="1"/>
          <p:nvPr>
            <p:ph type="title"/>
          </p:nvPr>
        </p:nvSpPr>
        <p:spPr>
          <a:xfrm>
            <a:off x="457200" y="147637"/>
            <a:ext cx="8229600" cy="939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53" name="Google Shape;53;p8"/>
          <p:cNvSpPr txBox="1"/>
          <p:nvPr>
            <p:ph idx="1" type="body"/>
          </p:nvPr>
        </p:nvSpPr>
        <p:spPr>
          <a:xfrm>
            <a:off x="685800" y="1409700"/>
            <a:ext cx="8001000" cy="236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Write a ratio in the form </a:t>
            </a:r>
            <a:r>
              <a:rPr b="0" i="1" lang="en-US" sz="3200" u="none" cap="none" strike="noStrike">
                <a:solidFill>
                  <a:schemeClr val="dk1"/>
                </a:solidFill>
                <a:latin typeface="Times"/>
                <a:ea typeface="Times"/>
                <a:cs typeface="Times"/>
                <a:sym typeface="Times"/>
              </a:rPr>
              <a:t>a</a:t>
            </a:r>
            <a:r>
              <a:rPr b="0" i="0" lang="en-US" sz="3200" u="none" cap="none" strike="noStrike">
                <a:solidFill>
                  <a:schemeClr val="dk1"/>
                </a:solidFill>
                <a:latin typeface="Times"/>
                <a:ea typeface="Times"/>
                <a:cs typeface="Times"/>
                <a:sym typeface="Times"/>
              </a:rPr>
              <a:t>/</a:t>
            </a:r>
            <a:r>
              <a:rPr b="0" i="1" lang="en-US" sz="3200" u="none" cap="none" strike="noStrike">
                <a:solidFill>
                  <a:schemeClr val="dk1"/>
                </a:solidFill>
                <a:latin typeface="Times"/>
                <a:ea typeface="Times"/>
                <a:cs typeface="Times"/>
                <a:sym typeface="Times"/>
              </a:rPr>
              <a:t>b</a:t>
            </a:r>
            <a:r>
              <a:rPr b="0" i="0" lang="en-US" sz="3200" u="none" cap="none" strike="noStrike">
                <a:solidFill>
                  <a:schemeClr val="dk1"/>
                </a:solidFill>
                <a:latin typeface="Times"/>
                <a:ea typeface="Times"/>
                <a:cs typeface="Times"/>
                <a:sym typeface="Times"/>
              </a:rPr>
              <a:t> for each word phrase. Notice in each example that the number mentioned first is always the numerator.</a:t>
            </a:r>
            <a:endParaRPr/>
          </a:p>
        </p:txBody>
      </p:sp>
      <p:sp>
        <p:nvSpPr>
          <p:cNvPr id="54" name="Google Shape;54;p8"/>
          <p:cNvSpPr txBox="1"/>
          <p:nvPr/>
        </p:nvSpPr>
        <p:spPr>
          <a:xfrm>
            <a:off x="698500" y="3962400"/>
            <a:ext cx="8001000" cy="838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Times"/>
              <a:buNone/>
            </a:pPr>
            <a:r>
              <a:rPr b="0" i="0" lang="en-US" sz="3200" u="none">
                <a:solidFill>
                  <a:schemeClr val="dk1"/>
                </a:solidFill>
                <a:latin typeface="Times"/>
                <a:ea typeface="Times"/>
                <a:cs typeface="Times"/>
                <a:sym typeface="Times"/>
              </a:rPr>
              <a:t>(a)	The ratio of 5 hours to 3 hours is</a:t>
            </a:r>
            <a:endParaRPr/>
          </a:p>
        </p:txBody>
      </p:sp>
      <p:pic>
        <p:nvPicPr>
          <p:cNvPr id="55" name="Google Shape;55;p8"/>
          <p:cNvPicPr preferRelativeResize="0"/>
          <p:nvPr/>
        </p:nvPicPr>
        <p:blipFill rotWithShape="1">
          <a:blip r:embed="rId3">
            <a:alphaModFix/>
          </a:blip>
          <a:srcRect b="0" l="0" r="0" t="0"/>
          <a:stretch/>
        </p:blipFill>
        <p:spPr>
          <a:xfrm>
            <a:off x="4229100" y="4876800"/>
            <a:ext cx="342900" cy="1054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9"/>
          <p:cNvSpPr txBox="1"/>
          <p:nvPr>
            <p:ph type="title"/>
          </p:nvPr>
        </p:nvSpPr>
        <p:spPr>
          <a:xfrm>
            <a:off x="457200" y="147637"/>
            <a:ext cx="8229600" cy="939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61" name="Google Shape;61;p9"/>
          <p:cNvSpPr txBox="1"/>
          <p:nvPr>
            <p:ph idx="1" type="body"/>
          </p:nvPr>
        </p:nvSpPr>
        <p:spPr>
          <a:xfrm>
            <a:off x="685800" y="1409700"/>
            <a:ext cx="8001000" cy="2362200"/>
          </a:xfrm>
          <a:prstGeom prst="rect">
            <a:avLst/>
          </a:prstGeom>
          <a:noFill/>
          <a:ln>
            <a:noFill/>
          </a:ln>
        </p:spPr>
        <p:txBody>
          <a:bodyPr anchorCtr="0" anchor="t" bIns="45700" lIns="91425" spcFirstLastPara="1" rIns="91425" wrap="square" tIns="45700">
            <a:noAutofit/>
          </a:bodyPr>
          <a:lstStyle/>
          <a:p>
            <a:pPr indent="-685800" lvl="0" marL="68580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(b)	Find the ratio of 5 hours to 3 days.</a:t>
            </a:r>
            <a:endParaRPr/>
          </a:p>
        </p:txBody>
      </p:sp>
      <p:sp>
        <p:nvSpPr>
          <p:cNvPr id="62" name="Google Shape;62;p9"/>
          <p:cNvSpPr txBox="1"/>
          <p:nvPr/>
        </p:nvSpPr>
        <p:spPr>
          <a:xfrm>
            <a:off x="685800" y="2146300"/>
            <a:ext cx="8001000" cy="2387600"/>
          </a:xfrm>
          <a:prstGeom prst="rect">
            <a:avLst/>
          </a:prstGeom>
          <a:noFill/>
          <a:ln>
            <a:noFill/>
          </a:ln>
        </p:spPr>
        <p:txBody>
          <a:bodyPr anchorCtr="0" anchor="t" bIns="45700" lIns="91425" spcFirstLastPara="1" rIns="91425" wrap="square" tIns="45700">
            <a:noAutofit/>
          </a:bodyPr>
          <a:lstStyle/>
          <a:p>
            <a:pPr indent="-685800" lvl="1" marL="685800" marR="0" rtl="0" algn="l">
              <a:lnSpc>
                <a:spcPct val="100000"/>
              </a:lnSpc>
              <a:spcBef>
                <a:spcPts val="0"/>
              </a:spcBef>
              <a:spcAft>
                <a:spcPts val="0"/>
              </a:spcAft>
              <a:buClr>
                <a:srgbClr val="000000"/>
              </a:buClr>
              <a:buSzPts val="3200"/>
              <a:buFont typeface="Times"/>
              <a:buNone/>
            </a:pPr>
            <a:r>
              <a:rPr b="0" i="1" lang="en-US" sz="3200" u="none" cap="none" strike="noStrike">
                <a:solidFill>
                  <a:srgbClr val="000000"/>
                </a:solidFill>
                <a:latin typeface="Times"/>
                <a:ea typeface="Times"/>
                <a:cs typeface="Times"/>
                <a:sym typeface="Times"/>
              </a:rPr>
              <a:t>	First convert 3 days to hours. </a:t>
            </a:r>
            <a:r>
              <a:rPr b="0" i="0" lang="en-US" sz="3200" u="none" cap="none" strike="noStrike">
                <a:solidFill>
                  <a:srgbClr val="000000"/>
                </a:solidFill>
                <a:latin typeface="Times"/>
                <a:ea typeface="Times"/>
                <a:cs typeface="Times"/>
                <a:sym typeface="Times"/>
              </a:rPr>
              <a:t>24 hours in 1 day, 3 days = 3 • 24 = 72 hours</a:t>
            </a:r>
            <a:endParaRPr/>
          </a:p>
          <a:p>
            <a:pPr indent="-685800" lvl="1" marL="685800" marR="0" rtl="0" algn="l">
              <a:lnSpc>
                <a:spcPct val="100000"/>
              </a:lnSpc>
              <a:spcBef>
                <a:spcPts val="640"/>
              </a:spcBef>
              <a:spcAft>
                <a:spcPts val="0"/>
              </a:spcAft>
              <a:buClr>
                <a:srgbClr val="000000"/>
              </a:buClr>
              <a:buSzPts val="3200"/>
              <a:buFont typeface="Times"/>
              <a:buNone/>
            </a:pPr>
            <a:r>
              <a:rPr b="0" i="0" lang="en-US" sz="3200" u="none" cap="none" strike="noStrike">
                <a:solidFill>
                  <a:srgbClr val="000000"/>
                </a:solidFill>
                <a:latin typeface="Times"/>
                <a:ea typeface="Times"/>
                <a:cs typeface="Times"/>
                <a:sym typeface="Times"/>
              </a:rPr>
              <a:t>	The ratio of 5 hours to 3 days is the quotient of 5 and 72.</a:t>
            </a:r>
            <a:endParaRPr/>
          </a:p>
        </p:txBody>
      </p:sp>
      <p:pic>
        <p:nvPicPr>
          <p:cNvPr id="63" name="Google Shape;63;p9"/>
          <p:cNvPicPr preferRelativeResize="0"/>
          <p:nvPr/>
        </p:nvPicPr>
        <p:blipFill rotWithShape="1">
          <a:blip r:embed="rId3">
            <a:alphaModFix/>
          </a:blip>
          <a:srcRect b="0" l="0" r="0" t="0"/>
          <a:stretch/>
        </p:blipFill>
        <p:spPr>
          <a:xfrm>
            <a:off x="3829050" y="4533900"/>
            <a:ext cx="571500" cy="1054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0"/>
          <p:cNvSpPr txBox="1"/>
          <p:nvPr>
            <p:ph type="title"/>
          </p:nvPr>
        </p:nvSpPr>
        <p:spPr>
          <a:xfrm>
            <a:off x="457200" y="147637"/>
            <a:ext cx="8229600" cy="939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69" name="Google Shape;69;p10"/>
          <p:cNvSpPr txBox="1"/>
          <p:nvPr>
            <p:ph idx="1" type="body"/>
          </p:nvPr>
        </p:nvSpPr>
        <p:spPr>
          <a:xfrm>
            <a:off x="685800" y="1409700"/>
            <a:ext cx="8001000" cy="1308100"/>
          </a:xfrm>
          <a:prstGeom prst="rect">
            <a:avLst/>
          </a:prstGeom>
          <a:noFill/>
          <a:ln>
            <a:noFill/>
          </a:ln>
        </p:spPr>
        <p:txBody>
          <a:bodyPr anchorCtr="0" anchor="t" bIns="45700" lIns="91425" spcFirstLastPara="1" rIns="91425" wrap="square" tIns="45700">
            <a:noAutofit/>
          </a:bodyPr>
          <a:lstStyle/>
          <a:p>
            <a:pPr indent="-685800" lvl="0" marL="68580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(c)	The ratio of $700,000 in sales to $950,000 in sales is written this way.</a:t>
            </a:r>
            <a:endParaRPr/>
          </a:p>
        </p:txBody>
      </p:sp>
      <p:sp>
        <p:nvSpPr>
          <p:cNvPr id="70" name="Google Shape;70;p10"/>
          <p:cNvSpPr txBox="1"/>
          <p:nvPr/>
        </p:nvSpPr>
        <p:spPr>
          <a:xfrm>
            <a:off x="685800" y="3822700"/>
            <a:ext cx="8001000" cy="1295400"/>
          </a:xfrm>
          <a:prstGeom prst="rect">
            <a:avLst/>
          </a:prstGeom>
          <a:noFill/>
          <a:ln>
            <a:noFill/>
          </a:ln>
        </p:spPr>
        <p:txBody>
          <a:bodyPr anchorCtr="0" anchor="t" bIns="45700" lIns="91425" spcFirstLastPara="1" rIns="91425" wrap="square" tIns="45700">
            <a:noAutofit/>
          </a:bodyPr>
          <a:lstStyle/>
          <a:p>
            <a:pPr indent="-685800" lvl="1" marL="685800" marR="0" rtl="0" algn="l">
              <a:lnSpc>
                <a:spcPct val="100000"/>
              </a:lnSpc>
              <a:spcBef>
                <a:spcPts val="0"/>
              </a:spcBef>
              <a:spcAft>
                <a:spcPts val="0"/>
              </a:spcAft>
              <a:buClr>
                <a:srgbClr val="000000"/>
              </a:buClr>
              <a:buSzPts val="3200"/>
              <a:buFont typeface="Times"/>
              <a:buNone/>
            </a:pPr>
            <a:r>
              <a:rPr b="0" i="0" lang="en-US" sz="3200" u="none" cap="none" strike="noStrike">
                <a:solidFill>
                  <a:srgbClr val="000000"/>
                </a:solidFill>
                <a:latin typeface="Times"/>
                <a:ea typeface="Times"/>
                <a:cs typeface="Times"/>
                <a:sym typeface="Times"/>
              </a:rPr>
              <a:t>	Reduce to write this ratio in lowest terms.</a:t>
            </a:r>
            <a:endParaRPr/>
          </a:p>
        </p:txBody>
      </p:sp>
      <p:pic>
        <p:nvPicPr>
          <p:cNvPr id="71" name="Google Shape;71;p10"/>
          <p:cNvPicPr preferRelativeResize="0"/>
          <p:nvPr/>
        </p:nvPicPr>
        <p:blipFill rotWithShape="1">
          <a:blip r:embed="rId3">
            <a:alphaModFix/>
          </a:blip>
          <a:srcRect b="0" l="0" r="0" t="0"/>
          <a:stretch/>
        </p:blipFill>
        <p:spPr>
          <a:xfrm>
            <a:off x="3752850" y="2692400"/>
            <a:ext cx="1866900" cy="1104900"/>
          </a:xfrm>
          <a:prstGeom prst="rect">
            <a:avLst/>
          </a:prstGeom>
          <a:noFill/>
          <a:ln>
            <a:noFill/>
          </a:ln>
        </p:spPr>
      </p:pic>
      <p:pic>
        <p:nvPicPr>
          <p:cNvPr id="72" name="Google Shape;72;p10"/>
          <p:cNvPicPr preferRelativeResize="0"/>
          <p:nvPr/>
        </p:nvPicPr>
        <p:blipFill rotWithShape="1">
          <a:blip r:embed="rId4">
            <a:alphaModFix/>
          </a:blip>
          <a:srcRect b="0" l="0" r="0" t="0"/>
          <a:stretch/>
        </p:blipFill>
        <p:spPr>
          <a:xfrm>
            <a:off x="3270250" y="4714875"/>
            <a:ext cx="2832100" cy="1104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1"/>
          <p:cNvSpPr txBox="1"/>
          <p:nvPr>
            <p:ph type="title"/>
          </p:nvPr>
        </p:nvSpPr>
        <p:spPr>
          <a:xfrm>
            <a:off x="457200" y="147637"/>
            <a:ext cx="8229600" cy="939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78" name="Google Shape;78;p11"/>
          <p:cNvSpPr txBox="1"/>
          <p:nvPr>
            <p:ph idx="1" type="body"/>
          </p:nvPr>
        </p:nvSpPr>
        <p:spPr>
          <a:xfrm>
            <a:off x="279400" y="1055687"/>
            <a:ext cx="8407400" cy="5226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200"/>
              <a:buFont typeface="Arial"/>
              <a:buNone/>
            </a:pPr>
            <a:r>
              <a:rPr b="0" i="0" lang="en-US" sz="3200" u="none" cap="none" strike="noStrike">
                <a:solidFill>
                  <a:srgbClr val="141413"/>
                </a:solidFill>
                <a:latin typeface="Times New Roman"/>
                <a:ea typeface="Times New Roman"/>
                <a:cs typeface="Times New Roman"/>
                <a:sym typeface="Times New Roman"/>
              </a:rPr>
              <a:t>Burger King sold the following items in a one-hour period last Friday afternoon.</a:t>
            </a:r>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New Roman"/>
                <a:ea typeface="Times New Roman"/>
                <a:cs typeface="Times New Roman"/>
                <a:sym typeface="Times New Roman"/>
              </a:rPr>
              <a:t>	70 bacon cheeseburgers</a:t>
            </a:r>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New Roman"/>
                <a:ea typeface="Times New Roman"/>
                <a:cs typeface="Times New Roman"/>
                <a:sym typeface="Times New Roman"/>
              </a:rPr>
              <a:t>	15 plain hamburgers</a:t>
            </a:r>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New Roman"/>
                <a:ea typeface="Times New Roman"/>
                <a:cs typeface="Times New Roman"/>
                <a:sym typeface="Times New Roman"/>
              </a:rPr>
              <a:t>	30 salad combos</a:t>
            </a:r>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New Roman"/>
                <a:ea typeface="Times New Roman"/>
                <a:cs typeface="Times New Roman"/>
                <a:sym typeface="Times New Roman"/>
              </a:rPr>
              <a:t>	45 chicken sandwiches</a:t>
            </a:r>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New Roman"/>
                <a:ea typeface="Times New Roman"/>
                <a:cs typeface="Times New Roman"/>
                <a:sym typeface="Times New Roman"/>
              </a:rPr>
              <a:t>	40 fish sandwiches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2"/>
          <p:cNvSpPr txBox="1"/>
          <p:nvPr>
            <p:ph type="title"/>
          </p:nvPr>
        </p:nvSpPr>
        <p:spPr>
          <a:xfrm>
            <a:off x="457200" y="147637"/>
            <a:ext cx="8229600" cy="939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84" name="Google Shape;84;p12"/>
          <p:cNvSpPr txBox="1"/>
          <p:nvPr>
            <p:ph idx="1" type="body"/>
          </p:nvPr>
        </p:nvSpPr>
        <p:spPr>
          <a:xfrm>
            <a:off x="457200" y="1270000"/>
            <a:ext cx="8407400" cy="5226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200"/>
              <a:buFont typeface="Arial"/>
              <a:buNone/>
            </a:pPr>
            <a:r>
              <a:rPr b="0" i="0" lang="en-US" sz="3200" u="none" cap="none" strike="noStrike">
                <a:solidFill>
                  <a:srgbClr val="141413"/>
                </a:solidFill>
                <a:latin typeface="Times"/>
                <a:ea typeface="Times"/>
                <a:cs typeface="Times"/>
                <a:sym typeface="Times"/>
              </a:rPr>
              <a:t>Write ratios for the following items sold:</a:t>
            </a:r>
            <a:endParaRPr/>
          </a:p>
          <a:p>
            <a:pPr indent="-203200" lvl="0" marL="0" marR="0" rtl="0" algn="l">
              <a:lnSpc>
                <a:spcPct val="100000"/>
              </a:lnSpc>
              <a:spcBef>
                <a:spcPts val="640"/>
              </a:spcBef>
              <a:spcAft>
                <a:spcPts val="0"/>
              </a:spcAft>
              <a:buClr>
                <a:srgbClr val="141413"/>
              </a:buClr>
              <a:buSzPts val="3200"/>
              <a:buFont typeface="Arial"/>
              <a:buAutoNum type="alphaLcParenBoth"/>
            </a:pPr>
            <a:r>
              <a:rPr b="0" i="0" lang="en-US" sz="3200" u="none" cap="none" strike="noStrike">
                <a:solidFill>
                  <a:srgbClr val="141413"/>
                </a:solidFill>
                <a:latin typeface="Times"/>
                <a:ea typeface="Times"/>
                <a:cs typeface="Times"/>
                <a:sym typeface="Times"/>
              </a:rPr>
              <a:t> bacon cheeseburgers to fish sandwiches</a:t>
            </a:r>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rgbClr val="141413"/>
              </a:solidFill>
              <a:latin typeface="Times"/>
              <a:ea typeface="Times"/>
              <a:cs typeface="Times"/>
              <a:sym typeface="Times"/>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rgbClr val="141413"/>
              </a:solidFill>
              <a:latin typeface="Times"/>
              <a:ea typeface="Times"/>
              <a:cs typeface="Times"/>
              <a:sym typeface="Times"/>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rgbClr val="141413"/>
              </a:solidFill>
              <a:latin typeface="Times"/>
              <a:ea typeface="Times"/>
              <a:cs typeface="Times"/>
              <a:sym typeface="Times"/>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a:ea typeface="Times"/>
                <a:cs typeface="Times"/>
                <a:sym typeface="Times"/>
              </a:rPr>
              <a:t>(b) salad combos to chicken sandwiches</a:t>
            </a:r>
            <a:endParaRPr/>
          </a:p>
        </p:txBody>
      </p:sp>
      <p:pic>
        <p:nvPicPr>
          <p:cNvPr id="85" name="Google Shape;85;p12"/>
          <p:cNvPicPr preferRelativeResize="0"/>
          <p:nvPr/>
        </p:nvPicPr>
        <p:blipFill rotWithShape="1">
          <a:blip r:embed="rId3">
            <a:alphaModFix/>
          </a:blip>
          <a:srcRect b="0" l="0" r="0" t="0"/>
          <a:stretch/>
        </p:blipFill>
        <p:spPr>
          <a:xfrm>
            <a:off x="876300" y="2603500"/>
            <a:ext cx="6426200" cy="1054100"/>
          </a:xfrm>
          <a:prstGeom prst="rect">
            <a:avLst/>
          </a:prstGeom>
          <a:noFill/>
          <a:ln>
            <a:noFill/>
          </a:ln>
        </p:spPr>
      </p:pic>
      <p:pic>
        <p:nvPicPr>
          <p:cNvPr id="86" name="Google Shape;86;p12"/>
          <p:cNvPicPr preferRelativeResize="0"/>
          <p:nvPr/>
        </p:nvPicPr>
        <p:blipFill rotWithShape="1">
          <a:blip r:embed="rId4">
            <a:alphaModFix/>
          </a:blip>
          <a:srcRect b="0" l="0" r="0" t="0"/>
          <a:stretch/>
        </p:blipFill>
        <p:spPr>
          <a:xfrm>
            <a:off x="1003300" y="4935537"/>
            <a:ext cx="6299200" cy="1054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3"/>
          <p:cNvSpPr txBox="1"/>
          <p:nvPr>
            <p:ph type="title"/>
          </p:nvPr>
        </p:nvSpPr>
        <p:spPr>
          <a:xfrm>
            <a:off x="457200" y="147637"/>
            <a:ext cx="8229600" cy="939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92" name="Google Shape;92;p13"/>
          <p:cNvSpPr txBox="1"/>
          <p:nvPr>
            <p:ph idx="1" type="body"/>
          </p:nvPr>
        </p:nvSpPr>
        <p:spPr>
          <a:xfrm>
            <a:off x="457200" y="1270000"/>
            <a:ext cx="8407400" cy="5226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200"/>
              <a:buFont typeface="Arial"/>
              <a:buNone/>
            </a:pPr>
            <a:r>
              <a:rPr b="0" i="0" lang="en-US" sz="3200" u="none" cap="none" strike="noStrike">
                <a:solidFill>
                  <a:srgbClr val="141413"/>
                </a:solidFill>
                <a:latin typeface="Times"/>
                <a:ea typeface="Times"/>
                <a:cs typeface="Times"/>
                <a:sym typeface="Times"/>
              </a:rPr>
              <a:t>Write ratios for the following items sold:</a:t>
            </a:r>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a:ea typeface="Times"/>
                <a:cs typeface="Times"/>
                <a:sym typeface="Times"/>
              </a:rPr>
              <a:t>(c)	 plain hamburgers to salad combos</a:t>
            </a:r>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rgbClr val="141413"/>
              </a:solidFill>
              <a:latin typeface="Times"/>
              <a:ea typeface="Times"/>
              <a:cs typeface="Times"/>
              <a:sym typeface="Times"/>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rgbClr val="141413"/>
              </a:solidFill>
              <a:latin typeface="Times"/>
              <a:ea typeface="Times"/>
              <a:cs typeface="Times"/>
              <a:sym typeface="Times"/>
            </a:endParaRPr>
          </a:p>
          <a:p>
            <a:pPr indent="0" lvl="0" marL="0" marR="0" rtl="0" algn="l">
              <a:lnSpc>
                <a:spcPct val="100000"/>
              </a:lnSpc>
              <a:spcBef>
                <a:spcPts val="640"/>
              </a:spcBef>
              <a:spcAft>
                <a:spcPts val="0"/>
              </a:spcAft>
              <a:buClr>
                <a:schemeClr val="dk1"/>
              </a:buClr>
              <a:buSzPts val="3200"/>
              <a:buFont typeface="Arial"/>
              <a:buNone/>
            </a:pPr>
            <a:r>
              <a:t/>
            </a:r>
            <a:endParaRPr b="0" i="0" sz="3200" u="none" cap="none" strike="noStrike">
              <a:solidFill>
                <a:srgbClr val="141413"/>
              </a:solidFill>
              <a:latin typeface="Times"/>
              <a:ea typeface="Times"/>
              <a:cs typeface="Times"/>
              <a:sym typeface="Times"/>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a:ea typeface="Times"/>
                <a:cs typeface="Times"/>
                <a:sym typeface="Times"/>
              </a:rPr>
              <a:t>(d) fish sandwiches to total items sold</a:t>
            </a:r>
            <a:endParaRPr/>
          </a:p>
        </p:txBody>
      </p:sp>
      <p:pic>
        <p:nvPicPr>
          <p:cNvPr id="93" name="Google Shape;93;p13"/>
          <p:cNvPicPr preferRelativeResize="0"/>
          <p:nvPr/>
        </p:nvPicPr>
        <p:blipFill rotWithShape="1">
          <a:blip r:embed="rId3">
            <a:alphaModFix/>
          </a:blip>
          <a:srcRect b="0" l="0" r="0" t="0"/>
          <a:stretch/>
        </p:blipFill>
        <p:spPr>
          <a:xfrm>
            <a:off x="1281112" y="2595562"/>
            <a:ext cx="5816600" cy="1054100"/>
          </a:xfrm>
          <a:prstGeom prst="rect">
            <a:avLst/>
          </a:prstGeom>
          <a:noFill/>
          <a:ln>
            <a:noFill/>
          </a:ln>
        </p:spPr>
      </p:pic>
      <p:pic>
        <p:nvPicPr>
          <p:cNvPr id="94" name="Google Shape;94;p13"/>
          <p:cNvPicPr preferRelativeResize="0"/>
          <p:nvPr/>
        </p:nvPicPr>
        <p:blipFill rotWithShape="1">
          <a:blip r:embed="rId4">
            <a:alphaModFix/>
          </a:blip>
          <a:srcRect b="0" l="0" r="0" t="0"/>
          <a:stretch/>
        </p:blipFill>
        <p:spPr>
          <a:xfrm>
            <a:off x="1157287" y="4943475"/>
            <a:ext cx="5791200" cy="1054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4"/>
          <p:cNvSpPr txBox="1"/>
          <p:nvPr>
            <p:ph type="title"/>
          </p:nvPr>
        </p:nvSpPr>
        <p:spPr>
          <a:xfrm>
            <a:off x="457200" y="147637"/>
            <a:ext cx="8229600" cy="939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Set Up a Proportion</a:t>
            </a:r>
            <a:endParaRPr/>
          </a:p>
        </p:txBody>
      </p:sp>
      <p:sp>
        <p:nvSpPr>
          <p:cNvPr id="100" name="Google Shape;100;p14"/>
          <p:cNvSpPr txBox="1"/>
          <p:nvPr>
            <p:ph idx="1" type="body"/>
          </p:nvPr>
        </p:nvSpPr>
        <p:spPr>
          <a:xfrm>
            <a:off x="622300" y="1803400"/>
            <a:ext cx="8242300" cy="26543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A ratio is used to compare two numbers or amounts.</a:t>
            </a:r>
            <a:endParaRPr/>
          </a:p>
          <a:p>
            <a:pPr indent="-457200" lvl="0" marL="457200" marR="0" rtl="0" algn="l">
              <a:lnSpc>
                <a:spcPct val="100000"/>
              </a:lnSpc>
              <a:spcBef>
                <a:spcPts val="64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A </a:t>
            </a:r>
            <a:r>
              <a:rPr b="1" i="0" lang="en-US" sz="3200" u="none" cap="none" strike="noStrike">
                <a:solidFill>
                  <a:schemeClr val="dk1"/>
                </a:solidFill>
                <a:latin typeface="Times"/>
                <a:ea typeface="Times"/>
                <a:cs typeface="Times"/>
                <a:sym typeface="Times"/>
              </a:rPr>
              <a:t>proportion </a:t>
            </a:r>
            <a:r>
              <a:rPr b="0" i="0" lang="en-US" sz="3200" u="none" cap="none" strike="noStrike">
                <a:solidFill>
                  <a:schemeClr val="dk1"/>
                </a:solidFill>
                <a:latin typeface="Times"/>
                <a:ea typeface="Times"/>
                <a:cs typeface="Times"/>
                <a:sym typeface="Times"/>
              </a:rPr>
              <a:t>says that two ratios are equal.</a:t>
            </a:r>
            <a:endParaRPr/>
          </a:p>
        </p:txBody>
      </p:sp>
      <p:pic>
        <p:nvPicPr>
          <p:cNvPr id="101" name="Google Shape;101;p14"/>
          <p:cNvPicPr preferRelativeResize="0"/>
          <p:nvPr/>
        </p:nvPicPr>
        <p:blipFill rotWithShape="1">
          <a:blip r:embed="rId3">
            <a:alphaModFix/>
          </a:blip>
          <a:srcRect b="0" l="0" r="0" t="0"/>
          <a:stretch/>
        </p:blipFill>
        <p:spPr>
          <a:xfrm>
            <a:off x="3892550" y="4273550"/>
            <a:ext cx="1358900" cy="1054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ph type="title"/>
          </p:nvPr>
        </p:nvSpPr>
        <p:spPr>
          <a:xfrm>
            <a:off x="457200" y="147637"/>
            <a:ext cx="8229600" cy="939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Method of Cross Products</a:t>
            </a:r>
            <a:endParaRPr/>
          </a:p>
        </p:txBody>
      </p:sp>
      <p:sp>
        <p:nvSpPr>
          <p:cNvPr id="107" name="Google Shape;107;p15"/>
          <p:cNvSpPr txBox="1"/>
          <p:nvPr>
            <p:ph idx="1" type="body"/>
          </p:nvPr>
        </p:nvSpPr>
        <p:spPr>
          <a:xfrm>
            <a:off x="622300" y="1803400"/>
            <a:ext cx="8242300" cy="9144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The proportion</a:t>
            </a:r>
            <a:endParaRPr/>
          </a:p>
        </p:txBody>
      </p:sp>
      <p:pic>
        <p:nvPicPr>
          <p:cNvPr id="108" name="Google Shape;108;p15"/>
          <p:cNvPicPr preferRelativeResize="0"/>
          <p:nvPr/>
        </p:nvPicPr>
        <p:blipFill rotWithShape="1">
          <a:blip r:embed="rId3">
            <a:alphaModFix/>
          </a:blip>
          <a:srcRect b="0" l="0" r="0" t="0"/>
          <a:stretch/>
        </p:blipFill>
        <p:spPr>
          <a:xfrm>
            <a:off x="4006850" y="2717800"/>
            <a:ext cx="1130300" cy="1054100"/>
          </a:xfrm>
          <a:prstGeom prst="rect">
            <a:avLst/>
          </a:prstGeom>
          <a:noFill/>
          <a:ln>
            <a:noFill/>
          </a:ln>
        </p:spPr>
      </p:pic>
      <p:sp>
        <p:nvSpPr>
          <p:cNvPr id="109" name="Google Shape;109;p15"/>
          <p:cNvSpPr txBox="1"/>
          <p:nvPr/>
        </p:nvSpPr>
        <p:spPr>
          <a:xfrm>
            <a:off x="622300" y="4229100"/>
            <a:ext cx="8242300" cy="187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600"/>
              <a:buFont typeface="Times"/>
              <a:buNone/>
            </a:pPr>
            <a:r>
              <a:rPr b="0" i="0" lang="en-US" sz="3600" u="none">
                <a:solidFill>
                  <a:srgbClr val="141413"/>
                </a:solidFill>
                <a:latin typeface="Times"/>
                <a:ea typeface="Times"/>
                <a:cs typeface="Times"/>
                <a:sym typeface="Times"/>
              </a:rPr>
              <a:t>is true if the cross products </a:t>
            </a:r>
            <a:r>
              <a:rPr b="0" i="1" lang="en-US" sz="3600" u="none">
                <a:solidFill>
                  <a:srgbClr val="141413"/>
                </a:solidFill>
                <a:latin typeface="Times"/>
                <a:ea typeface="Times"/>
                <a:cs typeface="Times"/>
                <a:sym typeface="Times"/>
              </a:rPr>
              <a:t>a </a:t>
            </a:r>
            <a:r>
              <a:rPr b="0" i="0" lang="en-US" sz="3600" u="none">
                <a:solidFill>
                  <a:srgbClr val="141413"/>
                </a:solidFill>
                <a:latin typeface="Times"/>
                <a:ea typeface="Times"/>
                <a:cs typeface="Times"/>
                <a:sym typeface="Times"/>
              </a:rPr>
              <a:t>• </a:t>
            </a:r>
            <a:r>
              <a:rPr b="0" i="1" lang="en-US" sz="3600" u="none">
                <a:solidFill>
                  <a:srgbClr val="141413"/>
                </a:solidFill>
                <a:latin typeface="Times"/>
                <a:ea typeface="Times"/>
                <a:cs typeface="Times"/>
                <a:sym typeface="Times"/>
              </a:rPr>
              <a:t>d</a:t>
            </a:r>
            <a:r>
              <a:rPr b="0" i="0" lang="en-US" sz="3600" u="none">
                <a:solidFill>
                  <a:srgbClr val="141413"/>
                </a:solidFill>
                <a:latin typeface="Times"/>
                <a:ea typeface="Times"/>
                <a:cs typeface="Times"/>
                <a:sym typeface="Times"/>
              </a:rPr>
              <a:t> and </a:t>
            </a:r>
            <a:r>
              <a:rPr b="0" i="1" lang="en-US" sz="3600" u="none">
                <a:solidFill>
                  <a:srgbClr val="141413"/>
                </a:solidFill>
                <a:latin typeface="Times"/>
                <a:ea typeface="Times"/>
                <a:cs typeface="Times"/>
                <a:sym typeface="Times"/>
              </a:rPr>
              <a:t>b </a:t>
            </a:r>
            <a:r>
              <a:rPr b="0" i="0" lang="en-US" sz="3600" u="none">
                <a:solidFill>
                  <a:srgbClr val="141413"/>
                </a:solidFill>
                <a:latin typeface="Times"/>
                <a:ea typeface="Times"/>
                <a:cs typeface="Times"/>
                <a:sym typeface="Times"/>
              </a:rPr>
              <a:t>• </a:t>
            </a:r>
            <a:r>
              <a:rPr b="0" i="1" lang="en-US" sz="3600" u="none">
                <a:solidFill>
                  <a:srgbClr val="141413"/>
                </a:solidFill>
                <a:latin typeface="Times"/>
                <a:ea typeface="Times"/>
                <a:cs typeface="Times"/>
                <a:sym typeface="Times"/>
              </a:rPr>
              <a:t>c</a:t>
            </a:r>
            <a:r>
              <a:rPr b="0" i="0" lang="en-US" sz="3600" u="none">
                <a:solidFill>
                  <a:srgbClr val="141413"/>
                </a:solidFill>
                <a:latin typeface="Times"/>
                <a:ea typeface="Times"/>
                <a:cs typeface="Times"/>
                <a:sym typeface="Times"/>
              </a:rPr>
              <a:t> are equal (that is, if </a:t>
            </a:r>
            <a:r>
              <a:rPr b="0" i="1" lang="en-US" sz="3600" u="none">
                <a:solidFill>
                  <a:srgbClr val="141413"/>
                </a:solidFill>
                <a:latin typeface="Times"/>
                <a:ea typeface="Times"/>
                <a:cs typeface="Times"/>
                <a:sym typeface="Times"/>
              </a:rPr>
              <a:t>ad</a:t>
            </a:r>
            <a:r>
              <a:rPr b="0" i="0" lang="en-US" sz="3600" u="none">
                <a:solidFill>
                  <a:srgbClr val="141413"/>
                </a:solidFill>
                <a:latin typeface="Times"/>
                <a:ea typeface="Times"/>
                <a:cs typeface="Times"/>
                <a:sym typeface="Times"/>
              </a:rPr>
              <a:t> = </a:t>
            </a:r>
            <a:r>
              <a:rPr b="0" i="1" lang="en-US" sz="3600" u="none">
                <a:solidFill>
                  <a:srgbClr val="141413"/>
                </a:solidFill>
                <a:latin typeface="Times"/>
                <a:ea typeface="Times"/>
                <a:cs typeface="Times"/>
                <a:sym typeface="Times"/>
              </a:rPr>
              <a:t>bc</a:t>
            </a:r>
            <a:r>
              <a:rPr b="0" i="0" lang="en-US" sz="3600" u="none">
                <a:solidFill>
                  <a:srgbClr val="141413"/>
                </a:solidFill>
                <a:latin typeface="Times"/>
                <a:ea typeface="Times"/>
                <a:cs typeface="Times"/>
                <a:sym typeface="Times"/>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ph type="title"/>
          </p:nvPr>
        </p:nvSpPr>
        <p:spPr>
          <a:xfrm>
            <a:off x="457200" y="147637"/>
            <a:ext cx="8229600" cy="939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115" name="Google Shape;115;p16"/>
          <p:cNvSpPr txBox="1"/>
          <p:nvPr>
            <p:ph idx="1" type="body"/>
          </p:nvPr>
        </p:nvSpPr>
        <p:spPr>
          <a:xfrm>
            <a:off x="506412" y="1206500"/>
            <a:ext cx="8242300" cy="13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Decide whether the following proportions are true.</a:t>
            </a:r>
            <a:endParaRPr/>
          </a:p>
        </p:txBody>
      </p:sp>
      <p:pic>
        <p:nvPicPr>
          <p:cNvPr id="116" name="Google Shape;116;p16"/>
          <p:cNvPicPr preferRelativeResize="0"/>
          <p:nvPr/>
        </p:nvPicPr>
        <p:blipFill rotWithShape="1">
          <a:blip r:embed="rId3">
            <a:alphaModFix/>
          </a:blip>
          <a:srcRect b="0" l="0" r="0" t="0"/>
          <a:stretch/>
        </p:blipFill>
        <p:spPr>
          <a:xfrm>
            <a:off x="506412" y="2266950"/>
            <a:ext cx="2222500" cy="1054100"/>
          </a:xfrm>
          <a:prstGeom prst="rect">
            <a:avLst/>
          </a:prstGeom>
          <a:noFill/>
          <a:ln>
            <a:noFill/>
          </a:ln>
        </p:spPr>
      </p:pic>
      <p:pic>
        <p:nvPicPr>
          <p:cNvPr id="117" name="Google Shape;117;p16"/>
          <p:cNvPicPr preferRelativeResize="0"/>
          <p:nvPr/>
        </p:nvPicPr>
        <p:blipFill rotWithShape="1">
          <a:blip r:embed="rId4">
            <a:alphaModFix/>
          </a:blip>
          <a:srcRect b="0" l="0" r="0" t="0"/>
          <a:stretch/>
        </p:blipFill>
        <p:spPr>
          <a:xfrm>
            <a:off x="5194300" y="2025650"/>
            <a:ext cx="2222500" cy="1054100"/>
          </a:xfrm>
          <a:prstGeom prst="rect">
            <a:avLst/>
          </a:prstGeom>
          <a:noFill/>
          <a:ln>
            <a:noFill/>
          </a:ln>
        </p:spPr>
      </p:pic>
      <p:pic>
        <p:nvPicPr>
          <p:cNvPr id="118" name="Google Shape;118;p16"/>
          <p:cNvPicPr preferRelativeResize="0"/>
          <p:nvPr/>
        </p:nvPicPr>
        <p:blipFill rotWithShape="1">
          <a:blip r:embed="rId5">
            <a:alphaModFix/>
          </a:blip>
          <a:srcRect b="0" l="0" r="0" t="0"/>
          <a:stretch/>
        </p:blipFill>
        <p:spPr>
          <a:xfrm>
            <a:off x="655637" y="3455987"/>
            <a:ext cx="2565400" cy="2565400"/>
          </a:xfrm>
          <a:prstGeom prst="rect">
            <a:avLst/>
          </a:prstGeom>
          <a:noFill/>
          <a:ln>
            <a:noFill/>
          </a:ln>
        </p:spPr>
      </p:pic>
      <p:sp>
        <p:nvSpPr>
          <p:cNvPr id="119" name="Google Shape;119;p16"/>
          <p:cNvSpPr txBox="1"/>
          <p:nvPr/>
        </p:nvSpPr>
        <p:spPr>
          <a:xfrm>
            <a:off x="2919412" y="5651500"/>
            <a:ext cx="18288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0" i="0" lang="en-US" sz="1800" u="none">
                <a:solidFill>
                  <a:srgbClr val="FF0000"/>
                </a:solidFill>
                <a:latin typeface="Arial"/>
                <a:ea typeface="Arial"/>
                <a:cs typeface="Arial"/>
                <a:sym typeface="Arial"/>
              </a:rPr>
              <a:t>True</a:t>
            </a:r>
            <a:endParaRPr/>
          </a:p>
        </p:txBody>
      </p:sp>
      <p:pic>
        <p:nvPicPr>
          <p:cNvPr id="120" name="Google Shape;120;p16"/>
          <p:cNvPicPr preferRelativeResize="0"/>
          <p:nvPr/>
        </p:nvPicPr>
        <p:blipFill rotWithShape="1">
          <a:blip r:embed="rId6">
            <a:alphaModFix/>
          </a:blip>
          <a:srcRect b="0" l="0" r="0" t="0"/>
          <a:stretch/>
        </p:blipFill>
        <p:spPr>
          <a:xfrm>
            <a:off x="5194300" y="3321050"/>
            <a:ext cx="2565400" cy="2578100"/>
          </a:xfrm>
          <a:prstGeom prst="rect">
            <a:avLst/>
          </a:prstGeom>
          <a:noFill/>
          <a:ln>
            <a:noFill/>
          </a:ln>
        </p:spPr>
      </p:pic>
      <p:sp>
        <p:nvSpPr>
          <p:cNvPr id="121" name="Google Shape;121;p16"/>
          <p:cNvSpPr txBox="1"/>
          <p:nvPr/>
        </p:nvSpPr>
        <p:spPr>
          <a:xfrm>
            <a:off x="7056437" y="5929312"/>
            <a:ext cx="18288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0" i="0" lang="en-US" sz="1800" u="none">
                <a:solidFill>
                  <a:srgbClr val="FF0000"/>
                </a:solidFill>
                <a:latin typeface="Arial"/>
                <a:ea typeface="Arial"/>
                <a:cs typeface="Arial"/>
                <a:sym typeface="Arial"/>
              </a:rPr>
              <a:t>False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txBox="1"/>
          <p:nvPr>
            <p:ph type="title"/>
          </p:nvPr>
        </p:nvSpPr>
        <p:spPr>
          <a:xfrm>
            <a:off x="457200" y="71437"/>
            <a:ext cx="8545512" cy="9842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Solve a Proportion for Unknown Values</a:t>
            </a:r>
            <a:endParaRPr/>
          </a:p>
        </p:txBody>
      </p:sp>
      <p:sp>
        <p:nvSpPr>
          <p:cNvPr id="127" name="Google Shape;127;p17"/>
          <p:cNvSpPr txBox="1"/>
          <p:nvPr>
            <p:ph idx="1" type="body"/>
          </p:nvPr>
        </p:nvSpPr>
        <p:spPr>
          <a:xfrm>
            <a:off x="457200" y="1379537"/>
            <a:ext cx="8407400" cy="48672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200"/>
              <a:buFont typeface="Arial"/>
              <a:buNone/>
            </a:pPr>
            <a:r>
              <a:rPr b="0" i="0" lang="en-US" sz="3200" u="none" cap="none" strike="noStrike">
                <a:solidFill>
                  <a:srgbClr val="141413"/>
                </a:solidFill>
                <a:latin typeface="Times"/>
                <a:ea typeface="Times"/>
                <a:cs typeface="Times"/>
                <a:sym typeface="Times"/>
              </a:rPr>
              <a:t>Four numbers and/or variables are used in a proportion.</a:t>
            </a:r>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a:ea typeface="Times"/>
                <a:cs typeface="Times"/>
                <a:sym typeface="Times"/>
              </a:rPr>
              <a:t>If any three of the values are known, the fourth can be found.</a:t>
            </a:r>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a:ea typeface="Times"/>
                <a:cs typeface="Times"/>
                <a:sym typeface="Times"/>
              </a:rPr>
              <a:t>The two methods to solve a proportion are:</a:t>
            </a:r>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a:ea typeface="Times"/>
                <a:cs typeface="Times"/>
                <a:sym typeface="Times"/>
              </a:rPr>
              <a:t>1. Multiply both sides by the product of the two denominators or</a:t>
            </a:r>
            <a:endParaRPr/>
          </a:p>
          <a:p>
            <a:pPr indent="0" lvl="0" marL="0" marR="0" rtl="0" algn="l">
              <a:lnSpc>
                <a:spcPct val="100000"/>
              </a:lnSpc>
              <a:spcBef>
                <a:spcPts val="640"/>
              </a:spcBef>
              <a:spcAft>
                <a:spcPts val="0"/>
              </a:spcAft>
              <a:buClr>
                <a:srgbClr val="141413"/>
              </a:buClr>
              <a:buSzPts val="3200"/>
              <a:buFont typeface="Arial"/>
              <a:buNone/>
            </a:pPr>
            <a:r>
              <a:rPr b="0" i="0" lang="en-US" sz="3200" u="none" cap="none" strike="noStrike">
                <a:solidFill>
                  <a:srgbClr val="141413"/>
                </a:solidFill>
                <a:latin typeface="Times"/>
                <a:ea typeface="Times"/>
                <a:cs typeface="Times"/>
                <a:sym typeface="Times"/>
              </a:rPr>
              <a:t>2. Use the method of cross products.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8"/>
          <p:cNvSpPr txBox="1"/>
          <p:nvPr>
            <p:ph type="title"/>
          </p:nvPr>
        </p:nvSpPr>
        <p:spPr>
          <a:xfrm>
            <a:off x="457200" y="-587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133" name="Google Shape;133;p18"/>
          <p:cNvSpPr txBox="1"/>
          <p:nvPr>
            <p:ph idx="1" type="body"/>
          </p:nvPr>
        </p:nvSpPr>
        <p:spPr>
          <a:xfrm>
            <a:off x="457200" y="1266825"/>
            <a:ext cx="8229600" cy="203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Find the value of the unknowns. Use the first method for </a:t>
            </a:r>
            <a:r>
              <a:rPr b="1" i="0" lang="en-US" sz="3200" u="none" cap="none" strike="noStrike">
                <a:solidFill>
                  <a:schemeClr val="dk1"/>
                </a:solidFill>
                <a:latin typeface="Times"/>
                <a:ea typeface="Times"/>
                <a:cs typeface="Times"/>
                <a:sym typeface="Times"/>
              </a:rPr>
              <a:t>(a) </a:t>
            </a:r>
            <a:r>
              <a:rPr b="0" i="0" lang="en-US" sz="3200" u="none" cap="none" strike="noStrike">
                <a:solidFill>
                  <a:schemeClr val="dk1"/>
                </a:solidFill>
                <a:latin typeface="Times"/>
                <a:ea typeface="Times"/>
                <a:cs typeface="Times"/>
                <a:sym typeface="Times"/>
              </a:rPr>
              <a:t>and the second method for </a:t>
            </a:r>
            <a:r>
              <a:rPr b="1" i="0" lang="en-US" sz="3200" u="none" cap="none" strike="noStrike">
                <a:solidFill>
                  <a:schemeClr val="dk1"/>
                </a:solidFill>
                <a:latin typeface="Times"/>
                <a:ea typeface="Times"/>
                <a:cs typeface="Times"/>
                <a:sym typeface="Times"/>
              </a:rPr>
              <a:t>(b).</a:t>
            </a:r>
            <a:endParaRPr/>
          </a:p>
        </p:txBody>
      </p:sp>
      <p:pic>
        <p:nvPicPr>
          <p:cNvPr id="134" name="Google Shape;134;p18"/>
          <p:cNvPicPr preferRelativeResize="0"/>
          <p:nvPr/>
        </p:nvPicPr>
        <p:blipFill rotWithShape="1">
          <a:blip r:embed="rId3">
            <a:alphaModFix/>
          </a:blip>
          <a:srcRect b="0" l="0" r="0" t="0"/>
          <a:stretch/>
        </p:blipFill>
        <p:spPr>
          <a:xfrm>
            <a:off x="722312" y="2546350"/>
            <a:ext cx="2235200" cy="1054100"/>
          </a:xfrm>
          <a:prstGeom prst="rect">
            <a:avLst/>
          </a:prstGeom>
          <a:noFill/>
          <a:ln>
            <a:noFill/>
          </a:ln>
        </p:spPr>
      </p:pic>
      <p:pic>
        <p:nvPicPr>
          <p:cNvPr id="135" name="Google Shape;135;p18"/>
          <p:cNvPicPr preferRelativeResize="0"/>
          <p:nvPr/>
        </p:nvPicPr>
        <p:blipFill rotWithShape="1">
          <a:blip r:embed="rId4">
            <a:alphaModFix/>
          </a:blip>
          <a:srcRect b="0" l="0" r="0" t="0"/>
          <a:stretch/>
        </p:blipFill>
        <p:spPr>
          <a:xfrm>
            <a:off x="587375" y="4311650"/>
            <a:ext cx="2222500" cy="1054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457200" y="-587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141" name="Google Shape;141;p19"/>
          <p:cNvSpPr txBox="1"/>
          <p:nvPr>
            <p:ph idx="1" type="body"/>
          </p:nvPr>
        </p:nvSpPr>
        <p:spPr>
          <a:xfrm>
            <a:off x="457200" y="1417637"/>
            <a:ext cx="8229600" cy="1803400"/>
          </a:xfrm>
          <a:prstGeom prst="rect">
            <a:avLst/>
          </a:prstGeom>
          <a:noFill/>
          <a:ln>
            <a:noFill/>
          </a:ln>
        </p:spPr>
        <p:txBody>
          <a:bodyPr anchorCtr="0" anchor="t" bIns="45700" lIns="91425" spcFirstLastPara="1" rIns="91425" wrap="square" tIns="45700">
            <a:noAutofit/>
          </a:bodyPr>
          <a:lstStyle/>
          <a:p>
            <a:pPr indent="-685800" lvl="0" marL="68580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Times"/>
                <a:ea typeface="Times"/>
                <a:cs typeface="Times"/>
                <a:sym typeface="Times"/>
              </a:rPr>
              <a:t>(a)	</a:t>
            </a:r>
            <a:r>
              <a:rPr b="0" i="0" lang="en-US" sz="3200" u="none" cap="none" strike="noStrike">
                <a:solidFill>
                  <a:schemeClr val="dk1"/>
                </a:solidFill>
                <a:latin typeface="Times"/>
                <a:ea typeface="Times"/>
                <a:cs typeface="Times"/>
                <a:sym typeface="Times"/>
              </a:rPr>
              <a:t>Solve for the unknown by multiplying both sides of the equation by the product of the denominators.</a:t>
            </a:r>
            <a:endParaRPr/>
          </a:p>
        </p:txBody>
      </p:sp>
      <p:sp>
        <p:nvSpPr>
          <p:cNvPr id="142" name="Google Shape;142;p19"/>
          <p:cNvSpPr txBox="1"/>
          <p:nvPr/>
        </p:nvSpPr>
        <p:spPr>
          <a:xfrm>
            <a:off x="457200" y="2235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43" name="Google Shape;143;p19"/>
          <p:cNvPicPr preferRelativeResize="0"/>
          <p:nvPr/>
        </p:nvPicPr>
        <p:blipFill rotWithShape="1">
          <a:blip r:embed="rId3">
            <a:alphaModFix/>
          </a:blip>
          <a:srcRect b="0" l="0" r="0" t="0"/>
          <a:stretch/>
        </p:blipFill>
        <p:spPr>
          <a:xfrm>
            <a:off x="933450" y="3376612"/>
            <a:ext cx="4305300" cy="2832100"/>
          </a:xfrm>
          <a:prstGeom prst="rect">
            <a:avLst/>
          </a:prstGeom>
          <a:noFill/>
          <a:ln>
            <a:noFill/>
          </a:ln>
        </p:spPr>
      </p:pic>
      <p:pic>
        <p:nvPicPr>
          <p:cNvPr id="144" name="Google Shape;144;p19"/>
          <p:cNvPicPr preferRelativeResize="0"/>
          <p:nvPr/>
        </p:nvPicPr>
        <p:blipFill rotWithShape="1">
          <a:blip r:embed="rId4">
            <a:alphaModFix/>
          </a:blip>
          <a:srcRect b="0" l="0" r="0" t="0"/>
          <a:stretch/>
        </p:blipFill>
        <p:spPr>
          <a:xfrm>
            <a:off x="5962650" y="3729037"/>
            <a:ext cx="2425700" cy="2451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ph type="title"/>
          </p:nvPr>
        </p:nvSpPr>
        <p:spPr>
          <a:xfrm>
            <a:off x="457200" y="-587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150" name="Google Shape;150;p20"/>
          <p:cNvSpPr txBox="1"/>
          <p:nvPr>
            <p:ph idx="1" type="body"/>
          </p:nvPr>
        </p:nvSpPr>
        <p:spPr>
          <a:xfrm>
            <a:off x="298450" y="1206500"/>
            <a:ext cx="8229600" cy="1439862"/>
          </a:xfrm>
          <a:prstGeom prst="rect">
            <a:avLst/>
          </a:prstGeom>
          <a:noFill/>
          <a:ln>
            <a:noFill/>
          </a:ln>
        </p:spPr>
        <p:txBody>
          <a:bodyPr anchorCtr="0" anchor="t" bIns="45700" lIns="91425" spcFirstLastPara="1" rIns="91425" wrap="square" tIns="45700">
            <a:noAutofit/>
          </a:bodyPr>
          <a:lstStyle/>
          <a:p>
            <a:pPr indent="-685800" lvl="0" marL="685800" marR="0" rtl="0" algn="l">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Times"/>
                <a:ea typeface="Times"/>
                <a:cs typeface="Times"/>
                <a:sym typeface="Times"/>
              </a:rPr>
              <a:t>(b)	</a:t>
            </a:r>
            <a:r>
              <a:rPr b="0" i="0" lang="en-US" sz="3200" u="none" cap="none" strike="noStrike">
                <a:solidFill>
                  <a:schemeClr val="dk1"/>
                </a:solidFill>
                <a:latin typeface="Times"/>
                <a:ea typeface="Times"/>
                <a:cs typeface="Times"/>
                <a:sym typeface="Times"/>
              </a:rPr>
              <a:t>Solve for the unknown by using the method of cross products.</a:t>
            </a:r>
            <a:endParaRPr/>
          </a:p>
        </p:txBody>
      </p:sp>
      <p:sp>
        <p:nvSpPr>
          <p:cNvPr id="151" name="Google Shape;151;p20"/>
          <p:cNvSpPr txBox="1"/>
          <p:nvPr/>
        </p:nvSpPr>
        <p:spPr>
          <a:xfrm>
            <a:off x="457200" y="2235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52" name="Google Shape;152;p20"/>
          <p:cNvPicPr preferRelativeResize="0"/>
          <p:nvPr/>
        </p:nvPicPr>
        <p:blipFill rotWithShape="1">
          <a:blip r:embed="rId3">
            <a:alphaModFix/>
          </a:blip>
          <a:srcRect b="0" l="0" r="0" t="0"/>
          <a:stretch/>
        </p:blipFill>
        <p:spPr>
          <a:xfrm>
            <a:off x="1344612" y="2646362"/>
            <a:ext cx="1397000" cy="1651000"/>
          </a:xfrm>
          <a:prstGeom prst="rect">
            <a:avLst/>
          </a:prstGeom>
          <a:noFill/>
          <a:ln>
            <a:noFill/>
          </a:ln>
        </p:spPr>
      </p:pic>
      <p:pic>
        <p:nvPicPr>
          <p:cNvPr id="153" name="Google Shape;153;p20"/>
          <p:cNvPicPr preferRelativeResize="0"/>
          <p:nvPr/>
        </p:nvPicPr>
        <p:blipFill rotWithShape="1">
          <a:blip r:embed="rId4">
            <a:alphaModFix/>
          </a:blip>
          <a:srcRect b="0" l="0" r="0" t="0"/>
          <a:stretch/>
        </p:blipFill>
        <p:spPr>
          <a:xfrm>
            <a:off x="4572000" y="2646362"/>
            <a:ext cx="2832100" cy="2451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ph type="title"/>
          </p:nvPr>
        </p:nvSpPr>
        <p:spPr>
          <a:xfrm>
            <a:off x="457200" y="-587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159" name="Google Shape;159;p21"/>
          <p:cNvSpPr txBox="1"/>
          <p:nvPr>
            <p:ph idx="1" type="body"/>
          </p:nvPr>
        </p:nvSpPr>
        <p:spPr>
          <a:xfrm>
            <a:off x="457200" y="1282700"/>
            <a:ext cx="8229600" cy="261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200"/>
              <a:buFont typeface="Arial"/>
              <a:buNone/>
            </a:pPr>
            <a:r>
              <a:rPr b="0" i="0" lang="en-US" sz="3200" u="none" cap="none" strike="noStrike">
                <a:solidFill>
                  <a:srgbClr val="141413"/>
                </a:solidFill>
                <a:latin typeface="Times New Roman"/>
                <a:ea typeface="Times New Roman"/>
                <a:cs typeface="Times New Roman"/>
                <a:sym typeface="Times New Roman"/>
              </a:rPr>
              <a:t>A food wholesaler charges a restaurant chain $83 for 3 crates of fresh produce. How much should it charge for 5 crates of produce?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2"/>
          <p:cNvSpPr txBox="1"/>
          <p:nvPr>
            <p:ph type="title"/>
          </p:nvPr>
        </p:nvSpPr>
        <p:spPr>
          <a:xfrm>
            <a:off x="457200" y="-587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165" name="Google Shape;165;p22"/>
          <p:cNvSpPr txBox="1"/>
          <p:nvPr>
            <p:ph idx="1" type="body"/>
          </p:nvPr>
        </p:nvSpPr>
        <p:spPr>
          <a:xfrm>
            <a:off x="457200" y="1277937"/>
            <a:ext cx="8229600" cy="24495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Let </a:t>
            </a:r>
            <a:r>
              <a:rPr b="0" i="1" lang="en-US" sz="3200" u="none" cap="none" strike="noStrike">
                <a:solidFill>
                  <a:schemeClr val="dk1"/>
                </a:solidFill>
                <a:latin typeface="Times"/>
                <a:ea typeface="Times"/>
                <a:cs typeface="Times"/>
                <a:sym typeface="Times"/>
              </a:rPr>
              <a:t>x </a:t>
            </a:r>
            <a:r>
              <a:rPr b="0" i="0" lang="en-US" sz="3200" u="none" cap="none" strike="noStrike">
                <a:solidFill>
                  <a:schemeClr val="dk1"/>
                </a:solidFill>
                <a:latin typeface="Times"/>
                <a:ea typeface="Times"/>
                <a:cs typeface="Times"/>
                <a:sym typeface="Times"/>
              </a:rPr>
              <a:t>be the cost of 5 crates of produce. Set up a proportion with one ratio the number of crates and the other ratio the costs. Use this pattern.</a:t>
            </a:r>
            <a:endParaRPr/>
          </a:p>
        </p:txBody>
      </p:sp>
      <p:sp>
        <p:nvSpPr>
          <p:cNvPr id="166" name="Google Shape;166;p22"/>
          <p:cNvSpPr txBox="1"/>
          <p:nvPr/>
        </p:nvSpPr>
        <p:spPr>
          <a:xfrm>
            <a:off x="457200" y="2235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67" name="Google Shape;167;p22"/>
          <p:cNvPicPr preferRelativeResize="0"/>
          <p:nvPr/>
        </p:nvPicPr>
        <p:blipFill rotWithShape="1">
          <a:blip r:embed="rId3">
            <a:alphaModFix/>
          </a:blip>
          <a:srcRect b="0" l="0" r="0" t="0"/>
          <a:stretch/>
        </p:blipFill>
        <p:spPr>
          <a:xfrm>
            <a:off x="2957512" y="3059112"/>
            <a:ext cx="2616200" cy="1054100"/>
          </a:xfrm>
          <a:prstGeom prst="rect">
            <a:avLst/>
          </a:prstGeom>
          <a:noFill/>
          <a:ln>
            <a:noFill/>
          </a:ln>
        </p:spPr>
      </p:pic>
      <p:pic>
        <p:nvPicPr>
          <p:cNvPr id="168" name="Google Shape;168;p22"/>
          <p:cNvPicPr preferRelativeResize="0"/>
          <p:nvPr/>
        </p:nvPicPr>
        <p:blipFill rotWithShape="1">
          <a:blip r:embed="rId4">
            <a:alphaModFix/>
          </a:blip>
          <a:srcRect b="0" l="0" r="0" t="0"/>
          <a:stretch/>
        </p:blipFill>
        <p:spPr>
          <a:xfrm>
            <a:off x="3752850" y="5245100"/>
            <a:ext cx="1308100" cy="1054100"/>
          </a:xfrm>
          <a:prstGeom prst="rect">
            <a:avLst/>
          </a:prstGeom>
          <a:noFill/>
          <a:ln>
            <a:noFill/>
          </a:ln>
        </p:spPr>
      </p:pic>
      <p:sp>
        <p:nvSpPr>
          <p:cNvPr id="169" name="Google Shape;169;p22"/>
          <p:cNvSpPr txBox="1"/>
          <p:nvPr/>
        </p:nvSpPr>
        <p:spPr>
          <a:xfrm>
            <a:off x="457200" y="4468812"/>
            <a:ext cx="8229600" cy="7762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Times"/>
              <a:buNone/>
            </a:pPr>
            <a:r>
              <a:rPr b="0" i="0" lang="en-US" sz="3200" u="none">
                <a:solidFill>
                  <a:schemeClr val="dk1"/>
                </a:solidFill>
                <a:latin typeface="Times"/>
                <a:ea typeface="Times"/>
                <a:cs typeface="Times"/>
                <a:sym typeface="Times"/>
              </a:rPr>
              <a:t>Substitute the given information.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3"/>
          <p:cNvSpPr txBox="1"/>
          <p:nvPr>
            <p:ph type="title"/>
          </p:nvPr>
        </p:nvSpPr>
        <p:spPr>
          <a:xfrm>
            <a:off x="457200" y="-587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175" name="Google Shape;175;p23"/>
          <p:cNvSpPr txBox="1"/>
          <p:nvPr>
            <p:ph idx="1" type="body"/>
          </p:nvPr>
        </p:nvSpPr>
        <p:spPr>
          <a:xfrm>
            <a:off x="457200" y="1417637"/>
            <a:ext cx="8229600" cy="24495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Use cross products to solve the proportion.</a:t>
            </a:r>
            <a:endParaRPr/>
          </a:p>
        </p:txBody>
      </p:sp>
      <p:sp>
        <p:nvSpPr>
          <p:cNvPr id="176" name="Google Shape;176;p23"/>
          <p:cNvSpPr txBox="1"/>
          <p:nvPr/>
        </p:nvSpPr>
        <p:spPr>
          <a:xfrm>
            <a:off x="457200" y="2235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77" name="Google Shape;177;p23"/>
          <p:cNvPicPr preferRelativeResize="0"/>
          <p:nvPr/>
        </p:nvPicPr>
        <p:blipFill rotWithShape="1">
          <a:blip r:embed="rId3">
            <a:alphaModFix/>
          </a:blip>
          <a:srcRect b="0" l="0" r="0" t="0"/>
          <a:stretch/>
        </p:blipFill>
        <p:spPr>
          <a:xfrm>
            <a:off x="3200400" y="2208212"/>
            <a:ext cx="2413000" cy="3073400"/>
          </a:xfrm>
          <a:prstGeom prst="rect">
            <a:avLst/>
          </a:prstGeom>
          <a:noFill/>
          <a:ln>
            <a:noFill/>
          </a:ln>
        </p:spPr>
      </p:pic>
      <p:sp>
        <p:nvSpPr>
          <p:cNvPr id="178" name="Google Shape;178;p23"/>
          <p:cNvSpPr txBox="1"/>
          <p:nvPr/>
        </p:nvSpPr>
        <p:spPr>
          <a:xfrm>
            <a:off x="457200" y="5580062"/>
            <a:ext cx="8229600" cy="777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200"/>
              <a:buFont typeface="Times"/>
              <a:buNone/>
            </a:pPr>
            <a:r>
              <a:rPr b="0" i="0" lang="en-US" sz="3200" u="none">
                <a:solidFill>
                  <a:srgbClr val="141413"/>
                </a:solidFill>
                <a:latin typeface="Times"/>
                <a:ea typeface="Times"/>
                <a:cs typeface="Times"/>
                <a:sym typeface="Times"/>
              </a:rPr>
              <a:t>The 5 crates cost $138.33.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4"/>
          <p:cNvSpPr txBox="1"/>
          <p:nvPr>
            <p:ph type="title"/>
          </p:nvPr>
        </p:nvSpPr>
        <p:spPr>
          <a:xfrm>
            <a:off x="752475" y="173037"/>
            <a:ext cx="7680325" cy="8112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Use Proportions to Solve Problems</a:t>
            </a:r>
            <a:endParaRPr/>
          </a:p>
        </p:txBody>
      </p:sp>
      <p:sp>
        <p:nvSpPr>
          <p:cNvPr id="184" name="Google Shape;184;p24"/>
          <p:cNvSpPr txBox="1"/>
          <p:nvPr>
            <p:ph idx="1" type="body"/>
          </p:nvPr>
        </p:nvSpPr>
        <p:spPr>
          <a:xfrm>
            <a:off x="457200" y="1695450"/>
            <a:ext cx="8470900" cy="3902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Proportions are used in many practical applications.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5"/>
          <p:cNvSpPr txBox="1"/>
          <p:nvPr>
            <p:ph type="title"/>
          </p:nvPr>
        </p:nvSpPr>
        <p:spPr>
          <a:xfrm>
            <a:off x="457200" y="-587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190" name="Google Shape;190;p25"/>
          <p:cNvSpPr txBox="1"/>
          <p:nvPr>
            <p:ph idx="1" type="body"/>
          </p:nvPr>
        </p:nvSpPr>
        <p:spPr>
          <a:xfrm>
            <a:off x="457200" y="1266825"/>
            <a:ext cx="8229600" cy="4892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A firm in Hong Kong and one in Thailand agree to jointly develop an engine-control microchip to be sold to North American auto manufacturers. They agree to split the development costs in a ratio of 8:3 (Hong Kong firm to Thailand firm), resulting in a cost of $9,400,000 to the Hong Kong firm. Find the cost to the Thailand firm.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6"/>
          <p:cNvSpPr txBox="1"/>
          <p:nvPr>
            <p:ph type="title"/>
          </p:nvPr>
        </p:nvSpPr>
        <p:spPr>
          <a:xfrm>
            <a:off x="457200" y="0"/>
            <a:ext cx="8229600" cy="104933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196" name="Google Shape;196;p26"/>
          <p:cNvSpPr txBox="1"/>
          <p:nvPr>
            <p:ph idx="1" type="body"/>
          </p:nvPr>
        </p:nvSpPr>
        <p:spPr>
          <a:xfrm>
            <a:off x="457200" y="1060450"/>
            <a:ext cx="8229600" cy="71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200"/>
              <a:buFont typeface="Arial"/>
              <a:buNone/>
            </a:pPr>
            <a:r>
              <a:rPr b="0" i="0" lang="en-US" sz="3200" u="none" cap="none" strike="noStrike">
                <a:solidFill>
                  <a:srgbClr val="141413"/>
                </a:solidFill>
                <a:latin typeface="Times New Roman"/>
                <a:ea typeface="Times New Roman"/>
                <a:cs typeface="Times New Roman"/>
                <a:sym typeface="Times New Roman"/>
              </a:rPr>
              <a:t>Let </a:t>
            </a:r>
            <a:r>
              <a:rPr b="0" i="1" lang="en-US" sz="3200" u="none" cap="none" strike="noStrike">
                <a:solidFill>
                  <a:srgbClr val="141413"/>
                </a:solidFill>
                <a:latin typeface="Times New Roman"/>
                <a:ea typeface="Times New Roman"/>
                <a:cs typeface="Times New Roman"/>
                <a:sym typeface="Times New Roman"/>
              </a:rPr>
              <a:t>x</a:t>
            </a:r>
            <a:r>
              <a:rPr b="0" i="0" lang="en-US" sz="3200" u="none" cap="none" strike="noStrike">
                <a:solidFill>
                  <a:srgbClr val="141413"/>
                </a:solidFill>
                <a:latin typeface="Times New Roman"/>
                <a:ea typeface="Times New Roman"/>
                <a:cs typeface="Times New Roman"/>
                <a:sym typeface="Times New Roman"/>
              </a:rPr>
              <a:t> represent the cost to the Thailand firm, then</a:t>
            </a:r>
            <a:endParaRPr/>
          </a:p>
        </p:txBody>
      </p:sp>
      <p:pic>
        <p:nvPicPr>
          <p:cNvPr id="197" name="Google Shape;197;p26"/>
          <p:cNvPicPr preferRelativeResize="0"/>
          <p:nvPr/>
        </p:nvPicPr>
        <p:blipFill rotWithShape="1">
          <a:blip r:embed="rId3">
            <a:alphaModFix/>
          </a:blip>
          <a:srcRect b="0" l="0" r="0" t="0"/>
          <a:stretch/>
        </p:blipFill>
        <p:spPr>
          <a:xfrm>
            <a:off x="2895600" y="1800225"/>
            <a:ext cx="3352800" cy="3048000"/>
          </a:xfrm>
          <a:prstGeom prst="rect">
            <a:avLst/>
          </a:prstGeom>
          <a:noFill/>
          <a:ln>
            <a:noFill/>
          </a:ln>
        </p:spPr>
      </p:pic>
      <p:sp>
        <p:nvSpPr>
          <p:cNvPr id="198" name="Google Shape;198;p26"/>
          <p:cNvSpPr txBox="1"/>
          <p:nvPr/>
        </p:nvSpPr>
        <p:spPr>
          <a:xfrm>
            <a:off x="457200" y="5035550"/>
            <a:ext cx="8496300"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41413"/>
              </a:buClr>
              <a:buSzPts val="3600"/>
              <a:buFont typeface="Times New Roman"/>
              <a:buNone/>
            </a:pPr>
            <a:r>
              <a:rPr b="0" i="0" lang="en-US" sz="3600" u="none">
                <a:solidFill>
                  <a:srgbClr val="141413"/>
                </a:solidFill>
                <a:latin typeface="Times New Roman"/>
                <a:ea typeface="Times New Roman"/>
                <a:cs typeface="Times New Roman"/>
                <a:sym typeface="Times New Roman"/>
              </a:rPr>
              <a:t>The Thailand firm’s share of the costs is $3,525,000.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7"/>
          <p:cNvSpPr txBox="1"/>
          <p:nvPr>
            <p:ph type="title"/>
          </p:nvPr>
        </p:nvSpPr>
        <p:spPr>
          <a:xfrm>
            <a:off x="457200" y="-587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204" name="Google Shape;204;p27"/>
          <p:cNvSpPr txBox="1"/>
          <p:nvPr>
            <p:ph idx="1" type="body"/>
          </p:nvPr>
        </p:nvSpPr>
        <p:spPr>
          <a:xfrm>
            <a:off x="457200" y="1600200"/>
            <a:ext cx="8229600" cy="38512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200"/>
              <a:buFont typeface="Arial"/>
              <a:buNone/>
            </a:pPr>
            <a:r>
              <a:rPr b="0" i="0" lang="en-US" sz="3200" u="none" cap="none" strike="noStrike">
                <a:solidFill>
                  <a:srgbClr val="141413"/>
                </a:solidFill>
                <a:latin typeface="Times New Roman"/>
                <a:ea typeface="Times New Roman"/>
                <a:cs typeface="Times New Roman"/>
                <a:sym typeface="Times New Roman"/>
              </a:rPr>
              <a:t>Bill Thomas wishes to estimate the amount of timber on some forested land that he owns. One value he needs to estimate is the average height of the trees. One morning, Thomas notices that his own 6-foot body casts an 8-foot shadow at the same time that a typical tree casts a 34-foot shadow. Find the height of the tree.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8"/>
          <p:cNvSpPr txBox="1"/>
          <p:nvPr>
            <p:ph type="title"/>
          </p:nvPr>
        </p:nvSpPr>
        <p:spPr>
          <a:xfrm>
            <a:off x="457200" y="-587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pic>
        <p:nvPicPr>
          <p:cNvPr descr="Screen shot 2011-04-21 at 1.28.12 PM.png" id="210" name="Google Shape;210;p28"/>
          <p:cNvPicPr preferRelativeResize="0"/>
          <p:nvPr/>
        </p:nvPicPr>
        <p:blipFill rotWithShape="1">
          <a:blip r:embed="rId3">
            <a:alphaModFix/>
          </a:blip>
          <a:srcRect b="0" l="0" r="0" t="0"/>
          <a:stretch/>
        </p:blipFill>
        <p:spPr>
          <a:xfrm>
            <a:off x="0" y="1493837"/>
            <a:ext cx="9144000" cy="48863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txBox="1"/>
          <p:nvPr>
            <p:ph type="title"/>
          </p:nvPr>
        </p:nvSpPr>
        <p:spPr>
          <a:xfrm>
            <a:off x="457200" y="460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Times"/>
              <a:buNone/>
            </a:pPr>
            <a:r>
              <a:rPr b="0" i="0" lang="en-US" sz="4000" u="none">
                <a:solidFill>
                  <a:schemeClr val="dk1"/>
                </a:solidFill>
                <a:latin typeface="Times"/>
                <a:ea typeface="Times"/>
                <a:cs typeface="Times"/>
                <a:sym typeface="Times"/>
              </a:rPr>
              <a:t>Example</a:t>
            </a:r>
            <a:endParaRPr/>
          </a:p>
        </p:txBody>
      </p:sp>
      <p:sp>
        <p:nvSpPr>
          <p:cNvPr id="216" name="Google Shape;216;p29"/>
          <p:cNvSpPr txBox="1"/>
          <p:nvPr>
            <p:ph idx="1" type="body"/>
          </p:nvPr>
        </p:nvSpPr>
        <p:spPr>
          <a:xfrm>
            <a:off x="457200" y="1028700"/>
            <a:ext cx="8229600" cy="1397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Set up a proportion in which the height of the tree is given the variable name </a:t>
            </a:r>
            <a:r>
              <a:rPr b="0" i="1" lang="en-US" sz="3200" u="none" cap="none" strike="noStrike">
                <a:solidFill>
                  <a:schemeClr val="dk1"/>
                </a:solidFill>
                <a:latin typeface="Times"/>
                <a:ea typeface="Times"/>
                <a:cs typeface="Times"/>
                <a:sym typeface="Times"/>
              </a:rPr>
              <a:t>x.</a:t>
            </a:r>
            <a:endParaRPr/>
          </a:p>
        </p:txBody>
      </p:sp>
      <p:sp>
        <p:nvSpPr>
          <p:cNvPr id="217" name="Google Shape;217;p29"/>
          <p:cNvSpPr txBox="1"/>
          <p:nvPr/>
        </p:nvSpPr>
        <p:spPr>
          <a:xfrm>
            <a:off x="457200" y="5875337"/>
            <a:ext cx="8229600" cy="85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41413"/>
              </a:buClr>
              <a:buSzPts val="3200"/>
              <a:buFont typeface="Times"/>
              <a:buNone/>
            </a:pPr>
            <a:r>
              <a:rPr b="0" i="0" lang="en-US" sz="3200" u="none">
                <a:solidFill>
                  <a:srgbClr val="141413"/>
                </a:solidFill>
                <a:latin typeface="Times"/>
                <a:ea typeface="Times"/>
                <a:cs typeface="Times"/>
                <a:sym typeface="Times"/>
              </a:rPr>
              <a:t>The height of the tree is 25.5 feet.</a:t>
            </a:r>
            <a:endParaRPr/>
          </a:p>
        </p:txBody>
      </p:sp>
      <p:pic>
        <p:nvPicPr>
          <p:cNvPr id="218" name="Google Shape;218;p29"/>
          <p:cNvPicPr preferRelativeResize="0"/>
          <p:nvPr/>
        </p:nvPicPr>
        <p:blipFill rotWithShape="1">
          <a:blip r:embed="rId3">
            <a:alphaModFix/>
          </a:blip>
          <a:srcRect b="0" l="0" r="0" t="0"/>
          <a:stretch/>
        </p:blipFill>
        <p:spPr>
          <a:xfrm>
            <a:off x="3279775" y="2139950"/>
            <a:ext cx="2197100" cy="3670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Pearson_Presentation">
  <a:themeElements>
    <a:clrScheme name="Pearson_Presentation 2">
      <a:dk1>
        <a:srgbClr val="000000"/>
      </a:dk1>
      <a:lt1>
        <a:srgbClr val="FBF5EA"/>
      </a:lt1>
      <a:dk2>
        <a:srgbClr val="364395"/>
      </a:dk2>
      <a:lt2>
        <a:srgbClr val="FFFFFF"/>
      </a:lt2>
      <a:accent1>
        <a:srgbClr val="364395"/>
      </a:accent1>
      <a:accent2>
        <a:srgbClr val="5E69AA"/>
      </a:accent2>
      <a:accent3>
        <a:srgbClr val="FDF9F3"/>
      </a:accent3>
      <a:accent4>
        <a:srgbClr val="000000"/>
      </a:accent4>
      <a:accent5>
        <a:srgbClr val="AEB0C8"/>
      </a:accent5>
      <a:accent6>
        <a:srgbClr val="545E9A"/>
      </a:accent6>
      <a:hlink>
        <a:srgbClr val="727BB5"/>
      </a:hlink>
      <a:folHlink>
        <a:srgbClr val="868E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